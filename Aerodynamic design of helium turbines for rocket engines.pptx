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9"/>
  </p:notesMasterIdLst>
  <p:handoutMasterIdLst>
    <p:handoutMasterId r:id="rId40"/>
  </p:handoutMasterIdLst>
  <p:sldIdLst>
    <p:sldId id="256" r:id="rId2"/>
    <p:sldId id="271" r:id="rId3"/>
    <p:sldId id="272" r:id="rId4"/>
    <p:sldId id="278" r:id="rId5"/>
    <p:sldId id="258" r:id="rId6"/>
    <p:sldId id="311" r:id="rId7"/>
    <p:sldId id="280" r:id="rId8"/>
    <p:sldId id="281" r:id="rId9"/>
    <p:sldId id="282" r:id="rId10"/>
    <p:sldId id="269" r:id="rId11"/>
    <p:sldId id="293" r:id="rId12"/>
    <p:sldId id="294" r:id="rId13"/>
    <p:sldId id="295" r:id="rId14"/>
    <p:sldId id="296" r:id="rId15"/>
    <p:sldId id="297" r:id="rId16"/>
    <p:sldId id="298" r:id="rId17"/>
    <p:sldId id="283" r:id="rId18"/>
    <p:sldId id="300" r:id="rId19"/>
    <p:sldId id="301" r:id="rId20"/>
    <p:sldId id="260" r:id="rId21"/>
    <p:sldId id="302" r:id="rId22"/>
    <p:sldId id="305" r:id="rId23"/>
    <p:sldId id="306" r:id="rId24"/>
    <p:sldId id="307" r:id="rId25"/>
    <p:sldId id="285" r:id="rId26"/>
    <p:sldId id="286" r:id="rId27"/>
    <p:sldId id="287" r:id="rId28"/>
    <p:sldId id="308" r:id="rId29"/>
    <p:sldId id="263" r:id="rId30"/>
    <p:sldId id="268" r:id="rId31"/>
    <p:sldId id="262" r:id="rId32"/>
    <p:sldId id="275" r:id="rId33"/>
    <p:sldId id="276" r:id="rId34"/>
    <p:sldId id="270" r:id="rId35"/>
    <p:sldId id="265" r:id="rId36"/>
    <p:sldId id="310" r:id="rId37"/>
    <p:sldId id="309" r:id="rId38"/>
  </p:sldIdLst>
  <p:sldSz cx="9144000" cy="6858000" type="screen4x3"/>
  <p:notesSz cx="6858000" cy="9144000"/>
  <p:defaultTextStyle>
    <a:defPPr>
      <a:defRPr lang="en-GB"/>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73CF"/>
    <a:srgbClr val="00B050"/>
    <a:srgbClr val="003E73"/>
    <a:srgbClr val="FF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1"/>
    <p:restoredTop sz="84311"/>
  </p:normalViewPr>
  <p:slideViewPr>
    <p:cSldViewPr snapToGrid="0" snapToObjects="1">
      <p:cViewPr>
        <p:scale>
          <a:sx n="112" d="100"/>
          <a:sy n="112" d="100"/>
        </p:scale>
        <p:origin x="304" y="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43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2905B2-0FA9-6F4F-BD9F-8A6224F85229}"/>
              </a:ext>
            </a:extLst>
          </p:cNvPr>
          <p:cNvSpPr>
            <a:spLocks noGrp="1"/>
          </p:cNvSpPr>
          <p:nvPr>
            <p:ph type="hdr" sz="quarter"/>
          </p:nvPr>
        </p:nvSpPr>
        <p:spPr>
          <a:xfrm>
            <a:off x="0" y="3"/>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AAEF6F-5510-6242-AAA4-A29E7808BD17}"/>
              </a:ext>
            </a:extLst>
          </p:cNvPr>
          <p:cNvSpPr>
            <a:spLocks noGrp="1"/>
          </p:cNvSpPr>
          <p:nvPr>
            <p:ph type="dt" sz="quarter" idx="1"/>
          </p:nvPr>
        </p:nvSpPr>
        <p:spPr>
          <a:xfrm>
            <a:off x="3884613" y="3"/>
            <a:ext cx="2971800" cy="458788"/>
          </a:xfrm>
          <a:prstGeom prst="rect">
            <a:avLst/>
          </a:prstGeom>
        </p:spPr>
        <p:txBody>
          <a:bodyPr vert="horz" lIns="91440" tIns="45720" rIns="91440" bIns="45720" rtlCol="0"/>
          <a:lstStyle>
            <a:lvl1pPr algn="r">
              <a:defRPr sz="1200"/>
            </a:lvl1pPr>
          </a:lstStyle>
          <a:p>
            <a:fld id="{33662218-75D7-AD4B-B46C-8B8770DEF5F1}" type="datetimeFigureOut">
              <a:rPr lang="en-US" smtClean="0"/>
              <a:t>5/25/20</a:t>
            </a:fld>
            <a:endParaRPr lang="en-US"/>
          </a:p>
        </p:txBody>
      </p:sp>
      <p:sp>
        <p:nvSpPr>
          <p:cNvPr id="4" name="Footer Placeholder 3">
            <a:extLst>
              <a:ext uri="{FF2B5EF4-FFF2-40B4-BE49-F238E27FC236}">
                <a16:creationId xmlns:a16="http://schemas.microsoft.com/office/drawing/2014/main" id="{11A7CC50-9966-E34D-ADAE-6AD803A97E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0C25151-4BFA-1245-A936-AEAA2D08CAA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B97B84-63E0-964E-8F47-BF644A52117F}" type="slidenum">
              <a:rPr lang="en-US" smtClean="0"/>
              <a:t>‹#›</a:t>
            </a:fld>
            <a:endParaRPr lang="en-US"/>
          </a:p>
        </p:txBody>
      </p:sp>
    </p:spTree>
    <p:extLst>
      <p:ext uri="{BB962C8B-B14F-4D97-AF65-F5344CB8AC3E}">
        <p14:creationId xmlns:p14="http://schemas.microsoft.com/office/powerpoint/2010/main" val="5648705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3"/>
            <a:ext cx="2971800" cy="458788"/>
          </a:xfrm>
          <a:prstGeom prst="rect">
            <a:avLst/>
          </a:prstGeom>
        </p:spPr>
        <p:txBody>
          <a:bodyPr vert="horz" lIns="91440" tIns="45720" rIns="91440" bIns="45720" rtlCol="0"/>
          <a:lstStyle>
            <a:lvl1pPr algn="r">
              <a:defRPr sz="1200"/>
            </a:lvl1pPr>
          </a:lstStyle>
          <a:p>
            <a:fld id="{EED4612B-ACEC-6340-A33E-4A51B91595C8}" type="datetimeFigureOut">
              <a:rPr lang="en-GB" smtClean="0"/>
              <a:t>25/05/2020</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B739E-E4EB-8F42-9004-6DF6778B75E2}" type="slidenum">
              <a:rPr lang="en-GB" smtClean="0"/>
              <a:t>‹#›</a:t>
            </a:fld>
            <a:endParaRPr lang="en-GB"/>
          </a:p>
        </p:txBody>
      </p:sp>
    </p:spTree>
    <p:extLst>
      <p:ext uri="{BB962C8B-B14F-4D97-AF65-F5344CB8AC3E}">
        <p14:creationId xmlns:p14="http://schemas.microsoft.com/office/powerpoint/2010/main" val="3187750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600" dirty="0"/>
              <a:t>I’m going to be talking to you about the aerodynamic design of helium turbines for rocket engines</a:t>
            </a:r>
          </a:p>
        </p:txBody>
      </p:sp>
      <p:sp>
        <p:nvSpPr>
          <p:cNvPr id="4" name="Slide Number Placeholder 3"/>
          <p:cNvSpPr>
            <a:spLocks noGrp="1"/>
          </p:cNvSpPr>
          <p:nvPr>
            <p:ph type="sldNum" sz="quarter" idx="5"/>
          </p:nvPr>
        </p:nvSpPr>
        <p:spPr/>
        <p:txBody>
          <a:bodyPr/>
          <a:lstStyle/>
          <a:p>
            <a:fld id="{666B739E-E4EB-8F42-9004-6DF6778B75E2}" type="slidenum">
              <a:rPr lang="en-GB" smtClean="0"/>
              <a:t>1</a:t>
            </a:fld>
            <a:endParaRPr lang="en-GB"/>
          </a:p>
        </p:txBody>
      </p:sp>
    </p:spTree>
    <p:extLst>
      <p:ext uri="{BB962C8B-B14F-4D97-AF65-F5344CB8AC3E}">
        <p14:creationId xmlns:p14="http://schemas.microsoft.com/office/powerpoint/2010/main" val="497876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600" dirty="0"/>
              <a:t>Reaction engines are developing the synergetic air breathing rocket engine for single-stage-to-</a:t>
            </a:r>
            <a:r>
              <a:rPr lang="en-US" sz="1600" b="0" dirty="0"/>
              <a:t>orbit and hypersonic transport vehicles</a:t>
            </a:r>
          </a:p>
          <a:p>
            <a:pPr marL="228600" indent="-228600">
              <a:buFont typeface="+mj-lt"/>
              <a:buAutoNum type="arabicPeriod"/>
            </a:pPr>
            <a:r>
              <a:rPr lang="en-US" sz="1600" b="0" u="none" dirty="0"/>
              <a:t>It will be capable or up to Mach 5.4 flight in air breathing mode and has been developed around their key </a:t>
            </a:r>
            <a:r>
              <a:rPr lang="en-US" sz="1600" b="0" u="none" dirty="0" err="1"/>
              <a:t>precooler</a:t>
            </a:r>
            <a:r>
              <a:rPr lang="en-US" sz="1600" b="0" u="none" dirty="0"/>
              <a:t> technology</a:t>
            </a:r>
            <a:endParaRPr lang="en-US" sz="1600" u="none" dirty="0"/>
          </a:p>
        </p:txBody>
      </p:sp>
      <p:sp>
        <p:nvSpPr>
          <p:cNvPr id="4" name="Slide Number Placeholder 3"/>
          <p:cNvSpPr>
            <a:spLocks noGrp="1"/>
          </p:cNvSpPr>
          <p:nvPr>
            <p:ph type="sldNum" sz="quarter" idx="5"/>
          </p:nvPr>
        </p:nvSpPr>
        <p:spPr/>
        <p:txBody>
          <a:bodyPr/>
          <a:lstStyle/>
          <a:p>
            <a:fld id="{666B739E-E4EB-8F42-9004-6DF6778B75E2}" type="slidenum">
              <a:rPr lang="en-GB" smtClean="0"/>
              <a:t>2</a:t>
            </a:fld>
            <a:endParaRPr lang="en-GB"/>
          </a:p>
        </p:txBody>
      </p:sp>
    </p:spTree>
    <p:extLst>
      <p:ext uri="{BB962C8B-B14F-4D97-AF65-F5344CB8AC3E}">
        <p14:creationId xmlns:p14="http://schemas.microsoft.com/office/powerpoint/2010/main" val="1591751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600" dirty="0"/>
              <a:t>The core engine cycle involves five different working fluids and multiple pumps, turbines and heat exchangers</a:t>
            </a:r>
          </a:p>
          <a:p>
            <a:pPr marL="228600" indent="-228600">
              <a:buFont typeface="+mj-lt"/>
              <a:buAutoNum type="arabicPeriod"/>
            </a:pPr>
            <a:r>
              <a:rPr lang="en-US" sz="1600" dirty="0"/>
              <a:t>For our purposes we are only interested in the </a:t>
            </a:r>
            <a:r>
              <a:rPr lang="en-US" sz="1600" dirty="0" err="1"/>
              <a:t>precooler</a:t>
            </a:r>
            <a:r>
              <a:rPr lang="en-US" sz="1600" dirty="0"/>
              <a:t>, which is an air-helium heat exchanger that supplies hot helium, and the helium turbine, which is coupled to the air compressor</a:t>
            </a:r>
          </a:p>
          <a:p>
            <a:pPr marL="228600" indent="-228600">
              <a:buFont typeface="+mj-lt"/>
              <a:buAutoNum type="arabicPeriod"/>
            </a:pPr>
            <a:r>
              <a:rPr lang="en-US" sz="1600" dirty="0"/>
              <a:t>The </a:t>
            </a:r>
            <a:r>
              <a:rPr lang="en-US" sz="1600" dirty="0" err="1"/>
              <a:t>precooler</a:t>
            </a:r>
            <a:r>
              <a:rPr lang="en-US" sz="1600" dirty="0"/>
              <a:t> sets the mass flow rate and inlet pressure and temperature, giving the volumetric flow rate at turbine inlet.</a:t>
            </a:r>
          </a:p>
          <a:p>
            <a:pPr marL="228600" indent="-228600">
              <a:buFont typeface="+mj-lt"/>
              <a:buAutoNum type="arabicPeriod"/>
            </a:pPr>
            <a:r>
              <a:rPr lang="en-US" sz="1600" dirty="0"/>
              <a:t>The single shaft air compressor is coupled directly to the turbine without a gearbox, so it fixes the rotational speed.</a:t>
            </a:r>
          </a:p>
          <a:p>
            <a:pPr marL="228600" indent="-228600">
              <a:buFont typeface="+mj-lt"/>
              <a:buAutoNum type="arabicPeriod"/>
            </a:pPr>
            <a:r>
              <a:rPr lang="en-US" sz="1600" dirty="0"/>
              <a:t>These constraints limit turbine design.</a:t>
            </a:r>
          </a:p>
          <a:p>
            <a:pPr marL="228600" indent="-228600">
              <a:buFont typeface="+mj-lt"/>
              <a:buAutoNum type="arabicPeriod"/>
            </a:pPr>
            <a:endParaRPr lang="en-US"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3</a:t>
            </a:fld>
            <a:endParaRPr lang="en-GB"/>
          </a:p>
        </p:txBody>
      </p:sp>
    </p:spTree>
    <p:extLst>
      <p:ext uri="{BB962C8B-B14F-4D97-AF65-F5344CB8AC3E}">
        <p14:creationId xmlns:p14="http://schemas.microsoft.com/office/powerpoint/2010/main" val="2937171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From the rest of this talk there are three key points that I want you to take away.</a:t>
            </a:r>
          </a:p>
          <a:p>
            <a:pPr marL="228600" indent="-228600">
              <a:buFont typeface="+mj-lt"/>
              <a:buAutoNum type="arabicPeriod"/>
            </a:pPr>
            <a:r>
              <a:rPr lang="en-GB" sz="1600" dirty="0"/>
              <a:t>Constraints imposed by other cycle components force the turbine into a biased design space dominated by shroud loss</a:t>
            </a:r>
          </a:p>
          <a:p>
            <a:pPr marL="228600" indent="-228600">
              <a:buFont typeface="+mj-lt"/>
              <a:buAutoNum type="arabicPeriod"/>
            </a:pPr>
            <a:r>
              <a:rPr lang="en-GB" sz="1600" dirty="0"/>
              <a:t>Optimal performance is achieved through designs that reduce geometric tolerance driven loss sources</a:t>
            </a:r>
          </a:p>
          <a:p>
            <a:pPr marL="228600" indent="-228600">
              <a:buFont typeface="+mj-lt"/>
              <a:buAutoNum type="arabicPeriod"/>
            </a:pPr>
            <a:r>
              <a:rPr lang="en-GB" sz="1600" dirty="0"/>
              <a:t>Constraints also cause the machine to have shroud gap variations of up to 25% of span during thermal transients. This is particularly bad for performance due to the sensitivity on shroud leakage.</a:t>
            </a:r>
          </a:p>
          <a:p>
            <a:pPr marL="228600" indent="-228600">
              <a:buFont typeface="+mj-lt"/>
              <a:buAutoNum type="arabicPeriod"/>
            </a:pPr>
            <a:r>
              <a:rPr lang="en-GB" sz="1600" dirty="0"/>
              <a:t>Keep these in mind as I show you how I’ve come to these conclusions</a:t>
            </a:r>
          </a:p>
        </p:txBody>
      </p:sp>
      <p:sp>
        <p:nvSpPr>
          <p:cNvPr id="4" name="Slide Number Placeholder 3"/>
          <p:cNvSpPr>
            <a:spLocks noGrp="1"/>
          </p:cNvSpPr>
          <p:nvPr>
            <p:ph type="sldNum" sz="quarter" idx="5"/>
          </p:nvPr>
        </p:nvSpPr>
        <p:spPr/>
        <p:txBody>
          <a:bodyPr/>
          <a:lstStyle/>
          <a:p>
            <a:fld id="{666B739E-E4EB-8F42-9004-6DF6778B75E2}" type="slidenum">
              <a:rPr lang="en-GB" smtClean="0"/>
              <a:t>4</a:t>
            </a:fld>
            <a:endParaRPr lang="en-GB"/>
          </a:p>
        </p:txBody>
      </p:sp>
    </p:spTree>
    <p:extLst>
      <p:ext uri="{BB962C8B-B14F-4D97-AF65-F5344CB8AC3E}">
        <p14:creationId xmlns:p14="http://schemas.microsoft.com/office/powerpoint/2010/main" val="561681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The core aim of this project is to design a turbine with an efficiency of 85% and as few stages as possible for mechanical simplicity</a:t>
            </a:r>
          </a:p>
          <a:p>
            <a:pPr marL="228600" indent="-228600">
              <a:buFont typeface="+mj-lt"/>
              <a:buAutoNum type="arabicPeriod"/>
            </a:pPr>
            <a:r>
              <a:rPr lang="en-GB" sz="1600" dirty="0"/>
              <a:t>To do this I have developed a mean line design tool that uses correlations for profile, trailing edge, secondary and shroud losses to estimate turbine efficiency</a:t>
            </a:r>
          </a:p>
          <a:p>
            <a:pPr marL="228600" indent="-228600">
              <a:buFont typeface="+mj-lt"/>
              <a:buAutoNum type="arabicPeriod"/>
            </a:pPr>
            <a:r>
              <a:rPr lang="en-GB" sz="1600" dirty="0"/>
              <a:t>The model allows for parameters to be varied for every stage through the turbine</a:t>
            </a:r>
          </a:p>
          <a:p>
            <a:pPr marL="228600" indent="-228600">
              <a:buFont typeface="+mj-lt"/>
              <a:buAutoNum type="arabicPeriod"/>
            </a:pPr>
            <a:r>
              <a:rPr lang="en-GB" sz="1600" dirty="0"/>
              <a:t>Least squares optimisation is used with 5000 starting points to ensure a global optimum efficiency is reached </a:t>
            </a:r>
            <a:endParaRPr lang="en-GB" dirty="0"/>
          </a:p>
        </p:txBody>
      </p:sp>
      <p:sp>
        <p:nvSpPr>
          <p:cNvPr id="4" name="Slide Number Placeholder 3"/>
          <p:cNvSpPr>
            <a:spLocks noGrp="1"/>
          </p:cNvSpPr>
          <p:nvPr>
            <p:ph type="sldNum" sz="quarter" idx="5"/>
          </p:nvPr>
        </p:nvSpPr>
        <p:spPr/>
        <p:txBody>
          <a:bodyPr/>
          <a:lstStyle/>
          <a:p>
            <a:fld id="{666B739E-E4EB-8F42-9004-6DF6778B75E2}" type="slidenum">
              <a:rPr lang="en-GB" smtClean="0"/>
              <a:t>5</a:t>
            </a:fld>
            <a:endParaRPr lang="en-GB"/>
          </a:p>
        </p:txBody>
      </p:sp>
    </p:spTree>
    <p:extLst>
      <p:ext uri="{BB962C8B-B14F-4D97-AF65-F5344CB8AC3E}">
        <p14:creationId xmlns:p14="http://schemas.microsoft.com/office/powerpoint/2010/main" val="4134018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GB" sz="1600" u="none" dirty="0"/>
              <a:t>With the model I am able to interrogate designs to show the relative magnitude of each loss mechanism</a:t>
            </a:r>
          </a:p>
          <a:p>
            <a:pPr marL="342900" indent="-342900">
              <a:buFont typeface="+mj-lt"/>
              <a:buAutoNum type="arabicPeriod"/>
            </a:pPr>
            <a:r>
              <a:rPr lang="en-GB" sz="1600" u="none" dirty="0"/>
              <a:t>The following graphs are based on a ten stage turbine chosen by the optimisation and vary a single parameter, showing lost work from each mechanism normalised by total turbine work</a:t>
            </a:r>
          </a:p>
          <a:p>
            <a:pPr marL="342900" indent="-342900">
              <a:buFont typeface="+mj-lt"/>
              <a:buAutoNum type="arabicPeriod"/>
            </a:pPr>
            <a:r>
              <a:rPr lang="en-GB" sz="1600" u="none" dirty="0"/>
              <a:t>The green shaded areas represent the regions in which optimal designs lie</a:t>
            </a:r>
          </a:p>
          <a:p>
            <a:pPr marL="342900" indent="-342900">
              <a:buFont typeface="+mj-lt"/>
              <a:buAutoNum type="arabicPeriod"/>
            </a:pPr>
            <a:r>
              <a:rPr lang="en-GB" sz="1600" u="none" dirty="0"/>
              <a:t>This first graph shows how losses change when flow coefficient is varied. </a:t>
            </a:r>
          </a:p>
          <a:p>
            <a:pPr marL="342900" indent="-342900">
              <a:buFont typeface="+mj-lt"/>
              <a:buAutoNum type="arabicPeriod"/>
            </a:pPr>
            <a:r>
              <a:rPr lang="en-GB" sz="1600" u="none" dirty="0"/>
              <a:t>We first see that shroud loss is clearly the dominant mechanism. </a:t>
            </a:r>
          </a:p>
          <a:p>
            <a:pPr marL="342900" indent="-342900">
              <a:buFont typeface="+mj-lt"/>
              <a:buAutoNum type="arabicPeriod"/>
            </a:pPr>
            <a:r>
              <a:rPr lang="en-GB" sz="1600" u="none" dirty="0"/>
              <a:t>The mismatch between flow rate and rotational speed results in very small blades where the fixed tolerance on the shroud gap becomes a significant fraction of the span. </a:t>
            </a:r>
          </a:p>
          <a:p>
            <a:pPr marL="342900" indent="-342900">
              <a:buFont typeface="+mj-lt"/>
              <a:buAutoNum type="arabicPeriod"/>
            </a:pPr>
            <a:r>
              <a:rPr lang="en-GB" sz="1600" u="none" dirty="0"/>
              <a:t>Design therefore seeks as large spans as possible so mitigate this.</a:t>
            </a:r>
          </a:p>
          <a:p>
            <a:pPr marL="342900" indent="-342900">
              <a:buFont typeface="+mj-lt"/>
              <a:buAutoNum type="arabicPeriod"/>
            </a:pPr>
            <a:r>
              <a:rPr lang="en-GB" sz="1600" u="none" dirty="0"/>
              <a:t>A low flow coefficient means lower velocities and so larger flow areas and spans that reduce shroud loss.</a:t>
            </a:r>
          </a:p>
        </p:txBody>
      </p:sp>
      <p:sp>
        <p:nvSpPr>
          <p:cNvPr id="4" name="Slide Number Placeholder 3"/>
          <p:cNvSpPr>
            <a:spLocks noGrp="1"/>
          </p:cNvSpPr>
          <p:nvPr>
            <p:ph type="sldNum" sz="quarter" idx="5"/>
          </p:nvPr>
        </p:nvSpPr>
        <p:spPr/>
        <p:txBody>
          <a:bodyPr/>
          <a:lstStyle/>
          <a:p>
            <a:fld id="{666B739E-E4EB-8F42-9004-6DF6778B75E2}" type="slidenum">
              <a:rPr lang="en-GB" smtClean="0"/>
              <a:t>6</a:t>
            </a:fld>
            <a:endParaRPr lang="en-GB"/>
          </a:p>
        </p:txBody>
      </p:sp>
    </p:spTree>
    <p:extLst>
      <p:ext uri="{BB962C8B-B14F-4D97-AF65-F5344CB8AC3E}">
        <p14:creationId xmlns:p14="http://schemas.microsoft.com/office/powerpoint/2010/main" val="1748233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u="none" dirty="0"/>
              <a:t>The next graph varies stage loading coefficient. </a:t>
            </a:r>
          </a:p>
          <a:p>
            <a:pPr marL="228600" indent="-228600">
              <a:buFont typeface="+mj-lt"/>
              <a:buAutoNum type="arabicPeriod"/>
            </a:pPr>
            <a:r>
              <a:rPr lang="en-GB" sz="1600" u="none" dirty="0"/>
              <a:t>To the left hand side shroud loss is reduced with increasing stage loading brings the radius down, which allows for larger spans.</a:t>
            </a:r>
          </a:p>
          <a:p>
            <a:pPr marL="228600" indent="-228600">
              <a:buFont typeface="+mj-lt"/>
              <a:buAutoNum type="arabicPeriod"/>
            </a:pPr>
            <a:r>
              <a:rPr lang="en-GB" sz="1600" u="none" dirty="0"/>
              <a:t>The low flow coefficient means that high exit angles are needed to achieve the required work, and so as we move to higher loading shroud loss flattens and profile and secondary losses increases.</a:t>
            </a:r>
          </a:p>
          <a:p>
            <a:pPr marL="228600" indent="-228600">
              <a:buFont typeface="+mj-lt"/>
              <a:buAutoNum type="arabicPeriod"/>
            </a:pPr>
            <a:r>
              <a:rPr lang="en-GB" sz="1600" u="none" dirty="0"/>
              <a:t>The optimal region for stage loading balances low profile and secondary losses with slightly higher shroud loss. </a:t>
            </a:r>
          </a:p>
        </p:txBody>
      </p:sp>
      <p:sp>
        <p:nvSpPr>
          <p:cNvPr id="4" name="Slide Number Placeholder 3"/>
          <p:cNvSpPr>
            <a:spLocks noGrp="1"/>
          </p:cNvSpPr>
          <p:nvPr>
            <p:ph type="sldNum" sz="quarter" idx="5"/>
          </p:nvPr>
        </p:nvSpPr>
        <p:spPr/>
        <p:txBody>
          <a:bodyPr/>
          <a:lstStyle/>
          <a:p>
            <a:fld id="{666B739E-E4EB-8F42-9004-6DF6778B75E2}" type="slidenum">
              <a:rPr lang="en-GB" smtClean="0"/>
              <a:t>7</a:t>
            </a:fld>
            <a:endParaRPr lang="en-GB"/>
          </a:p>
        </p:txBody>
      </p:sp>
    </p:spTree>
    <p:extLst>
      <p:ext uri="{BB962C8B-B14F-4D97-AF65-F5344CB8AC3E}">
        <p14:creationId xmlns:p14="http://schemas.microsoft.com/office/powerpoint/2010/main" val="2841084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This graph shows variation with aspect ratio. </a:t>
            </a:r>
          </a:p>
          <a:p>
            <a:pPr marL="228600" indent="-228600">
              <a:buFont typeface="+mj-lt"/>
              <a:buAutoNum type="arabicPeriod"/>
            </a:pPr>
            <a:r>
              <a:rPr lang="en-GB" sz="1600" dirty="0"/>
              <a:t>Aspect ratio changes the blade axial chord.</a:t>
            </a:r>
          </a:p>
          <a:p>
            <a:pPr marL="228600" indent="-228600">
              <a:buFont typeface="+mj-lt"/>
              <a:buAutoNum type="arabicPeriod"/>
            </a:pPr>
            <a:r>
              <a:rPr lang="en-GB" sz="1600" dirty="0"/>
              <a:t>A high aspect ratio means smaller chords, reducing the impact of secondary flows, however the smaller blades have a relatively thicker trailing edge, increasing loss in the wake.</a:t>
            </a:r>
          </a:p>
          <a:p>
            <a:pPr marL="228600" indent="-228600">
              <a:buFont typeface="+mj-lt"/>
              <a:buAutoNum type="arabicPeriod"/>
            </a:pPr>
            <a:r>
              <a:rPr lang="en-GB" sz="1600" dirty="0"/>
              <a:t>The choice of aspect ratio is a trade off between the two mechanisms.</a:t>
            </a:r>
          </a:p>
        </p:txBody>
      </p:sp>
      <p:sp>
        <p:nvSpPr>
          <p:cNvPr id="4" name="Slide Number Placeholder 3"/>
          <p:cNvSpPr>
            <a:spLocks noGrp="1"/>
          </p:cNvSpPr>
          <p:nvPr>
            <p:ph type="sldNum" sz="quarter" idx="5"/>
          </p:nvPr>
        </p:nvSpPr>
        <p:spPr/>
        <p:txBody>
          <a:bodyPr/>
          <a:lstStyle/>
          <a:p>
            <a:fld id="{666B739E-E4EB-8F42-9004-6DF6778B75E2}" type="slidenum">
              <a:rPr lang="en-GB" smtClean="0"/>
              <a:t>8</a:t>
            </a:fld>
            <a:endParaRPr lang="en-GB"/>
          </a:p>
        </p:txBody>
      </p:sp>
    </p:spTree>
    <p:extLst>
      <p:ext uri="{BB962C8B-B14F-4D97-AF65-F5344CB8AC3E}">
        <p14:creationId xmlns:p14="http://schemas.microsoft.com/office/powerpoint/2010/main" val="1815365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Previous work has suggested the need for many stages and this final graph shows why.</a:t>
            </a:r>
          </a:p>
          <a:p>
            <a:pPr marL="228600" indent="-228600">
              <a:buFont typeface="+mj-lt"/>
              <a:buAutoNum type="arabicPeriod"/>
            </a:pPr>
            <a:r>
              <a:rPr lang="en-GB" sz="1600" dirty="0"/>
              <a:t>Adding stages  reduces the work per stage, bringing the radius down.</a:t>
            </a:r>
          </a:p>
          <a:p>
            <a:pPr marL="228600" indent="-228600">
              <a:buFont typeface="+mj-lt"/>
              <a:buAutoNum type="arabicPeriod"/>
            </a:pPr>
            <a:r>
              <a:rPr lang="en-GB" sz="1600" dirty="0"/>
              <a:t>The subsequent increase in blade span and chord reduces both shroud  and trailing edge loss.</a:t>
            </a:r>
          </a:p>
          <a:p>
            <a:pPr marL="228600" indent="-228600">
              <a:buFont typeface="+mj-lt"/>
              <a:buAutoNum type="arabicPeriod"/>
            </a:pPr>
            <a:r>
              <a:rPr lang="en-GB" sz="1600" u="none" dirty="0"/>
              <a:t>There are no aerodynamic downsides to increasing stages, however this project seeks to reduce them for mechanical simplicity.</a:t>
            </a:r>
          </a:p>
        </p:txBody>
      </p:sp>
      <p:sp>
        <p:nvSpPr>
          <p:cNvPr id="4" name="Slide Number Placeholder 3"/>
          <p:cNvSpPr>
            <a:spLocks noGrp="1"/>
          </p:cNvSpPr>
          <p:nvPr>
            <p:ph type="sldNum" sz="quarter" idx="5"/>
          </p:nvPr>
        </p:nvSpPr>
        <p:spPr/>
        <p:txBody>
          <a:bodyPr/>
          <a:lstStyle/>
          <a:p>
            <a:fld id="{666B739E-E4EB-8F42-9004-6DF6778B75E2}" type="slidenum">
              <a:rPr lang="en-GB" smtClean="0"/>
              <a:t>9</a:t>
            </a:fld>
            <a:endParaRPr lang="en-GB"/>
          </a:p>
        </p:txBody>
      </p:sp>
    </p:spTree>
    <p:extLst>
      <p:ext uri="{BB962C8B-B14F-4D97-AF65-F5344CB8AC3E}">
        <p14:creationId xmlns:p14="http://schemas.microsoft.com/office/powerpoint/2010/main" val="175670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OK, this graph looks </a:t>
            </a:r>
            <a:r>
              <a:rPr lang="en-US" sz="1600"/>
              <a:t>quite messy but don’t </a:t>
            </a:r>
            <a:r>
              <a:rPr lang="en-US" sz="1600" dirty="0"/>
              <a:t>worry, I’ll explain it.</a:t>
            </a:r>
          </a:p>
          <a:p>
            <a:pPr marL="342900" indent="-342900">
              <a:buFont typeface="+mj-lt"/>
              <a:buAutoNum type="arabicPeriod"/>
            </a:pPr>
            <a:r>
              <a:rPr lang="en-US" sz="1600" dirty="0"/>
              <a:t>It shows how the optimal design point varies with the number of stages. </a:t>
            </a:r>
          </a:p>
          <a:p>
            <a:pPr marL="342900" indent="-342900">
              <a:buFont typeface="+mj-lt"/>
              <a:buAutoNum type="arabicPeriod"/>
            </a:pPr>
            <a:r>
              <a:rPr lang="en-US" sz="1600" dirty="0"/>
              <a:t>Each of these lines is formed from results of a series of </a:t>
            </a:r>
            <a:r>
              <a:rPr lang="en-US" sz="1600" dirty="0" err="1"/>
              <a:t>optimisations</a:t>
            </a:r>
            <a:r>
              <a:rPr lang="en-US" sz="1600" dirty="0"/>
              <a:t> at each stage number. </a:t>
            </a:r>
          </a:p>
          <a:p>
            <a:pPr marL="342900" indent="-342900">
              <a:buFont typeface="+mj-lt"/>
              <a:buAutoNum type="arabicPeriod"/>
            </a:pPr>
            <a:r>
              <a:rPr lang="en-US" sz="1600" dirty="0"/>
              <a:t>The solid lines show the parameter for the first stage of each design and the dashed show it for the last, with  a linear variation between them</a:t>
            </a:r>
          </a:p>
        </p:txBody>
      </p:sp>
      <p:sp>
        <p:nvSpPr>
          <p:cNvPr id="4" name="Slide Number Placeholder 3"/>
          <p:cNvSpPr>
            <a:spLocks noGrp="1"/>
          </p:cNvSpPr>
          <p:nvPr>
            <p:ph type="sldNum" sz="quarter" idx="5"/>
          </p:nvPr>
        </p:nvSpPr>
        <p:spPr/>
        <p:txBody>
          <a:bodyPr/>
          <a:lstStyle/>
          <a:p>
            <a:fld id="{666B739E-E4EB-8F42-9004-6DF6778B75E2}" type="slidenum">
              <a:rPr lang="en-GB" smtClean="0"/>
              <a:t>10</a:t>
            </a:fld>
            <a:endParaRPr lang="en-GB"/>
          </a:p>
        </p:txBody>
      </p:sp>
    </p:spTree>
    <p:extLst>
      <p:ext uri="{BB962C8B-B14F-4D97-AF65-F5344CB8AC3E}">
        <p14:creationId xmlns:p14="http://schemas.microsoft.com/office/powerpoint/2010/main" val="1822893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Flow coefficient remains pretty much constant at 0.3 in order to maintain large blade spans</a:t>
            </a:r>
          </a:p>
        </p:txBody>
      </p:sp>
      <p:sp>
        <p:nvSpPr>
          <p:cNvPr id="4" name="Slide Number Placeholder 3"/>
          <p:cNvSpPr>
            <a:spLocks noGrp="1"/>
          </p:cNvSpPr>
          <p:nvPr>
            <p:ph type="sldNum" sz="quarter" idx="5"/>
          </p:nvPr>
        </p:nvSpPr>
        <p:spPr/>
        <p:txBody>
          <a:bodyPr/>
          <a:lstStyle/>
          <a:p>
            <a:fld id="{666B739E-E4EB-8F42-9004-6DF6778B75E2}" type="slidenum">
              <a:rPr lang="en-GB" smtClean="0"/>
              <a:t>11</a:t>
            </a:fld>
            <a:endParaRPr lang="en-GB"/>
          </a:p>
        </p:txBody>
      </p:sp>
    </p:spTree>
    <p:extLst>
      <p:ext uri="{BB962C8B-B14F-4D97-AF65-F5344CB8AC3E}">
        <p14:creationId xmlns:p14="http://schemas.microsoft.com/office/powerpoint/2010/main" val="1457035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Reaction also does not deviate from 50% as there is no reason to </a:t>
            </a:r>
            <a:r>
              <a:rPr lang="en-US" sz="1600" dirty="0" err="1"/>
              <a:t>favour</a:t>
            </a:r>
            <a:r>
              <a:rPr lang="en-US" sz="1600" dirty="0"/>
              <a:t> the rotor or stator </a:t>
            </a:r>
          </a:p>
        </p:txBody>
      </p:sp>
      <p:sp>
        <p:nvSpPr>
          <p:cNvPr id="4" name="Slide Number Placeholder 3"/>
          <p:cNvSpPr>
            <a:spLocks noGrp="1"/>
          </p:cNvSpPr>
          <p:nvPr>
            <p:ph type="sldNum" sz="quarter" idx="5"/>
          </p:nvPr>
        </p:nvSpPr>
        <p:spPr/>
        <p:txBody>
          <a:bodyPr/>
          <a:lstStyle/>
          <a:p>
            <a:fld id="{666B739E-E4EB-8F42-9004-6DF6778B75E2}" type="slidenum">
              <a:rPr lang="en-GB" smtClean="0"/>
              <a:t>12</a:t>
            </a:fld>
            <a:endParaRPr lang="en-GB"/>
          </a:p>
        </p:txBody>
      </p:sp>
    </p:spTree>
    <p:extLst>
      <p:ext uri="{BB962C8B-B14F-4D97-AF65-F5344CB8AC3E}">
        <p14:creationId xmlns:p14="http://schemas.microsoft.com/office/powerpoint/2010/main" val="3374169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The grey line at the top shows the ratio of work done between the first and last stages. </a:t>
            </a:r>
          </a:p>
          <a:p>
            <a:pPr marL="342900" indent="-342900">
              <a:buFont typeface="+mj-lt"/>
              <a:buAutoNum type="arabicPeriod"/>
            </a:pPr>
            <a:r>
              <a:rPr lang="en-US" sz="1600" dirty="0"/>
              <a:t>The last stage does 10% more work than the first in order to unload the early stages where the higher gas density means blades spans are smaller and shroud loss is higher.</a:t>
            </a:r>
          </a:p>
        </p:txBody>
      </p:sp>
      <p:sp>
        <p:nvSpPr>
          <p:cNvPr id="4" name="Slide Number Placeholder 3"/>
          <p:cNvSpPr>
            <a:spLocks noGrp="1"/>
          </p:cNvSpPr>
          <p:nvPr>
            <p:ph type="sldNum" sz="quarter" idx="5"/>
          </p:nvPr>
        </p:nvSpPr>
        <p:spPr/>
        <p:txBody>
          <a:bodyPr/>
          <a:lstStyle/>
          <a:p>
            <a:fld id="{666B739E-E4EB-8F42-9004-6DF6778B75E2}" type="slidenum">
              <a:rPr lang="en-GB" smtClean="0"/>
              <a:t>13</a:t>
            </a:fld>
            <a:endParaRPr lang="en-GB"/>
          </a:p>
        </p:txBody>
      </p:sp>
    </p:spTree>
    <p:extLst>
      <p:ext uri="{BB962C8B-B14F-4D97-AF65-F5344CB8AC3E}">
        <p14:creationId xmlns:p14="http://schemas.microsoft.com/office/powerpoint/2010/main" val="32871967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Stage loading increases as you move to fewer stages.</a:t>
            </a:r>
          </a:p>
          <a:p>
            <a:pPr marL="342900" indent="-342900">
              <a:buFont typeface="+mj-lt"/>
              <a:buAutoNum type="arabicPeriod"/>
            </a:pPr>
            <a:r>
              <a:rPr lang="en-US" sz="1600" dirty="0"/>
              <a:t>This is because as shroud loss increases the benefit of reducing the radius with a larger stage loading outweighs the penalty in profile and secondary loss.</a:t>
            </a:r>
          </a:p>
        </p:txBody>
      </p:sp>
      <p:sp>
        <p:nvSpPr>
          <p:cNvPr id="4" name="Slide Number Placeholder 3"/>
          <p:cNvSpPr>
            <a:spLocks noGrp="1"/>
          </p:cNvSpPr>
          <p:nvPr>
            <p:ph type="sldNum" sz="quarter" idx="5"/>
          </p:nvPr>
        </p:nvSpPr>
        <p:spPr/>
        <p:txBody>
          <a:bodyPr/>
          <a:lstStyle/>
          <a:p>
            <a:fld id="{666B739E-E4EB-8F42-9004-6DF6778B75E2}" type="slidenum">
              <a:rPr lang="en-GB" smtClean="0"/>
              <a:t>14</a:t>
            </a:fld>
            <a:endParaRPr lang="en-GB"/>
          </a:p>
        </p:txBody>
      </p:sp>
    </p:spTree>
    <p:extLst>
      <p:ext uri="{BB962C8B-B14F-4D97-AF65-F5344CB8AC3E}">
        <p14:creationId xmlns:p14="http://schemas.microsoft.com/office/powerpoint/2010/main" val="3783451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Aspect ratio increases with stages.</a:t>
            </a:r>
          </a:p>
          <a:p>
            <a:pPr marL="342900" indent="-342900">
              <a:buFont typeface="+mj-lt"/>
              <a:buAutoNum type="arabicPeriod"/>
            </a:pPr>
            <a:r>
              <a:rPr lang="en-US" sz="1600" dirty="0"/>
              <a:t>More stages results in larger blade  chords, meaning the tradeoff between secondary and trailing edge loss </a:t>
            </a:r>
            <a:r>
              <a:rPr lang="en-US" sz="1600" dirty="0" err="1"/>
              <a:t>favours</a:t>
            </a:r>
            <a:r>
              <a:rPr lang="en-US" sz="1600" dirty="0"/>
              <a:t> an increased aspect ratio to reduce secondary loss. </a:t>
            </a:r>
          </a:p>
        </p:txBody>
      </p:sp>
      <p:sp>
        <p:nvSpPr>
          <p:cNvPr id="4" name="Slide Number Placeholder 3"/>
          <p:cNvSpPr>
            <a:spLocks noGrp="1"/>
          </p:cNvSpPr>
          <p:nvPr>
            <p:ph type="sldNum" sz="quarter" idx="5"/>
          </p:nvPr>
        </p:nvSpPr>
        <p:spPr/>
        <p:txBody>
          <a:bodyPr/>
          <a:lstStyle/>
          <a:p>
            <a:fld id="{666B739E-E4EB-8F42-9004-6DF6778B75E2}" type="slidenum">
              <a:rPr lang="en-GB" smtClean="0"/>
              <a:t>15</a:t>
            </a:fld>
            <a:endParaRPr lang="en-GB"/>
          </a:p>
        </p:txBody>
      </p:sp>
    </p:spTree>
    <p:extLst>
      <p:ext uri="{BB962C8B-B14F-4D97-AF65-F5344CB8AC3E}">
        <p14:creationId xmlns:p14="http://schemas.microsoft.com/office/powerpoint/2010/main" val="1892465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a:buFont typeface="+mj-lt"/>
              <a:buAutoNum type="arabicPeriod"/>
            </a:pPr>
            <a:r>
              <a:rPr lang="en-US" sz="1600" dirty="0"/>
              <a:t>The result of the reduced shroud loss as you add stages is an increase in efficiency, however the benefit diminishes with more stages, with only a 1% point increase from 20 to 25 stages</a:t>
            </a:r>
          </a:p>
        </p:txBody>
      </p:sp>
      <p:sp>
        <p:nvSpPr>
          <p:cNvPr id="4" name="Slide Number Placeholder 3"/>
          <p:cNvSpPr>
            <a:spLocks noGrp="1"/>
          </p:cNvSpPr>
          <p:nvPr>
            <p:ph type="sldNum" sz="quarter" idx="5"/>
          </p:nvPr>
        </p:nvSpPr>
        <p:spPr/>
        <p:txBody>
          <a:bodyPr/>
          <a:lstStyle/>
          <a:p>
            <a:fld id="{666B739E-E4EB-8F42-9004-6DF6778B75E2}" type="slidenum">
              <a:rPr lang="en-GB" smtClean="0"/>
              <a:t>16</a:t>
            </a:fld>
            <a:endParaRPr lang="en-GB"/>
          </a:p>
        </p:txBody>
      </p:sp>
    </p:spTree>
    <p:extLst>
      <p:ext uri="{BB962C8B-B14F-4D97-AF65-F5344CB8AC3E}">
        <p14:creationId xmlns:p14="http://schemas.microsoft.com/office/powerpoint/2010/main" val="2790886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n-GB" sz="1600" dirty="0"/>
              <a:t>Comparing the helium turbine to a conventional </a:t>
            </a:r>
            <a:r>
              <a:rPr lang="en-GB" sz="1600" dirty="0" err="1"/>
              <a:t>aeroengine</a:t>
            </a:r>
            <a:r>
              <a:rPr lang="en-GB" sz="1600" dirty="0"/>
              <a:t> turbine demonstrates the problems faced in design.</a:t>
            </a:r>
          </a:p>
          <a:p>
            <a:pPr marL="342900" indent="-342900">
              <a:buFont typeface="+mj-lt"/>
              <a:buAutoNum type="arabicPeriod"/>
            </a:pPr>
            <a:r>
              <a:rPr lang="en-GB" sz="1600" dirty="0"/>
              <a:t>The figure on the left shows cross-sections of the optimal 10 stage helium turbine and a representative </a:t>
            </a:r>
            <a:r>
              <a:rPr lang="en-GB" sz="1600" dirty="0" err="1"/>
              <a:t>aeroengine</a:t>
            </a:r>
            <a:r>
              <a:rPr lang="en-GB" sz="1600" dirty="0"/>
              <a:t> HP turbine taken from </a:t>
            </a:r>
            <a:r>
              <a:rPr lang="en-GB" sz="1600" dirty="0" err="1"/>
              <a:t>Cumpsty</a:t>
            </a:r>
            <a:r>
              <a:rPr lang="en-GB" sz="1600" dirty="0"/>
              <a:t> and </a:t>
            </a:r>
            <a:r>
              <a:rPr lang="en-GB" sz="1600" dirty="0" err="1"/>
              <a:t>Heyes</a:t>
            </a:r>
            <a:r>
              <a:rPr lang="en-GB" sz="1600" dirty="0"/>
              <a:t>’ study on a high bypass turbofan.</a:t>
            </a:r>
          </a:p>
          <a:p>
            <a:pPr marL="342900" indent="-342900">
              <a:buFont typeface="+mj-lt"/>
              <a:buAutoNum type="arabicPeriod"/>
            </a:pPr>
            <a:r>
              <a:rPr lang="en-GB" sz="1600" dirty="0"/>
              <a:t>Where the helium turbine has a larger radius and blades around 1cm in span, the HP turbine has blades almost 10cm tall.</a:t>
            </a:r>
          </a:p>
          <a:p>
            <a:pPr marL="342900" indent="-342900">
              <a:buFont typeface="+mj-lt"/>
              <a:buAutoNum type="arabicPeriod"/>
            </a:pPr>
            <a:endParaRPr lang="en-GB"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17</a:t>
            </a:fld>
            <a:endParaRPr lang="en-GB"/>
          </a:p>
        </p:txBody>
      </p:sp>
    </p:spTree>
    <p:extLst>
      <p:ext uri="{BB962C8B-B14F-4D97-AF65-F5344CB8AC3E}">
        <p14:creationId xmlns:p14="http://schemas.microsoft.com/office/powerpoint/2010/main" val="2223174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The table of design constraints explains the differences.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Although both have similar power outputs, the HP turbine spins 65% faster, giving it a lower radius.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The difference in inlet conditions and mass flow means the inlet volumetric flow rate for the HP turbine is 4 times larger.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This is what causes the difference in blade spans.  </a:t>
            </a:r>
          </a:p>
          <a:p>
            <a:pPr marL="342900" indent="-342900">
              <a:buFont typeface="+mj-lt"/>
              <a:buAutoNum type="arabicPeriod"/>
            </a:pPr>
            <a:endParaRPr lang="en-GB" sz="1600" dirty="0"/>
          </a:p>
          <a:p>
            <a:pPr marL="342900" indent="-342900">
              <a:buFont typeface="+mj-lt"/>
              <a:buAutoNum type="arabicPeriod"/>
            </a:pPr>
            <a:endParaRPr lang="en-GB"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18</a:t>
            </a:fld>
            <a:endParaRPr lang="en-GB"/>
          </a:p>
        </p:txBody>
      </p:sp>
    </p:spTree>
    <p:extLst>
      <p:ext uri="{BB962C8B-B14F-4D97-AF65-F5344CB8AC3E}">
        <p14:creationId xmlns:p14="http://schemas.microsoft.com/office/powerpoint/2010/main" val="2322167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n-GB" sz="1600" dirty="0"/>
              <a:t>The variation in turbine geometry results in a different balance between losses.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The left graph shows that at the HP turbine’s design mass flow rate loss is mostly balanced between mechanisms</a:t>
            </a:r>
          </a:p>
          <a:p>
            <a:pPr marL="342900" indent="-342900">
              <a:buFont typeface="+mj-lt"/>
              <a:buAutoNum type="arabicPeriod"/>
            </a:pPr>
            <a:r>
              <a:rPr lang="en-GB" sz="1600" dirty="0"/>
              <a:t>The right graph shows that at its design mass flow rate the helium turbine is dominated by shroud loss.</a:t>
            </a:r>
          </a:p>
          <a:p>
            <a:pPr marL="342900" indent="-342900">
              <a:buFont typeface="+mj-lt"/>
              <a:buAutoNum type="arabicPeriod"/>
            </a:pPr>
            <a:r>
              <a:rPr lang="en-GB" sz="1600" dirty="0"/>
              <a:t>The mass flow rate of helium would need to be 3-4 times greater to achieve this balance.</a:t>
            </a:r>
          </a:p>
          <a:p>
            <a:pPr marL="342900" indent="-342900">
              <a:buFont typeface="+mj-lt"/>
              <a:buAutoNum type="arabicPeriod"/>
            </a:pPr>
            <a:r>
              <a:rPr lang="en-GB" sz="1600" dirty="0"/>
              <a:t>This is not possible, so the turbine is forced into a biased design space.</a:t>
            </a:r>
          </a:p>
          <a:p>
            <a:pPr marL="342900" indent="-342900">
              <a:buFont typeface="+mj-lt"/>
              <a:buAutoNum type="arabicPeriod"/>
            </a:pPr>
            <a:endParaRPr lang="en-GB" sz="1600" dirty="0"/>
          </a:p>
          <a:p>
            <a:pPr marL="342900" indent="-342900">
              <a:buFont typeface="+mj-lt"/>
              <a:buAutoNum type="arabicPeriod"/>
            </a:pPr>
            <a:endParaRPr lang="en-GB"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19</a:t>
            </a:fld>
            <a:endParaRPr lang="en-GB"/>
          </a:p>
        </p:txBody>
      </p:sp>
    </p:spTree>
    <p:extLst>
      <p:ext uri="{BB962C8B-B14F-4D97-AF65-F5344CB8AC3E}">
        <p14:creationId xmlns:p14="http://schemas.microsoft.com/office/powerpoint/2010/main" val="4151652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I’ve shown that loss is dominated by the shroud.</a:t>
            </a:r>
          </a:p>
          <a:p>
            <a:pPr marL="228600" indent="-228600">
              <a:buFont typeface="+mj-lt"/>
              <a:buAutoNum type="arabicPeriod"/>
            </a:pPr>
            <a:r>
              <a:rPr lang="en-GB" sz="1600" dirty="0"/>
              <a:t>So, what can be done to bring the number of stages needed for 85% efficiency down.</a:t>
            </a:r>
            <a:endParaRPr lang="en-GB" dirty="0"/>
          </a:p>
        </p:txBody>
      </p:sp>
      <p:sp>
        <p:nvSpPr>
          <p:cNvPr id="4" name="Slide Number Placeholder 3"/>
          <p:cNvSpPr>
            <a:spLocks noGrp="1"/>
          </p:cNvSpPr>
          <p:nvPr>
            <p:ph type="sldNum" sz="quarter" idx="5"/>
          </p:nvPr>
        </p:nvSpPr>
        <p:spPr/>
        <p:txBody>
          <a:bodyPr/>
          <a:lstStyle/>
          <a:p>
            <a:fld id="{666B739E-E4EB-8F42-9004-6DF6778B75E2}" type="slidenum">
              <a:rPr lang="en-GB" smtClean="0"/>
              <a:t>20</a:t>
            </a:fld>
            <a:endParaRPr lang="en-GB"/>
          </a:p>
        </p:txBody>
      </p:sp>
    </p:spTree>
    <p:extLst>
      <p:ext uri="{BB962C8B-B14F-4D97-AF65-F5344CB8AC3E}">
        <p14:creationId xmlns:p14="http://schemas.microsoft.com/office/powerpoint/2010/main" val="3670644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Currently, working with a trailing edge thickness and shroud gap of 0.3mm and a pitch-to-chord ratio of 1.1, 19 stages are needed</a:t>
            </a:r>
          </a:p>
        </p:txBody>
      </p:sp>
      <p:sp>
        <p:nvSpPr>
          <p:cNvPr id="4" name="Slide Number Placeholder 3"/>
          <p:cNvSpPr>
            <a:spLocks noGrp="1"/>
          </p:cNvSpPr>
          <p:nvPr>
            <p:ph type="sldNum" sz="quarter" idx="5"/>
          </p:nvPr>
        </p:nvSpPr>
        <p:spPr/>
        <p:txBody>
          <a:bodyPr/>
          <a:lstStyle/>
          <a:p>
            <a:fld id="{666B739E-E4EB-8F42-9004-6DF6778B75E2}" type="slidenum">
              <a:rPr lang="en-GB" smtClean="0"/>
              <a:t>21</a:t>
            </a:fld>
            <a:endParaRPr lang="en-GB"/>
          </a:p>
        </p:txBody>
      </p:sp>
    </p:spTree>
    <p:extLst>
      <p:ext uri="{BB962C8B-B14F-4D97-AF65-F5344CB8AC3E}">
        <p14:creationId xmlns:p14="http://schemas.microsoft.com/office/powerpoint/2010/main" val="192535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Halving shroud clearance through tighter tolerances on machining and vibration control brings us down to a 12 stage machine.</a:t>
            </a:r>
          </a:p>
        </p:txBody>
      </p:sp>
      <p:sp>
        <p:nvSpPr>
          <p:cNvPr id="4" name="Slide Number Placeholder 3"/>
          <p:cNvSpPr>
            <a:spLocks noGrp="1"/>
          </p:cNvSpPr>
          <p:nvPr>
            <p:ph type="sldNum" sz="quarter" idx="5"/>
          </p:nvPr>
        </p:nvSpPr>
        <p:spPr/>
        <p:txBody>
          <a:bodyPr/>
          <a:lstStyle/>
          <a:p>
            <a:fld id="{666B739E-E4EB-8F42-9004-6DF6778B75E2}" type="slidenum">
              <a:rPr lang="en-GB" smtClean="0"/>
              <a:t>22</a:t>
            </a:fld>
            <a:endParaRPr lang="en-GB"/>
          </a:p>
        </p:txBody>
      </p:sp>
    </p:spTree>
    <p:extLst>
      <p:ext uri="{BB962C8B-B14F-4D97-AF65-F5344CB8AC3E}">
        <p14:creationId xmlns:p14="http://schemas.microsoft.com/office/powerpoint/2010/main" val="1743127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The stators aren’t rotating so they aren’t subject to the same stress limitations as the rotors</a:t>
            </a:r>
          </a:p>
          <a:p>
            <a:pPr marL="228600" indent="-228600">
              <a:buFont typeface="+mj-lt"/>
              <a:buAutoNum type="arabicPeriod"/>
            </a:pPr>
            <a:r>
              <a:rPr lang="en-GB" sz="1600" dirty="0"/>
              <a:t>As a result a heavier, more complex shroud could be used to cut leakage dramatically</a:t>
            </a:r>
          </a:p>
          <a:p>
            <a:pPr marL="228600" indent="-228600">
              <a:buFont typeface="+mj-lt"/>
              <a:buAutoNum type="arabicPeriod"/>
            </a:pPr>
            <a:r>
              <a:rPr lang="en-GB" sz="1600" dirty="0"/>
              <a:t>A 70% reduction in stator shroud loss would mean 13 stages are needed</a:t>
            </a:r>
          </a:p>
        </p:txBody>
      </p:sp>
      <p:sp>
        <p:nvSpPr>
          <p:cNvPr id="4" name="Slide Number Placeholder 3"/>
          <p:cNvSpPr>
            <a:spLocks noGrp="1"/>
          </p:cNvSpPr>
          <p:nvPr>
            <p:ph type="sldNum" sz="quarter" idx="5"/>
          </p:nvPr>
        </p:nvSpPr>
        <p:spPr/>
        <p:txBody>
          <a:bodyPr/>
          <a:lstStyle/>
          <a:p>
            <a:fld id="{666B739E-E4EB-8F42-9004-6DF6778B75E2}" type="slidenum">
              <a:rPr lang="en-GB" smtClean="0"/>
              <a:t>23</a:t>
            </a:fld>
            <a:endParaRPr lang="en-GB"/>
          </a:p>
        </p:txBody>
      </p:sp>
    </p:spTree>
    <p:extLst>
      <p:ext uri="{BB962C8B-B14F-4D97-AF65-F5344CB8AC3E}">
        <p14:creationId xmlns:p14="http://schemas.microsoft.com/office/powerpoint/2010/main" val="32003294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dirty="0"/>
              <a:t>We can also target the trailing edge by halving machining tolerance on the thickness and increasing pitch-to-chord with high lift blades.</a:t>
            </a:r>
          </a:p>
          <a:p>
            <a:pPr marL="228600" indent="-228600">
              <a:buFont typeface="+mj-lt"/>
              <a:buAutoNum type="arabicPeriod"/>
            </a:pPr>
            <a:r>
              <a:rPr lang="en-GB" sz="1600" dirty="0"/>
              <a:t>If all of these changes are applied then a 7 stage machine becomes feasible. </a:t>
            </a:r>
          </a:p>
          <a:p>
            <a:pPr marL="228600" indent="-228600">
              <a:buFont typeface="+mj-lt"/>
              <a:buAutoNum type="arabicPeriod"/>
            </a:pPr>
            <a:r>
              <a:rPr lang="en-GB" sz="1600" dirty="0"/>
              <a:t>Clearly there is scope for high efficiency with low mechanical complexity.</a:t>
            </a:r>
          </a:p>
          <a:p>
            <a:pPr marL="228600" indent="-228600">
              <a:buFont typeface="+mj-lt"/>
              <a:buAutoNum type="arabicPeriod"/>
            </a:pPr>
            <a:r>
              <a:rPr lang="en-GB" sz="1600" dirty="0"/>
              <a:t>Because of the sensitivity on shroud loss it is important that we understand the mechanisms that set the clearance.</a:t>
            </a:r>
          </a:p>
          <a:p>
            <a:pPr marL="228600" indent="-228600">
              <a:buFont typeface="+mj-lt"/>
              <a:buAutoNum type="arabicPeriod"/>
            </a:pPr>
            <a:r>
              <a:rPr lang="en-GB" sz="1600" dirty="0"/>
              <a:t>Zak </a:t>
            </a:r>
            <a:r>
              <a:rPr lang="en-GB" sz="1600" dirty="0" err="1"/>
              <a:t>Karimjee</a:t>
            </a:r>
            <a:r>
              <a:rPr lang="en-GB" sz="1600" dirty="0"/>
              <a:t> has presented his work on vibration and machining that has used designs generated by my modelling, while I have worked on thermal transients.</a:t>
            </a:r>
          </a:p>
        </p:txBody>
      </p:sp>
      <p:sp>
        <p:nvSpPr>
          <p:cNvPr id="4" name="Slide Number Placeholder 3"/>
          <p:cNvSpPr>
            <a:spLocks noGrp="1"/>
          </p:cNvSpPr>
          <p:nvPr>
            <p:ph type="sldNum" sz="quarter" idx="5"/>
          </p:nvPr>
        </p:nvSpPr>
        <p:spPr/>
        <p:txBody>
          <a:bodyPr/>
          <a:lstStyle/>
          <a:p>
            <a:fld id="{666B739E-E4EB-8F42-9004-6DF6778B75E2}" type="slidenum">
              <a:rPr lang="en-GB" smtClean="0"/>
              <a:t>24</a:t>
            </a:fld>
            <a:endParaRPr lang="en-GB"/>
          </a:p>
        </p:txBody>
      </p:sp>
    </p:spTree>
    <p:extLst>
      <p:ext uri="{BB962C8B-B14F-4D97-AF65-F5344CB8AC3E}">
        <p14:creationId xmlns:p14="http://schemas.microsoft.com/office/powerpoint/2010/main" val="2570560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n-GB" sz="1600" dirty="0"/>
              <a:t>To determine the transient expansion behaviour of the turbine a model of its construction has been developed.</a:t>
            </a:r>
          </a:p>
          <a:p>
            <a:pPr marL="342900" indent="-342900">
              <a:buFont typeface="+mj-lt"/>
              <a:buAutoNum type="arabicPeriod"/>
            </a:pPr>
            <a:r>
              <a:rPr lang="en-GB" sz="1600" dirty="0"/>
              <a:t>As shown in the figure, the turbine is constructed from blade rings stacked axially, with discs at each end to attach to the shaft and the casing acting as a pressure vessel.</a:t>
            </a:r>
          </a:p>
          <a:p>
            <a:pPr marL="342900" indent="-342900">
              <a:buFont typeface="+mj-lt"/>
              <a:buAutoNum type="arabicPeriod"/>
            </a:pPr>
            <a:r>
              <a:rPr lang="en-GB" sz="1600" dirty="0"/>
              <a:t>Stresses from rotation and pressure are used as the limiting factors on the thickness of the rings, taking into account the varying strength of Inconel with temperature.</a:t>
            </a:r>
          </a:p>
          <a:p>
            <a:pPr marL="342900" indent="-342900">
              <a:buFont typeface="+mj-lt"/>
              <a:buAutoNum type="arabicPeriod"/>
            </a:pPr>
            <a:r>
              <a:rPr lang="en-GB" sz="1600" dirty="0"/>
              <a:t>A lumped heat capacity model is then used for transient heat transfer analysis.</a:t>
            </a:r>
          </a:p>
        </p:txBody>
      </p:sp>
      <p:sp>
        <p:nvSpPr>
          <p:cNvPr id="4" name="Slide Number Placeholder 3"/>
          <p:cNvSpPr>
            <a:spLocks noGrp="1"/>
          </p:cNvSpPr>
          <p:nvPr>
            <p:ph type="sldNum" sz="quarter" idx="5"/>
          </p:nvPr>
        </p:nvSpPr>
        <p:spPr/>
        <p:txBody>
          <a:bodyPr/>
          <a:lstStyle/>
          <a:p>
            <a:fld id="{666B739E-E4EB-8F42-9004-6DF6778B75E2}" type="slidenum">
              <a:rPr lang="en-GB" smtClean="0"/>
              <a:t>25</a:t>
            </a:fld>
            <a:endParaRPr lang="en-GB"/>
          </a:p>
        </p:txBody>
      </p:sp>
    </p:spTree>
    <p:extLst>
      <p:ext uri="{BB962C8B-B14F-4D97-AF65-F5344CB8AC3E}">
        <p14:creationId xmlns:p14="http://schemas.microsoft.com/office/powerpoint/2010/main" val="4243590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n-GB" sz="1600" dirty="0"/>
              <a:t>This graph shows the problem with possible transient expansion during start-up of the turbine.</a:t>
            </a:r>
          </a:p>
          <a:p>
            <a:pPr marL="342900" indent="-342900">
              <a:buFont typeface="+mj-lt"/>
              <a:buAutoNum type="arabicPeriod"/>
            </a:pPr>
            <a:r>
              <a:rPr lang="en-GB" sz="1600" dirty="0"/>
              <a:t>The y-axis is the change in shroud gap as a fraction of blade span and the x axis is time normalised by the hub’s thermal time constant.</a:t>
            </a:r>
          </a:p>
          <a:p>
            <a:pPr marL="342900" indent="-342900">
              <a:buFont typeface="+mj-lt"/>
              <a:buAutoNum type="arabicPeriod"/>
            </a:pPr>
            <a:r>
              <a:rPr lang="en-GB" sz="1600" dirty="0"/>
              <a:t>The turbine starts off cold and stationary, with clearances as machined.</a:t>
            </a:r>
          </a:p>
          <a:p>
            <a:pPr marL="342900" indent="-342900">
              <a:buFont typeface="+mj-lt"/>
              <a:buAutoNum type="arabicPeriod"/>
            </a:pPr>
            <a:r>
              <a:rPr lang="en-GB" sz="1600" dirty="0"/>
              <a:t>After accelerating to design speed, the turbine is still cold but the rotation has caused the hub to expand and close the gap</a:t>
            </a:r>
          </a:p>
          <a:p>
            <a:pPr marL="342900" indent="-342900">
              <a:buFont typeface="+mj-lt"/>
              <a:buAutoNum type="arabicPeriod"/>
            </a:pPr>
            <a:r>
              <a:rPr lang="en-GB" sz="1600" dirty="0"/>
              <a:t>With a step change in helium temperature the case heats up and expands much faster than the hub, opening a large shroud gap until the hub begins to catch up.</a:t>
            </a:r>
          </a:p>
          <a:p>
            <a:pPr marL="342900" indent="-342900">
              <a:buFont typeface="+mj-lt"/>
              <a:buAutoNum type="arabicPeriod"/>
            </a:pPr>
            <a:r>
              <a:rPr lang="en-GB" sz="1600" dirty="0"/>
              <a:t>Once both components are fully soaked to the operating temperature the final clearance is set.</a:t>
            </a:r>
          </a:p>
        </p:txBody>
      </p:sp>
      <p:sp>
        <p:nvSpPr>
          <p:cNvPr id="4" name="Slide Number Placeholder 3"/>
          <p:cNvSpPr>
            <a:spLocks noGrp="1"/>
          </p:cNvSpPr>
          <p:nvPr>
            <p:ph type="sldNum" sz="quarter" idx="5"/>
          </p:nvPr>
        </p:nvSpPr>
        <p:spPr/>
        <p:txBody>
          <a:bodyPr/>
          <a:lstStyle/>
          <a:p>
            <a:fld id="{666B739E-E4EB-8F42-9004-6DF6778B75E2}" type="slidenum">
              <a:rPr lang="en-GB" smtClean="0"/>
              <a:t>26</a:t>
            </a:fld>
            <a:endParaRPr lang="en-GB"/>
          </a:p>
        </p:txBody>
      </p:sp>
    </p:spTree>
    <p:extLst>
      <p:ext uri="{BB962C8B-B14F-4D97-AF65-F5344CB8AC3E}">
        <p14:creationId xmlns:p14="http://schemas.microsoft.com/office/powerpoint/2010/main" val="249903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n-GB" sz="1600" dirty="0"/>
              <a:t>This analysis can be done for the whole turbine. </a:t>
            </a:r>
          </a:p>
          <a:p>
            <a:pPr marL="342900" indent="-342900">
              <a:buFont typeface="+mj-lt"/>
              <a:buAutoNum type="arabicPeriod"/>
            </a:pPr>
            <a:r>
              <a:rPr lang="en-GB" sz="1600" dirty="0"/>
              <a:t>Each bar in this chart shows the maximum change in clearance at each phase of start-up for every stage of the optimal ten stage design.</a:t>
            </a:r>
          </a:p>
          <a:p>
            <a:pPr marL="342900" indent="-342900">
              <a:buFont typeface="+mj-lt"/>
              <a:buAutoNum type="arabicPeriod"/>
            </a:pPr>
            <a:r>
              <a:rPr lang="en-GB" sz="1600" dirty="0"/>
              <a:t>Intermediate stages show similar behaviour to the previous graph, but the stiffness and thermal mass of the discs in the first and last stages means the case expands much faster and much more than the hub.</a:t>
            </a:r>
          </a:p>
          <a:p>
            <a:pPr marL="342900" indent="-342900">
              <a:buFont typeface="+mj-lt"/>
              <a:buAutoNum type="arabicPeriod"/>
            </a:pPr>
            <a:r>
              <a:rPr lang="en-GB" sz="1600" dirty="0"/>
              <a:t>The large operating clearances seen in the red bars would make these stages extremely inefficient.</a:t>
            </a:r>
          </a:p>
        </p:txBody>
      </p:sp>
      <p:sp>
        <p:nvSpPr>
          <p:cNvPr id="4" name="Slide Number Placeholder 3"/>
          <p:cNvSpPr>
            <a:spLocks noGrp="1"/>
          </p:cNvSpPr>
          <p:nvPr>
            <p:ph type="sldNum" sz="quarter" idx="5"/>
          </p:nvPr>
        </p:nvSpPr>
        <p:spPr/>
        <p:txBody>
          <a:bodyPr/>
          <a:lstStyle/>
          <a:p>
            <a:fld id="{666B739E-E4EB-8F42-9004-6DF6778B75E2}" type="slidenum">
              <a:rPr lang="en-GB" smtClean="0"/>
              <a:t>27</a:t>
            </a:fld>
            <a:endParaRPr lang="en-GB"/>
          </a:p>
        </p:txBody>
      </p:sp>
    </p:spTree>
    <p:extLst>
      <p:ext uri="{BB962C8B-B14F-4D97-AF65-F5344CB8AC3E}">
        <p14:creationId xmlns:p14="http://schemas.microsoft.com/office/powerpoint/2010/main" val="14408560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This can be countered by adding stiffness and thermal mass to the case by doubling the safety factor.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This greatly reduces the  changes in the shroud gap for the first and last stages.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All intermediate stages now have a significant machined clearance into which the hub can expand.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As the cold-static condition is a negligible part of the operating envelope this clearance does not matter.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1600" dirty="0"/>
              <a:t>This is not a complete solution; a thorough mechanical design may look to use tapered discs and blades to reduce mass while better controlling the expansion.</a:t>
            </a:r>
          </a:p>
        </p:txBody>
      </p:sp>
      <p:sp>
        <p:nvSpPr>
          <p:cNvPr id="4" name="Slide Number Placeholder 3"/>
          <p:cNvSpPr>
            <a:spLocks noGrp="1"/>
          </p:cNvSpPr>
          <p:nvPr>
            <p:ph type="sldNum" sz="quarter" idx="5"/>
          </p:nvPr>
        </p:nvSpPr>
        <p:spPr/>
        <p:txBody>
          <a:bodyPr/>
          <a:lstStyle/>
          <a:p>
            <a:fld id="{666B739E-E4EB-8F42-9004-6DF6778B75E2}" type="slidenum">
              <a:rPr lang="en-GB" smtClean="0"/>
              <a:t>28</a:t>
            </a:fld>
            <a:endParaRPr lang="en-GB"/>
          </a:p>
        </p:txBody>
      </p:sp>
    </p:spTree>
    <p:extLst>
      <p:ext uri="{BB962C8B-B14F-4D97-AF65-F5344CB8AC3E}">
        <p14:creationId xmlns:p14="http://schemas.microsoft.com/office/powerpoint/2010/main" val="27882041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r>
              <a:rPr lang="en-GB" sz="1600" kern="0" dirty="0"/>
              <a:t>I hope you will agree that the evidence I have presented here backs up my conclusions stated at the start.</a:t>
            </a:r>
          </a:p>
          <a:p>
            <a:pPr marL="228600" indent="-228600">
              <a:buFont typeface="+mj-lt"/>
              <a:buAutoNum type="arabicPeriod"/>
            </a:pPr>
            <a:r>
              <a:rPr lang="en-GB" sz="1600" kern="0" dirty="0"/>
              <a:t>I have shown that:</a:t>
            </a:r>
          </a:p>
          <a:p>
            <a:pPr marL="228600" indent="-228600">
              <a:buFont typeface="+mj-lt"/>
              <a:buAutoNum type="arabicPeriod"/>
            </a:pPr>
            <a:r>
              <a:rPr lang="en-GB" sz="1600" dirty="0"/>
              <a:t>Constraints imposed by other cycle components force the turbine into a biased design space dominated by shroud loss</a:t>
            </a:r>
          </a:p>
          <a:p>
            <a:pPr marL="228600" indent="-228600">
              <a:buFont typeface="+mj-lt"/>
              <a:buAutoNum type="arabicPeriod"/>
            </a:pPr>
            <a:r>
              <a:rPr lang="en-GB" sz="1600" dirty="0"/>
              <a:t>Optimal performance is achieved through designs that reduce geometric tolerance driven loss sources</a:t>
            </a:r>
          </a:p>
          <a:p>
            <a:pPr marL="228600" indent="-228600">
              <a:buFont typeface="+mj-lt"/>
              <a:buAutoNum type="arabicPeriod"/>
            </a:pPr>
            <a:r>
              <a:rPr lang="en-GB" sz="1600" dirty="0"/>
              <a:t>Constraints also cause the machine to have shroud gap variations of up to 25% of span during thermal transients. This is particularly bad for performance due to the sensitivity on shroud leakage.</a:t>
            </a:r>
          </a:p>
          <a:p>
            <a:pPr marL="228600" indent="-228600">
              <a:buFont typeface="+mj-lt"/>
              <a:buAutoNum type="arabicPeriod"/>
            </a:pPr>
            <a:r>
              <a:rPr lang="en-GB" sz="1600" dirty="0"/>
              <a:t>Thank you for listening, any questions?</a:t>
            </a:r>
          </a:p>
          <a:p>
            <a:pPr marL="228600" indent="-228600">
              <a:buFont typeface="+mj-lt"/>
              <a:buAutoNum type="arabicPeriod"/>
            </a:pPr>
            <a:endParaRPr lang="en-GB"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29</a:t>
            </a:fld>
            <a:endParaRPr lang="en-GB"/>
          </a:p>
        </p:txBody>
      </p:sp>
    </p:spTree>
    <p:extLst>
      <p:ext uri="{BB962C8B-B14F-4D97-AF65-F5344CB8AC3E}">
        <p14:creationId xmlns:p14="http://schemas.microsoft.com/office/powerpoint/2010/main" val="35192780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600" dirty="0" err="1"/>
              <a:t>Cp</a:t>
            </a:r>
            <a:r>
              <a:rPr lang="en-US" sz="1600" dirty="0"/>
              <a:t> = 5187 R = 2067</a:t>
            </a:r>
          </a:p>
        </p:txBody>
      </p:sp>
      <p:sp>
        <p:nvSpPr>
          <p:cNvPr id="4" name="Slide Number Placeholder 3"/>
          <p:cNvSpPr>
            <a:spLocks noGrp="1"/>
          </p:cNvSpPr>
          <p:nvPr>
            <p:ph type="sldNum" sz="quarter" idx="5"/>
          </p:nvPr>
        </p:nvSpPr>
        <p:spPr/>
        <p:txBody>
          <a:bodyPr/>
          <a:lstStyle/>
          <a:p>
            <a:fld id="{666B739E-E4EB-8F42-9004-6DF6778B75E2}" type="slidenum">
              <a:rPr lang="en-GB" smtClean="0"/>
              <a:t>30</a:t>
            </a:fld>
            <a:endParaRPr lang="en-GB"/>
          </a:p>
        </p:txBody>
      </p:sp>
    </p:spTree>
    <p:extLst>
      <p:ext uri="{BB962C8B-B14F-4D97-AF65-F5344CB8AC3E}">
        <p14:creationId xmlns:p14="http://schemas.microsoft.com/office/powerpoint/2010/main" val="20202417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228600" indent="-228600">
              <a:buFont typeface="+mj-lt"/>
              <a:buAutoNum type="arabicPeriod"/>
            </a:pPr>
            <a:endParaRPr lang="en-GB" dirty="0"/>
          </a:p>
        </p:txBody>
      </p:sp>
      <p:sp>
        <p:nvSpPr>
          <p:cNvPr id="4" name="Slide Number Placeholder 3"/>
          <p:cNvSpPr>
            <a:spLocks noGrp="1"/>
          </p:cNvSpPr>
          <p:nvPr>
            <p:ph type="sldNum" sz="quarter" idx="5"/>
          </p:nvPr>
        </p:nvSpPr>
        <p:spPr/>
        <p:txBody>
          <a:bodyPr/>
          <a:lstStyle/>
          <a:p>
            <a:fld id="{666B739E-E4EB-8F42-9004-6DF6778B75E2}" type="slidenum">
              <a:rPr lang="en-GB" smtClean="0"/>
              <a:t>31</a:t>
            </a:fld>
            <a:endParaRPr lang="en-GB"/>
          </a:p>
        </p:txBody>
      </p:sp>
    </p:spTree>
    <p:extLst>
      <p:ext uri="{BB962C8B-B14F-4D97-AF65-F5344CB8AC3E}">
        <p14:creationId xmlns:p14="http://schemas.microsoft.com/office/powerpoint/2010/main" val="405144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32</a:t>
            </a:fld>
            <a:endParaRPr lang="en-GB"/>
          </a:p>
        </p:txBody>
      </p:sp>
    </p:spTree>
    <p:extLst>
      <p:ext uri="{BB962C8B-B14F-4D97-AF65-F5344CB8AC3E}">
        <p14:creationId xmlns:p14="http://schemas.microsoft.com/office/powerpoint/2010/main" val="1793882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33</a:t>
            </a:fld>
            <a:endParaRPr lang="en-GB"/>
          </a:p>
        </p:txBody>
      </p:sp>
    </p:spTree>
    <p:extLst>
      <p:ext uri="{BB962C8B-B14F-4D97-AF65-F5344CB8AC3E}">
        <p14:creationId xmlns:p14="http://schemas.microsoft.com/office/powerpoint/2010/main" val="890875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sz="1600" dirty="0"/>
          </a:p>
        </p:txBody>
      </p:sp>
      <p:sp>
        <p:nvSpPr>
          <p:cNvPr id="4" name="Slide Number Placeholder 3"/>
          <p:cNvSpPr>
            <a:spLocks noGrp="1"/>
          </p:cNvSpPr>
          <p:nvPr>
            <p:ph type="sldNum" sz="quarter" idx="5"/>
          </p:nvPr>
        </p:nvSpPr>
        <p:spPr/>
        <p:txBody>
          <a:bodyPr/>
          <a:lstStyle/>
          <a:p>
            <a:fld id="{666B739E-E4EB-8F42-9004-6DF6778B75E2}" type="slidenum">
              <a:rPr lang="en-GB" smtClean="0"/>
              <a:t>34</a:t>
            </a:fld>
            <a:endParaRPr lang="en-GB"/>
          </a:p>
        </p:txBody>
      </p:sp>
    </p:spTree>
    <p:extLst>
      <p:ext uri="{BB962C8B-B14F-4D97-AF65-F5344CB8AC3E}">
        <p14:creationId xmlns:p14="http://schemas.microsoft.com/office/powerpoint/2010/main" val="41684777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B739E-E4EB-8F42-9004-6DF6778B75E2}" type="slidenum">
              <a:rPr lang="en-GB" smtClean="0"/>
              <a:t>35</a:t>
            </a:fld>
            <a:endParaRPr lang="en-GB"/>
          </a:p>
        </p:txBody>
      </p:sp>
    </p:spTree>
    <p:extLst>
      <p:ext uri="{BB962C8B-B14F-4D97-AF65-F5344CB8AC3E}">
        <p14:creationId xmlns:p14="http://schemas.microsoft.com/office/powerpoint/2010/main" val="11131912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66B739E-E4EB-8F42-9004-6DF6778B75E2}" type="slidenum">
              <a:rPr lang="en-GB" smtClean="0"/>
              <a:t>37</a:t>
            </a:fld>
            <a:endParaRPr lang="en-GB"/>
          </a:p>
        </p:txBody>
      </p:sp>
    </p:spTree>
    <p:extLst>
      <p:ext uri="{BB962C8B-B14F-4D97-AF65-F5344CB8AC3E}">
        <p14:creationId xmlns:p14="http://schemas.microsoft.com/office/powerpoint/2010/main" val="35523611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Rectangle 13"/>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Rectangle 14"/>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 name="Rectangle 2"/>
          <p:cNvSpPr>
            <a:spLocks noGrp="1" noChangeArrowheads="1"/>
          </p:cNvSpPr>
          <p:nvPr>
            <p:ph type="ctrTitle"/>
          </p:nvPr>
        </p:nvSpPr>
        <p:spPr>
          <a:xfrm>
            <a:off x="384175" y="2016125"/>
            <a:ext cx="8374063" cy="576263"/>
          </a:xfrm>
        </p:spPr>
        <p:txBody>
          <a:bodyPr/>
          <a:lstStyle>
            <a:lvl1pPr>
              <a:defRPr sz="3200"/>
            </a:lvl1pPr>
          </a:lstStyle>
          <a:p>
            <a:pPr lvl="0"/>
            <a:r>
              <a:rPr lang="en-US" noProof="0" dirty="0"/>
              <a:t>Click to edit Master title style</a:t>
            </a:r>
            <a:endParaRPr lang="en-GB" noProof="0" dirty="0"/>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600" b="1">
                <a:solidFill>
                  <a:schemeClr val="tx2"/>
                </a:solidFill>
              </a:defRPr>
            </a:lvl1pPr>
          </a:lstStyle>
          <a:p>
            <a:pPr lvl="0"/>
            <a:r>
              <a:rPr lang="en-US" noProof="0"/>
              <a:t>Click to edit Master subtitle style</a:t>
            </a:r>
            <a:endParaRPr lang="en-GB" noProof="0"/>
          </a:p>
        </p:txBody>
      </p:sp>
      <p:sp>
        <p:nvSpPr>
          <p:cNvPr id="6" name="Rectangle 10"/>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3573810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000"/>
            </a:lvl1p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sldNum" sz="quarter" idx="10"/>
          </p:nvPr>
        </p:nvSpPr>
        <p:spPr>
          <a:ln/>
        </p:spPr>
        <p:txBody>
          <a:bodyPr/>
          <a:lstStyle>
            <a:lvl1pPr>
              <a:defRPr sz="1400">
                <a:solidFill>
                  <a:schemeClr val="tx1"/>
                </a:solidFill>
              </a:defRPr>
            </a:lvl1pPr>
          </a:lstStyle>
          <a:p>
            <a:fld id="{833E15E1-3D7B-C448-AFDD-FBFBB13B0145}" type="slidenum">
              <a:rPr lang="en-US" smtClean="0"/>
              <a:pPr/>
              <a:t>‹#›</a:t>
            </a:fld>
            <a:endParaRPr lang="en-US" dirty="0"/>
          </a:p>
        </p:txBody>
      </p:sp>
    </p:spTree>
    <p:extLst>
      <p:ext uri="{BB962C8B-B14F-4D97-AF65-F5344CB8AC3E}">
        <p14:creationId xmlns:p14="http://schemas.microsoft.com/office/powerpoint/2010/main" val="411683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2840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414711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236725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308081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solidFill>
                  <a:schemeClr val="tx1">
                    <a:lumMod val="50000"/>
                  </a:schemeClr>
                </a:solidFill>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1889515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129215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15823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1758513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1520145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4175" y="398463"/>
            <a:ext cx="8375650" cy="423862"/>
          </a:xfrm>
        </p:spPr>
        <p:txBody>
          <a:bodyPr/>
          <a:lstStyle/>
          <a:p>
            <a:r>
              <a:rPr lang="en-US"/>
              <a:t>Click to edit Master title style</a:t>
            </a:r>
            <a:endParaRPr lang="en-GB"/>
          </a:p>
        </p:txBody>
      </p:sp>
      <p:sp>
        <p:nvSpPr>
          <p:cNvPr id="3" name="Table Placeholder 2"/>
          <p:cNvSpPr>
            <a:spLocks noGrp="1"/>
          </p:cNvSpPr>
          <p:nvPr>
            <p:ph type="tbl" idx="1"/>
          </p:nvPr>
        </p:nvSpPr>
        <p:spPr>
          <a:xfrm>
            <a:off x="384175" y="1708150"/>
            <a:ext cx="8374063" cy="4067175"/>
          </a:xfrm>
        </p:spPr>
        <p:txBody>
          <a:bodyPr/>
          <a:lstStyle/>
          <a:p>
            <a:pPr lvl="0"/>
            <a:r>
              <a:rPr lang="en-US" noProof="0"/>
              <a:t>Click icon to add table</a:t>
            </a:r>
            <a:endParaRPr lang="en-GB" noProof="0"/>
          </a:p>
        </p:txBody>
      </p:sp>
      <p:sp>
        <p:nvSpPr>
          <p:cNvPr id="4" name="Rectangle 6"/>
          <p:cNvSpPr>
            <a:spLocks noGrp="1" noChangeArrowheads="1"/>
          </p:cNvSpPr>
          <p:nvPr>
            <p:ph type="sldNum" sz="quarter" idx="10"/>
          </p:nvPr>
        </p:nvSpPr>
        <p:spPr>
          <a:ln/>
        </p:spPr>
        <p:txBody>
          <a:bodyPr/>
          <a:lstStyle>
            <a:lvl1pPr>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289828078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6DA2A1-5169-4B9D-A4DF-D99CD463F8AF}"/>
              </a:ext>
            </a:extLst>
          </p:cNvPr>
          <p:cNvSpPr/>
          <p:nvPr/>
        </p:nvSpPr>
        <p:spPr bwMode="auto">
          <a:xfrm>
            <a:off x="0" y="6191250"/>
            <a:ext cx="9144000" cy="66675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sp>
        <p:nvSpPr>
          <p:cNvPr id="1026" name="Rectangle 2"/>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30" name="Rectangle 6"/>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833E15E1-3D7B-C448-AFDD-FBFBB13B0145}" type="slidenum">
              <a:rPr lang="en-US" smtClean="0"/>
              <a:t>‹#›</a:t>
            </a:fld>
            <a:endParaRPr lang="en-US"/>
          </a:p>
        </p:txBody>
      </p:sp>
    </p:spTree>
    <p:extLst>
      <p:ext uri="{BB962C8B-B14F-4D97-AF65-F5344CB8AC3E}">
        <p14:creationId xmlns:p14="http://schemas.microsoft.com/office/powerpoint/2010/main" val="1369587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rtl="0" eaLnBrk="1" fontAlgn="base" hangingPunct="1">
        <a:spcBef>
          <a:spcPct val="0"/>
        </a:spcBef>
        <a:spcAft>
          <a:spcPct val="0"/>
        </a:spcAft>
        <a:defRPr sz="26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defRPr>
      </a:lvl2pPr>
      <a:lvl3pPr algn="l" rtl="0" eaLnBrk="1" fontAlgn="base" hangingPunct="1">
        <a:spcBef>
          <a:spcPct val="0"/>
        </a:spcBef>
        <a:spcAft>
          <a:spcPct val="0"/>
        </a:spcAft>
        <a:defRPr sz="2600" b="1">
          <a:solidFill>
            <a:schemeClr val="tx2"/>
          </a:solidFill>
          <a:latin typeface="Arial" charset="0"/>
        </a:defRPr>
      </a:lvl3pPr>
      <a:lvl4pPr algn="l" rtl="0" eaLnBrk="1" fontAlgn="base" hangingPunct="1">
        <a:spcBef>
          <a:spcPct val="0"/>
        </a:spcBef>
        <a:spcAft>
          <a:spcPct val="0"/>
        </a:spcAft>
        <a:defRPr sz="2600" b="1">
          <a:solidFill>
            <a:schemeClr val="tx2"/>
          </a:solidFill>
          <a:latin typeface="Arial" charset="0"/>
        </a:defRPr>
      </a:lvl4pPr>
      <a:lvl5pPr algn="l" rtl="0" eaLnBrk="1" fontAlgn="base" hangingPunct="1">
        <a:spcBef>
          <a:spcPct val="0"/>
        </a:spcBef>
        <a:spcAft>
          <a:spcPct val="0"/>
        </a:spcAft>
        <a:defRPr sz="2600" b="1">
          <a:solidFill>
            <a:schemeClr val="tx2"/>
          </a:solidFill>
          <a:latin typeface="Arial" charset="0"/>
        </a:defRPr>
      </a:lvl5pPr>
      <a:lvl6pPr marL="457200" algn="l" rtl="0" eaLnBrk="1" fontAlgn="base" hangingPunct="1">
        <a:spcBef>
          <a:spcPct val="0"/>
        </a:spcBef>
        <a:spcAft>
          <a:spcPct val="0"/>
        </a:spcAft>
        <a:defRPr sz="2600" b="1">
          <a:solidFill>
            <a:schemeClr val="tx2"/>
          </a:solidFill>
          <a:latin typeface="Arial" charset="0"/>
        </a:defRPr>
      </a:lvl6pPr>
      <a:lvl7pPr marL="914400" algn="l" rtl="0" eaLnBrk="1" fontAlgn="base" hangingPunct="1">
        <a:spcBef>
          <a:spcPct val="0"/>
        </a:spcBef>
        <a:spcAft>
          <a:spcPct val="0"/>
        </a:spcAft>
        <a:defRPr sz="2600" b="1">
          <a:solidFill>
            <a:schemeClr val="tx2"/>
          </a:solidFill>
          <a:latin typeface="Arial" charset="0"/>
        </a:defRPr>
      </a:lvl7pPr>
      <a:lvl8pPr marL="1371600" algn="l" rtl="0" eaLnBrk="1" fontAlgn="base" hangingPunct="1">
        <a:spcBef>
          <a:spcPct val="0"/>
        </a:spcBef>
        <a:spcAft>
          <a:spcPct val="0"/>
        </a:spcAft>
        <a:defRPr sz="2600" b="1">
          <a:solidFill>
            <a:schemeClr val="tx2"/>
          </a:solidFill>
          <a:latin typeface="Arial" charset="0"/>
        </a:defRPr>
      </a:lvl8pPr>
      <a:lvl9pPr marL="1828800" algn="l" rtl="0" eaLnBrk="1" fontAlgn="base" hangingPunct="1">
        <a:spcBef>
          <a:spcPct val="0"/>
        </a:spcBef>
        <a:spcAft>
          <a:spcPct val="0"/>
        </a:spcAft>
        <a:defRPr sz="2600" b="1">
          <a:solidFill>
            <a:schemeClr val="tx2"/>
          </a:solidFill>
          <a:latin typeface="Arial" charset="0"/>
        </a:defRPr>
      </a:lvl9pPr>
    </p:titleStyle>
    <p:body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tiff"/><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0.emf"/><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0.emf"/><Relationship Id="rId5" Type="http://schemas.openxmlformats.org/officeDocument/2006/relationships/image" Target="../media/image11.emf"/><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3.emf"/><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0.emf"/><Relationship Id="rId5" Type="http://schemas.openxmlformats.org/officeDocument/2006/relationships/image" Target="../media/image11.emf"/><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emf"/></Relationships>
</file>

<file path=ppt/slides/_rels/slide19.xml.rels><?xml version="1.0" encoding="UTF-8" standalone="yes"?>
<Relationships xmlns="http://schemas.openxmlformats.org/package/2006/relationships"><Relationship Id="rId3" Type="http://schemas.openxmlformats.org/officeDocument/2006/relationships/image" Target="../media/image25.emf"/><Relationship Id="rId7" Type="http://schemas.openxmlformats.org/officeDocument/2006/relationships/image" Target="../media/image23.e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2.emf"/><Relationship Id="rId4" Type="http://schemas.openxmlformats.org/officeDocument/2006/relationships/image" Target="../media/image26.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2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0.png"/><Relationship Id="rId7"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25.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64AB-394C-9A4C-BA0D-1718229CB4A6}"/>
              </a:ext>
            </a:extLst>
          </p:cNvPr>
          <p:cNvSpPr>
            <a:spLocks noGrp="1"/>
          </p:cNvSpPr>
          <p:nvPr>
            <p:ph type="ctrTitle"/>
          </p:nvPr>
        </p:nvSpPr>
        <p:spPr/>
        <p:txBody>
          <a:bodyPr>
            <a:noAutofit/>
          </a:bodyPr>
          <a:lstStyle/>
          <a:p>
            <a:r>
              <a:rPr lang="en-US" sz="3200" dirty="0"/>
              <a:t>Aerodynamic Design of Helium Turbines for Rocket Engines</a:t>
            </a:r>
          </a:p>
        </p:txBody>
      </p:sp>
      <p:sp>
        <p:nvSpPr>
          <p:cNvPr id="6" name="Rectangle 4">
            <a:extLst>
              <a:ext uri="{FF2B5EF4-FFF2-40B4-BE49-F238E27FC236}">
                <a16:creationId xmlns:a16="http://schemas.microsoft.com/office/drawing/2014/main" id="{5B104ACB-1ED0-D44B-B79E-4A7C7C0AC046}"/>
              </a:ext>
            </a:extLst>
          </p:cNvPr>
          <p:cNvSpPr>
            <a:spLocks noChangeArrowheads="1"/>
          </p:cNvSpPr>
          <p:nvPr/>
        </p:nvSpPr>
        <p:spPr bwMode="auto">
          <a:xfrm>
            <a:off x="384175" y="5548313"/>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l"/>
            <a:r>
              <a:rPr lang="en-GB" b="1" dirty="0">
                <a:solidFill>
                  <a:schemeClr val="tx2"/>
                </a:solidFill>
              </a:rPr>
              <a:t>Easter Presentation</a:t>
            </a:r>
          </a:p>
        </p:txBody>
      </p:sp>
      <p:sp>
        <p:nvSpPr>
          <p:cNvPr id="7" name="Rectangle 3">
            <a:extLst>
              <a:ext uri="{FF2B5EF4-FFF2-40B4-BE49-F238E27FC236}">
                <a16:creationId xmlns:a16="http://schemas.microsoft.com/office/drawing/2014/main" id="{2E578CDF-2B49-904F-86C2-7770BAA4C589}"/>
              </a:ext>
            </a:extLst>
          </p:cNvPr>
          <p:cNvSpPr txBox="1">
            <a:spLocks noChangeArrowheads="1"/>
          </p:cNvSpPr>
          <p:nvPr/>
        </p:nvSpPr>
        <p:spPr bwMode="auto">
          <a:xfrm>
            <a:off x="384174" y="3540123"/>
            <a:ext cx="8374063" cy="725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ct val="75000"/>
              </a:spcAft>
              <a:buFontTx/>
              <a:buNone/>
              <a:defRPr sz="1350" b="1">
                <a:solidFill>
                  <a:schemeClr val="tx2"/>
                </a:solidFill>
                <a:latin typeface="+mn-lt"/>
                <a:ea typeface="+mn-ea"/>
                <a:cs typeface="ＭＳ Ｐゴシック" charset="0"/>
              </a:defRPr>
            </a:lvl1pPr>
            <a:lvl2pPr marL="403622" indent="-200025" algn="l" rtl="0" eaLnBrk="1" fontAlgn="base" hangingPunct="1">
              <a:spcBef>
                <a:spcPct val="0"/>
              </a:spcBef>
              <a:spcAft>
                <a:spcPct val="75000"/>
              </a:spcAft>
              <a:buChar char="•"/>
              <a:defRPr sz="1500">
                <a:solidFill>
                  <a:schemeClr val="tx1"/>
                </a:solidFill>
                <a:latin typeface="+mn-lt"/>
                <a:ea typeface="+mn-ea"/>
              </a:defRPr>
            </a:lvl2pPr>
            <a:lvl3pPr marL="607219" indent="-202406" algn="l" rtl="0" eaLnBrk="1" fontAlgn="base" hangingPunct="1">
              <a:spcBef>
                <a:spcPct val="0"/>
              </a:spcBef>
              <a:spcAft>
                <a:spcPct val="75000"/>
              </a:spcAft>
              <a:buChar char="•"/>
              <a:defRPr sz="1500">
                <a:solidFill>
                  <a:schemeClr val="tx1"/>
                </a:solidFill>
                <a:latin typeface="+mn-lt"/>
                <a:ea typeface="+mn-ea"/>
              </a:defRPr>
            </a:lvl3pPr>
            <a:lvl4pPr marL="809625" indent="-201216" algn="l" rtl="0" eaLnBrk="1" fontAlgn="base" hangingPunct="1">
              <a:spcBef>
                <a:spcPct val="0"/>
              </a:spcBef>
              <a:spcAft>
                <a:spcPct val="75000"/>
              </a:spcAft>
              <a:buChar char="•"/>
              <a:defRPr sz="1500">
                <a:solidFill>
                  <a:schemeClr val="tx1"/>
                </a:solidFill>
                <a:latin typeface="+mn-lt"/>
                <a:ea typeface="+mn-ea"/>
              </a:defRPr>
            </a:lvl4pPr>
            <a:lvl5pPr marL="1013222" indent="-202406" algn="l" rtl="0" eaLnBrk="1" fontAlgn="base" hangingPunct="1">
              <a:spcBef>
                <a:spcPct val="0"/>
              </a:spcBef>
              <a:spcAft>
                <a:spcPct val="75000"/>
              </a:spcAft>
              <a:buChar char="•"/>
              <a:defRPr sz="1500">
                <a:solidFill>
                  <a:schemeClr val="tx1"/>
                </a:solidFill>
                <a:latin typeface="+mn-lt"/>
                <a:ea typeface="+mn-ea"/>
              </a:defRPr>
            </a:lvl5pPr>
            <a:lvl6pPr marL="1356122" indent="-202406" algn="l" rtl="0" eaLnBrk="1" fontAlgn="base" hangingPunct="1">
              <a:spcBef>
                <a:spcPct val="0"/>
              </a:spcBef>
              <a:spcAft>
                <a:spcPct val="75000"/>
              </a:spcAft>
              <a:buChar char="•"/>
              <a:defRPr sz="1500">
                <a:solidFill>
                  <a:schemeClr val="tx1"/>
                </a:solidFill>
                <a:latin typeface="+mn-lt"/>
                <a:ea typeface="+mn-ea"/>
              </a:defRPr>
            </a:lvl6pPr>
            <a:lvl7pPr marL="1699022" indent="-202406" algn="l" rtl="0" eaLnBrk="1" fontAlgn="base" hangingPunct="1">
              <a:spcBef>
                <a:spcPct val="0"/>
              </a:spcBef>
              <a:spcAft>
                <a:spcPct val="75000"/>
              </a:spcAft>
              <a:buChar char="•"/>
              <a:defRPr sz="1500">
                <a:solidFill>
                  <a:schemeClr val="tx1"/>
                </a:solidFill>
                <a:latin typeface="+mn-lt"/>
                <a:ea typeface="+mn-ea"/>
              </a:defRPr>
            </a:lvl7pPr>
            <a:lvl8pPr marL="2041922" indent="-202406" algn="l" rtl="0" eaLnBrk="1" fontAlgn="base" hangingPunct="1">
              <a:spcBef>
                <a:spcPct val="0"/>
              </a:spcBef>
              <a:spcAft>
                <a:spcPct val="75000"/>
              </a:spcAft>
              <a:buChar char="•"/>
              <a:defRPr sz="1500">
                <a:solidFill>
                  <a:schemeClr val="tx1"/>
                </a:solidFill>
                <a:latin typeface="+mn-lt"/>
                <a:ea typeface="+mn-ea"/>
              </a:defRPr>
            </a:lvl8pPr>
            <a:lvl9pPr marL="2384822" indent="-202406" algn="l" rtl="0" eaLnBrk="1" fontAlgn="base" hangingPunct="1">
              <a:spcBef>
                <a:spcPct val="0"/>
              </a:spcBef>
              <a:spcAft>
                <a:spcPct val="75000"/>
              </a:spcAft>
              <a:buChar char="•"/>
              <a:defRPr sz="1500">
                <a:solidFill>
                  <a:schemeClr val="tx1"/>
                </a:solidFill>
                <a:latin typeface="+mn-lt"/>
                <a:ea typeface="+mn-ea"/>
              </a:defRPr>
            </a:lvl9pPr>
          </a:lstStyle>
          <a:p>
            <a:pPr>
              <a:lnSpc>
                <a:spcPct val="80000"/>
              </a:lnSpc>
            </a:pPr>
            <a:r>
              <a:rPr lang="en-GB" sz="1600" kern="0" dirty="0"/>
              <a:t>Will Davis</a:t>
            </a:r>
          </a:p>
          <a:p>
            <a:pPr>
              <a:lnSpc>
                <a:spcPct val="80000"/>
              </a:lnSpc>
            </a:pPr>
            <a:r>
              <a:rPr lang="en-GB" sz="1600" kern="0" dirty="0"/>
              <a:t>Supervised by Chris Clark</a:t>
            </a:r>
          </a:p>
          <a:p>
            <a:pPr>
              <a:lnSpc>
                <a:spcPct val="80000"/>
              </a:lnSpc>
            </a:pPr>
            <a:r>
              <a:rPr lang="en-GB" sz="1600" kern="0" dirty="0"/>
              <a:t>		</a:t>
            </a:r>
          </a:p>
          <a:p>
            <a:pPr>
              <a:lnSpc>
                <a:spcPct val="80000"/>
              </a:lnSpc>
            </a:pPr>
            <a:endParaRPr lang="en-GB" sz="1600" kern="0" dirty="0"/>
          </a:p>
          <a:p>
            <a:pPr>
              <a:lnSpc>
                <a:spcPct val="80000"/>
              </a:lnSpc>
            </a:pPr>
            <a:r>
              <a:rPr lang="en-GB" sz="1600" kern="0" dirty="0"/>
              <a:t>29</a:t>
            </a:r>
            <a:r>
              <a:rPr lang="en-GB" sz="1600" kern="0" baseline="30000" dirty="0"/>
              <a:t>th</a:t>
            </a:r>
            <a:r>
              <a:rPr lang="en-GB" sz="1600" kern="0" dirty="0"/>
              <a:t> May 2020</a:t>
            </a:r>
          </a:p>
        </p:txBody>
      </p:sp>
    </p:spTree>
    <p:extLst>
      <p:ext uri="{BB962C8B-B14F-4D97-AF65-F5344CB8AC3E}">
        <p14:creationId xmlns:p14="http://schemas.microsoft.com/office/powerpoint/2010/main" val="830482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8CF1-ACA8-5D40-A84C-06A067B4ABDA}"/>
              </a:ext>
            </a:extLst>
          </p:cNvPr>
          <p:cNvSpPr>
            <a:spLocks noGrp="1"/>
          </p:cNvSpPr>
          <p:nvPr>
            <p:ph type="title"/>
          </p:nvPr>
        </p:nvSpPr>
        <p:spPr>
          <a:xfrm>
            <a:off x="384175" y="398463"/>
            <a:ext cx="8375650" cy="423862"/>
          </a:xfrm>
        </p:spPr>
        <p:txBody>
          <a:bodyPr/>
          <a:lstStyle/>
          <a:p>
            <a:r>
              <a:rPr lang="en-GB" dirty="0"/>
              <a:t>Reaction Engines and SABRE</a:t>
            </a:r>
          </a:p>
        </p:txBody>
      </p:sp>
      <p:sp>
        <p:nvSpPr>
          <p:cNvPr id="3" name="Content Placeholder 2">
            <a:extLst>
              <a:ext uri="{FF2B5EF4-FFF2-40B4-BE49-F238E27FC236}">
                <a16:creationId xmlns:a16="http://schemas.microsoft.com/office/drawing/2014/main" id="{659FE13B-2144-844D-91A8-447618ADB4C0}"/>
              </a:ext>
            </a:extLst>
          </p:cNvPr>
          <p:cNvSpPr>
            <a:spLocks noGrp="1"/>
          </p:cNvSpPr>
          <p:nvPr>
            <p:ph idx="1"/>
          </p:nvPr>
        </p:nvSpPr>
        <p:spPr>
          <a:xfrm>
            <a:off x="218180" y="1603374"/>
            <a:ext cx="4353820" cy="4067175"/>
          </a:xfrm>
        </p:spPr>
        <p:txBody>
          <a:bodyPr/>
          <a:lstStyle/>
          <a:p>
            <a:r>
              <a:rPr lang="en-GB" dirty="0"/>
              <a:t>Synergetic Air Breathing Rocket Engine (SABRE) in development for single-stage-to-orbit and hypersonic transport vehicles</a:t>
            </a:r>
          </a:p>
          <a:p>
            <a:r>
              <a:rPr lang="en-GB" dirty="0"/>
              <a:t>Capable of Mach 5.4 in air breathing mode</a:t>
            </a:r>
          </a:p>
          <a:p>
            <a:r>
              <a:rPr lang="en-GB" dirty="0"/>
              <a:t>Developed around key </a:t>
            </a:r>
            <a:r>
              <a:rPr lang="en-GB" dirty="0" err="1"/>
              <a:t>precooler</a:t>
            </a:r>
            <a:r>
              <a:rPr lang="en-GB" dirty="0"/>
              <a:t> technology</a:t>
            </a:r>
          </a:p>
        </p:txBody>
      </p:sp>
      <p:sp>
        <p:nvSpPr>
          <p:cNvPr id="4" name="Slide Number Placeholder 3">
            <a:extLst>
              <a:ext uri="{FF2B5EF4-FFF2-40B4-BE49-F238E27FC236}">
                <a16:creationId xmlns:a16="http://schemas.microsoft.com/office/drawing/2014/main" id="{EBE688D4-BB7A-044F-83A7-28665952E6A5}"/>
              </a:ext>
            </a:extLst>
          </p:cNvPr>
          <p:cNvSpPr>
            <a:spLocks noGrp="1"/>
          </p:cNvSpPr>
          <p:nvPr>
            <p:ph type="sldNum" sz="quarter" idx="10"/>
          </p:nvPr>
        </p:nvSpPr>
        <p:spPr/>
        <p:txBody>
          <a:bodyPr/>
          <a:lstStyle/>
          <a:p>
            <a:fld id="{833E15E1-3D7B-C448-AFDD-FBFBB13B0145}" type="slidenum">
              <a:rPr lang="en-US" smtClean="0"/>
              <a:pPr/>
              <a:t>2</a:t>
            </a:fld>
            <a:endParaRPr lang="en-US"/>
          </a:p>
        </p:txBody>
      </p:sp>
      <p:pic>
        <p:nvPicPr>
          <p:cNvPr id="6" name="Picture 5">
            <a:extLst>
              <a:ext uri="{FF2B5EF4-FFF2-40B4-BE49-F238E27FC236}">
                <a16:creationId xmlns:a16="http://schemas.microsoft.com/office/drawing/2014/main" id="{8DB1730D-0750-4641-A05D-7B4C4D687BBE}"/>
              </a:ext>
            </a:extLst>
          </p:cNvPr>
          <p:cNvPicPr>
            <a:picLocks noChangeAspect="1"/>
          </p:cNvPicPr>
          <p:nvPr/>
        </p:nvPicPr>
        <p:blipFill>
          <a:blip r:embed="rId3"/>
          <a:stretch>
            <a:fillRect/>
          </a:stretch>
        </p:blipFill>
        <p:spPr>
          <a:xfrm>
            <a:off x="4786878" y="1450090"/>
            <a:ext cx="4143149" cy="2344374"/>
          </a:xfrm>
          <a:prstGeom prst="rect">
            <a:avLst/>
          </a:prstGeom>
        </p:spPr>
      </p:pic>
      <p:pic>
        <p:nvPicPr>
          <p:cNvPr id="10" name="Picture 9">
            <a:extLst>
              <a:ext uri="{FF2B5EF4-FFF2-40B4-BE49-F238E27FC236}">
                <a16:creationId xmlns:a16="http://schemas.microsoft.com/office/drawing/2014/main" id="{097586D3-F2C9-8D49-8F2B-AC89DCDEDEF7}"/>
              </a:ext>
            </a:extLst>
          </p:cNvPr>
          <p:cNvPicPr>
            <a:picLocks noChangeAspect="1"/>
          </p:cNvPicPr>
          <p:nvPr/>
        </p:nvPicPr>
        <p:blipFill rotWithShape="1">
          <a:blip r:embed="rId4"/>
          <a:srcRect l="10015" r="10015" b="34815"/>
          <a:stretch/>
        </p:blipFill>
        <p:spPr>
          <a:xfrm>
            <a:off x="5764107" y="4116310"/>
            <a:ext cx="2188689" cy="2335290"/>
          </a:xfrm>
          <a:prstGeom prst="rect">
            <a:avLst/>
          </a:prstGeom>
        </p:spPr>
      </p:pic>
      <p:pic>
        <p:nvPicPr>
          <p:cNvPr id="5" name="Picture 4">
            <a:extLst>
              <a:ext uri="{FF2B5EF4-FFF2-40B4-BE49-F238E27FC236}">
                <a16:creationId xmlns:a16="http://schemas.microsoft.com/office/drawing/2014/main" id="{C485152B-2837-574C-8EFA-66E1C4D75CD3}"/>
              </a:ext>
            </a:extLst>
          </p:cNvPr>
          <p:cNvPicPr>
            <a:picLocks noChangeAspect="1"/>
          </p:cNvPicPr>
          <p:nvPr/>
        </p:nvPicPr>
        <p:blipFill>
          <a:blip r:embed="rId5"/>
          <a:stretch>
            <a:fillRect/>
          </a:stretch>
        </p:blipFill>
        <p:spPr>
          <a:xfrm>
            <a:off x="218180" y="4182099"/>
            <a:ext cx="4872942" cy="2448889"/>
          </a:xfrm>
          <a:prstGeom prst="rect">
            <a:avLst/>
          </a:prstGeom>
        </p:spPr>
      </p:pic>
    </p:spTree>
    <p:extLst>
      <p:ext uri="{BB962C8B-B14F-4D97-AF65-F5344CB8AC3E}">
        <p14:creationId xmlns:p14="http://schemas.microsoft.com/office/powerpoint/2010/main" val="2946033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38CD46-629E-B141-A1EE-3F5C5913EDCF}"/>
              </a:ext>
            </a:extLst>
          </p:cNvPr>
          <p:cNvPicPr>
            <a:picLocks noChangeAspect="1"/>
          </p:cNvPicPr>
          <p:nvPr/>
        </p:nvPicPr>
        <p:blipFill>
          <a:blip r:embed="rId4"/>
          <a:stretch>
            <a:fillRect/>
          </a:stretch>
        </p:blipFill>
        <p:spPr>
          <a:xfrm>
            <a:off x="118750" y="1595010"/>
            <a:ext cx="8806457" cy="4699742"/>
          </a:xfrm>
          <a:prstGeom prst="rect">
            <a:avLst/>
          </a:prstGeom>
        </p:spPr>
      </p:pic>
      <p:sp>
        <p:nvSpPr>
          <p:cNvPr id="2" name="Title 1">
            <a:extLst>
              <a:ext uri="{FF2B5EF4-FFF2-40B4-BE49-F238E27FC236}">
                <a16:creationId xmlns:a16="http://schemas.microsoft.com/office/drawing/2014/main" id="{CAC3BA34-1287-AC44-90E1-49BE6EB40322}"/>
              </a:ext>
            </a:extLst>
          </p:cNvPr>
          <p:cNvSpPr>
            <a:spLocks noGrp="1"/>
          </p:cNvSpPr>
          <p:nvPr>
            <p:ph type="title"/>
          </p:nvPr>
        </p:nvSpPr>
        <p:spPr>
          <a:xfrm>
            <a:off x="384175" y="398463"/>
            <a:ext cx="8375650" cy="423862"/>
          </a:xfrm>
        </p:spPr>
        <p:txBody>
          <a:bodyPr/>
          <a:lstStyle/>
          <a:p>
            <a:r>
              <a:rPr lang="en-GB" dirty="0"/>
              <a:t>Core cycle imposes RPM and Q constraint on design</a:t>
            </a:r>
          </a:p>
        </p:txBody>
      </p:sp>
      <p:sp>
        <p:nvSpPr>
          <p:cNvPr id="4" name="Slide Number Placeholder 3">
            <a:extLst>
              <a:ext uri="{FF2B5EF4-FFF2-40B4-BE49-F238E27FC236}">
                <a16:creationId xmlns:a16="http://schemas.microsoft.com/office/drawing/2014/main" id="{4661EFBD-4ED0-814F-AD3E-8C1619D26A91}"/>
              </a:ext>
            </a:extLst>
          </p:cNvPr>
          <p:cNvSpPr>
            <a:spLocks noGrp="1"/>
          </p:cNvSpPr>
          <p:nvPr>
            <p:ph type="sldNum" sz="quarter" idx="10"/>
          </p:nvPr>
        </p:nvSpPr>
        <p:spPr/>
        <p:txBody>
          <a:bodyPr/>
          <a:lstStyle/>
          <a:p>
            <a:fld id="{833E15E1-3D7B-C448-AFDD-FBFBB13B0145}" type="slidenum">
              <a:rPr lang="en-US" smtClean="0"/>
              <a:pPr/>
              <a:t>3</a:t>
            </a:fld>
            <a:endParaRPr lang="en-US"/>
          </a:p>
        </p:txBody>
      </p:sp>
      <p:sp>
        <p:nvSpPr>
          <p:cNvPr id="3" name="Frame 2">
            <a:extLst>
              <a:ext uri="{FF2B5EF4-FFF2-40B4-BE49-F238E27FC236}">
                <a16:creationId xmlns:a16="http://schemas.microsoft.com/office/drawing/2014/main" id="{1677305C-2A49-9F47-95D3-4ADF9833C45F}"/>
              </a:ext>
            </a:extLst>
          </p:cNvPr>
          <p:cNvSpPr/>
          <p:nvPr/>
        </p:nvSpPr>
        <p:spPr bwMode="auto">
          <a:xfrm>
            <a:off x="4120965" y="1484014"/>
            <a:ext cx="2339438" cy="1260000"/>
          </a:xfrm>
          <a:prstGeom prst="frame">
            <a:avLst>
              <a:gd name="adj1" fmla="val 5443"/>
            </a:avLst>
          </a:prstGeom>
          <a:solidFill>
            <a:srgbClr val="FF0000"/>
          </a:solidFill>
          <a:ln w="9525"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endParaRPr>
          </a:p>
        </p:txBody>
      </p:sp>
      <p:sp>
        <p:nvSpPr>
          <p:cNvPr id="6" name="Frame 5">
            <a:extLst>
              <a:ext uri="{FF2B5EF4-FFF2-40B4-BE49-F238E27FC236}">
                <a16:creationId xmlns:a16="http://schemas.microsoft.com/office/drawing/2014/main" id="{731F0935-96CE-C14F-A455-B93A241BD337}"/>
              </a:ext>
            </a:extLst>
          </p:cNvPr>
          <p:cNvSpPr/>
          <p:nvPr/>
        </p:nvSpPr>
        <p:spPr bwMode="auto">
          <a:xfrm>
            <a:off x="2090670" y="1913464"/>
            <a:ext cx="1362749" cy="816255"/>
          </a:xfrm>
          <a:prstGeom prst="frame">
            <a:avLst>
              <a:gd name="adj1" fmla="val 8092"/>
            </a:avLst>
          </a:prstGeom>
          <a:solidFill>
            <a:srgbClr val="FF0000"/>
          </a:solidFill>
          <a:ln w="9525"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endParaRPr>
          </a:p>
        </p:txBody>
      </p:sp>
      <p:cxnSp>
        <p:nvCxnSpPr>
          <p:cNvPr id="7" name="Straight Arrow Connector 6">
            <a:extLst>
              <a:ext uri="{FF2B5EF4-FFF2-40B4-BE49-F238E27FC236}">
                <a16:creationId xmlns:a16="http://schemas.microsoft.com/office/drawing/2014/main" id="{ECDFA10A-E499-AD4A-AEAA-8C5F92F46649}"/>
              </a:ext>
            </a:extLst>
          </p:cNvPr>
          <p:cNvCxnSpPr>
            <a:cxnSpLocks/>
          </p:cNvCxnSpPr>
          <p:nvPr/>
        </p:nvCxnSpPr>
        <p:spPr bwMode="auto">
          <a:xfrm flipH="1">
            <a:off x="5737875" y="1781470"/>
            <a:ext cx="1044789" cy="332544"/>
          </a:xfrm>
          <a:prstGeom prst="straightConnector1">
            <a:avLst/>
          </a:prstGeom>
          <a:solidFill>
            <a:schemeClr val="accent1"/>
          </a:solidFill>
          <a:ln w="28575" cap="flat" cmpd="sng" algn="ctr">
            <a:solidFill>
              <a:srgbClr val="003E73"/>
            </a:solidFill>
            <a:prstDash val="solid"/>
            <a:round/>
            <a:headEnd type="none" w="med" len="med"/>
            <a:tailEnd type="triangle"/>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2" name="Content Placeholder 2">
            <a:extLst>
              <a:ext uri="{FF2B5EF4-FFF2-40B4-BE49-F238E27FC236}">
                <a16:creationId xmlns:a16="http://schemas.microsoft.com/office/drawing/2014/main" id="{C7F484CB-E6B6-BF4D-B7CE-033A1DAB88B4}"/>
              </a:ext>
            </a:extLst>
          </p:cNvPr>
          <p:cNvSpPr txBox="1">
            <a:spLocks/>
          </p:cNvSpPr>
          <p:nvPr/>
        </p:nvSpPr>
        <p:spPr bwMode="auto">
          <a:xfrm>
            <a:off x="2026154" y="1543389"/>
            <a:ext cx="1658037" cy="476162"/>
          </a:xfrm>
          <a:prstGeom prst="rect">
            <a:avLst/>
          </a:prstGeom>
          <a:noFill/>
          <a:ln>
            <a:noFill/>
          </a:ln>
          <a:effectLst/>
          <a:extLst>
            <a:ext uri="{909E8E84-426E-40dd-AFC4-6F175D3DCCD1}">
              <a14:hiddenFill xmlns="" xmlns:a14="http://schemas.microsoft.com/office/drawing/2010/main" xmlns:mc="http://schemas.openxmlformats.org/markup-compatibility/2006">
                <a:solidFill>
                  <a:schemeClr val="accent1"/>
                </a:solidFill>
              </a14:hiddenFill>
            </a:ext>
            <a:ext uri="{91240B29-F687-4f45-9708-019B960494DF}">
              <a14:hiddenLine xmlns="" xmlns:a14="http://schemas.microsoft.com/office/drawing/2010/main" xmlns:mc="http://schemas.openxmlformats.org/markup-compatibility/2006" w="9525">
                <a:solidFill>
                  <a:schemeClr val="tx1"/>
                </a:solidFill>
                <a:miter lim="800000"/>
                <a:headEnd/>
                <a:tailEnd/>
              </a14:hiddenLine>
            </a:ext>
            <a:ext uri="{AF507438-7753-43e0-B8FC-AC1667EBCBE1}">
              <a14:hiddenEffects xmlns="" xmlns:a14="http://schemas.microsoft.com/office/drawing/2010/main" xmlns:mc="http://schemas.openxmlformats.org/markup-compatibility/2006">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0" tIns="0" rIns="0" bIns="0" numCol="1" anchor="t" anchorCtr="0" compatLnSpc="1">
            <a:prstTxWarp prst="textNoShape">
              <a:avLst/>
            </a:prstTxWarp>
          </a:bodyPr>
          <a:lstStyle>
            <a:lvl1pPr marL="202406" indent="-202406" algn="l" rtl="0" eaLnBrk="1" fontAlgn="base" hangingPunct="1">
              <a:spcBef>
                <a:spcPct val="0"/>
              </a:spcBef>
              <a:spcAft>
                <a:spcPct val="75000"/>
              </a:spcAft>
              <a:buChar char="•"/>
              <a:defRPr sz="1800">
                <a:solidFill>
                  <a:schemeClr val="tx1"/>
                </a:solidFill>
                <a:latin typeface="+mn-lt"/>
                <a:ea typeface="+mn-ea"/>
                <a:cs typeface="ＭＳ Ｐゴシック" charset="0"/>
              </a:defRPr>
            </a:lvl1pPr>
            <a:lvl2pPr marL="403622" indent="-200025" algn="l" rtl="0" eaLnBrk="1" fontAlgn="base" hangingPunct="1">
              <a:spcBef>
                <a:spcPct val="0"/>
              </a:spcBef>
              <a:spcAft>
                <a:spcPct val="75000"/>
              </a:spcAft>
              <a:buChar char="•"/>
              <a:defRPr sz="1800">
                <a:solidFill>
                  <a:schemeClr val="tx1"/>
                </a:solidFill>
                <a:latin typeface="+mn-lt"/>
                <a:ea typeface="+mn-ea"/>
              </a:defRPr>
            </a:lvl2pPr>
            <a:lvl3pPr marL="607219" indent="-202406" algn="l" rtl="0" eaLnBrk="1" fontAlgn="base" hangingPunct="1">
              <a:spcBef>
                <a:spcPct val="0"/>
              </a:spcBef>
              <a:spcAft>
                <a:spcPct val="75000"/>
              </a:spcAft>
              <a:buChar char="•"/>
              <a:defRPr sz="1800">
                <a:solidFill>
                  <a:schemeClr val="tx1"/>
                </a:solidFill>
                <a:latin typeface="+mn-lt"/>
                <a:ea typeface="+mn-ea"/>
              </a:defRPr>
            </a:lvl3pPr>
            <a:lvl4pPr marL="809625" indent="-201216" algn="l" rtl="0" eaLnBrk="1" fontAlgn="base" hangingPunct="1">
              <a:spcBef>
                <a:spcPct val="0"/>
              </a:spcBef>
              <a:spcAft>
                <a:spcPct val="75000"/>
              </a:spcAft>
              <a:buChar char="•"/>
              <a:defRPr sz="1800">
                <a:solidFill>
                  <a:schemeClr val="tx1"/>
                </a:solidFill>
                <a:latin typeface="+mn-lt"/>
                <a:ea typeface="+mn-ea"/>
              </a:defRPr>
            </a:lvl4pPr>
            <a:lvl5pPr marL="1013222" indent="-202406" algn="l" rtl="0" eaLnBrk="1" fontAlgn="base" hangingPunct="1">
              <a:spcBef>
                <a:spcPct val="0"/>
              </a:spcBef>
              <a:spcAft>
                <a:spcPct val="75000"/>
              </a:spcAft>
              <a:buChar char="•"/>
              <a:defRPr sz="1800">
                <a:solidFill>
                  <a:schemeClr val="tx1"/>
                </a:solidFill>
                <a:latin typeface="+mn-lt"/>
                <a:ea typeface="+mn-ea"/>
              </a:defRPr>
            </a:lvl5pPr>
            <a:lvl6pPr marL="1356122" indent="-202406" algn="l" rtl="0" eaLnBrk="1" fontAlgn="base" hangingPunct="1">
              <a:spcBef>
                <a:spcPct val="0"/>
              </a:spcBef>
              <a:spcAft>
                <a:spcPct val="75000"/>
              </a:spcAft>
              <a:buChar char="•"/>
              <a:defRPr sz="1500">
                <a:solidFill>
                  <a:schemeClr val="tx1"/>
                </a:solidFill>
                <a:latin typeface="+mn-lt"/>
                <a:ea typeface="+mn-ea"/>
              </a:defRPr>
            </a:lvl6pPr>
            <a:lvl7pPr marL="1699022" indent="-202406" algn="l" rtl="0" eaLnBrk="1" fontAlgn="base" hangingPunct="1">
              <a:spcBef>
                <a:spcPct val="0"/>
              </a:spcBef>
              <a:spcAft>
                <a:spcPct val="75000"/>
              </a:spcAft>
              <a:buChar char="•"/>
              <a:defRPr sz="1500">
                <a:solidFill>
                  <a:schemeClr val="tx1"/>
                </a:solidFill>
                <a:latin typeface="+mn-lt"/>
                <a:ea typeface="+mn-ea"/>
              </a:defRPr>
            </a:lvl7pPr>
            <a:lvl8pPr marL="2041922" indent="-202406" algn="l" rtl="0" eaLnBrk="1" fontAlgn="base" hangingPunct="1">
              <a:spcBef>
                <a:spcPct val="0"/>
              </a:spcBef>
              <a:spcAft>
                <a:spcPct val="75000"/>
              </a:spcAft>
              <a:buChar char="•"/>
              <a:defRPr sz="1500">
                <a:solidFill>
                  <a:schemeClr val="tx1"/>
                </a:solidFill>
                <a:latin typeface="+mn-lt"/>
                <a:ea typeface="+mn-ea"/>
              </a:defRPr>
            </a:lvl8pPr>
            <a:lvl9pPr marL="2384822" indent="-202406" algn="l" rtl="0" eaLnBrk="1" fontAlgn="base" hangingPunct="1">
              <a:spcBef>
                <a:spcPct val="0"/>
              </a:spcBef>
              <a:spcAft>
                <a:spcPct val="75000"/>
              </a:spcAft>
              <a:buChar char="•"/>
              <a:defRPr sz="1500">
                <a:solidFill>
                  <a:schemeClr val="tx1"/>
                </a:solidFill>
                <a:latin typeface="+mn-lt"/>
                <a:ea typeface="+mn-ea"/>
              </a:defRPr>
            </a:lvl9pPr>
          </a:lstStyle>
          <a:p>
            <a:pPr marL="0" indent="0">
              <a:buFontTx/>
              <a:buNone/>
            </a:pPr>
            <a:r>
              <a:rPr lang="en-GB" kern="0" dirty="0"/>
              <a:t>Q</a:t>
            </a:r>
            <a:r>
              <a:rPr lang="en-GB" kern="0" baseline="-25000" dirty="0"/>
              <a:t>in</a:t>
            </a:r>
            <a:r>
              <a:rPr lang="en-GB" kern="0" dirty="0"/>
              <a:t>= 2.17 m</a:t>
            </a:r>
            <a:r>
              <a:rPr lang="en-GB" kern="0" baseline="30000" dirty="0"/>
              <a:t>3 </a:t>
            </a:r>
            <a:r>
              <a:rPr lang="en-GB" kern="0" dirty="0"/>
              <a:t>s</a:t>
            </a:r>
            <a:r>
              <a:rPr lang="en-GB" kern="0" baseline="30000" dirty="0"/>
              <a:t>-1</a:t>
            </a:r>
          </a:p>
          <a:p>
            <a:pPr marL="0" indent="0">
              <a:buFontTx/>
              <a:buNone/>
            </a:pPr>
            <a:endParaRPr lang="en-GB" kern="0" dirty="0"/>
          </a:p>
        </p:txBody>
      </p:sp>
      <p:sp>
        <p:nvSpPr>
          <p:cNvPr id="9" name="Content Placeholder 2">
            <a:extLst>
              <a:ext uri="{FF2B5EF4-FFF2-40B4-BE49-F238E27FC236}">
                <a16:creationId xmlns:a16="http://schemas.microsoft.com/office/drawing/2014/main" id="{9A69FC40-02AC-204C-A010-7DBB351E23ED}"/>
              </a:ext>
            </a:extLst>
          </p:cNvPr>
          <p:cNvSpPr>
            <a:spLocks noGrp="1"/>
          </p:cNvSpPr>
          <p:nvPr>
            <p:ph idx="1"/>
          </p:nvPr>
        </p:nvSpPr>
        <p:spPr>
          <a:xfrm>
            <a:off x="6782664" y="1595010"/>
            <a:ext cx="1803192" cy="332544"/>
          </a:xfrm>
        </p:spPr>
        <p:txBody>
          <a:bodyPr/>
          <a:lstStyle/>
          <a:p>
            <a:pPr marL="0" indent="0">
              <a:buFontTx/>
              <a:buNone/>
            </a:pPr>
            <a:r>
              <a:rPr lang="en-GB" dirty="0"/>
              <a:t>Ω = 6782 RPM</a:t>
            </a:r>
          </a:p>
          <a:p>
            <a:pPr marL="0" indent="0">
              <a:buNone/>
            </a:pPr>
            <a:endParaRPr lang="en-GB" dirty="0"/>
          </a:p>
        </p:txBody>
      </p:sp>
    </p:spTree>
    <p:custDataLst>
      <p:tags r:id="rId1"/>
    </p:custDataLst>
    <p:extLst>
      <p:ext uri="{BB962C8B-B14F-4D97-AF65-F5344CB8AC3E}">
        <p14:creationId xmlns:p14="http://schemas.microsoft.com/office/powerpoint/2010/main" val="391898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2" grpId="0" uiExpand="1" build="p"/>
      <p:bldP spid="12" grpId="1" build="allAtOnce"/>
      <p:bldP spid="9"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94A7B-E66C-D947-A5FC-EE4FBC6AE075}"/>
              </a:ext>
            </a:extLst>
          </p:cNvPr>
          <p:cNvSpPr>
            <a:spLocks noGrp="1"/>
          </p:cNvSpPr>
          <p:nvPr>
            <p:ph type="title"/>
          </p:nvPr>
        </p:nvSpPr>
        <p:spPr>
          <a:xfrm>
            <a:off x="382588" y="399476"/>
            <a:ext cx="8375650" cy="397184"/>
          </a:xfrm>
        </p:spPr>
        <p:txBody>
          <a:bodyPr/>
          <a:lstStyle/>
          <a:p>
            <a:r>
              <a:rPr lang="en-GB" dirty="0"/>
              <a:t>Points to take away</a:t>
            </a:r>
          </a:p>
        </p:txBody>
      </p:sp>
      <p:sp>
        <p:nvSpPr>
          <p:cNvPr id="3" name="Content Placeholder 2">
            <a:extLst>
              <a:ext uri="{FF2B5EF4-FFF2-40B4-BE49-F238E27FC236}">
                <a16:creationId xmlns:a16="http://schemas.microsoft.com/office/drawing/2014/main" id="{89200383-728B-D644-99F8-22810C43488D}"/>
              </a:ext>
            </a:extLst>
          </p:cNvPr>
          <p:cNvSpPr>
            <a:spLocks noGrp="1"/>
          </p:cNvSpPr>
          <p:nvPr>
            <p:ph idx="1"/>
          </p:nvPr>
        </p:nvSpPr>
        <p:spPr>
          <a:xfrm>
            <a:off x="382588" y="1890286"/>
            <a:ext cx="8374063" cy="3398240"/>
          </a:xfrm>
        </p:spPr>
        <p:txBody>
          <a:bodyPr/>
          <a:lstStyle/>
          <a:p>
            <a:pPr marL="457200" indent="-457200">
              <a:buFont typeface="+mj-lt"/>
              <a:buAutoNum type="arabicPeriod"/>
            </a:pPr>
            <a:r>
              <a:rPr lang="en-GB" sz="2400" dirty="0"/>
              <a:t>Constraints imposed by other cycle components force the turbine into a biased design space dominated by shroud loss</a:t>
            </a:r>
          </a:p>
          <a:p>
            <a:pPr marL="457200" indent="-457200">
              <a:buFont typeface="+mj-lt"/>
              <a:buAutoNum type="arabicPeriod"/>
            </a:pPr>
            <a:r>
              <a:rPr lang="en-GB" sz="2400" dirty="0"/>
              <a:t>Optimal performance is achieved through designs that reduce geometric tolerance driven loss sources</a:t>
            </a:r>
          </a:p>
          <a:p>
            <a:pPr marL="457200" indent="-457200">
              <a:buFont typeface="+mj-lt"/>
              <a:buAutoNum type="arabicPeriod"/>
            </a:pPr>
            <a:r>
              <a:rPr lang="en-GB" sz="2400" dirty="0"/>
              <a:t>Constraints also cause the machine to have shroud gap variations of up to 25% of span during thermal transients. This is particularly bad for performance due to the sensitivity on shroud leakage.</a:t>
            </a:r>
          </a:p>
        </p:txBody>
      </p:sp>
      <p:sp>
        <p:nvSpPr>
          <p:cNvPr id="4" name="Slide Number Placeholder 3">
            <a:extLst>
              <a:ext uri="{FF2B5EF4-FFF2-40B4-BE49-F238E27FC236}">
                <a16:creationId xmlns:a16="http://schemas.microsoft.com/office/drawing/2014/main" id="{B4C7DAA4-7182-0D4A-8B21-EB92EF9E78BA}"/>
              </a:ext>
            </a:extLst>
          </p:cNvPr>
          <p:cNvSpPr>
            <a:spLocks noGrp="1"/>
          </p:cNvSpPr>
          <p:nvPr>
            <p:ph type="sldNum" sz="quarter" idx="10"/>
          </p:nvPr>
        </p:nvSpPr>
        <p:spPr/>
        <p:txBody>
          <a:bodyPr/>
          <a:lstStyle/>
          <a:p>
            <a:fld id="{833E15E1-3D7B-C448-AFDD-FBFBB13B0145}" type="slidenum">
              <a:rPr lang="en-US" smtClean="0"/>
              <a:pPr/>
              <a:t>4</a:t>
            </a:fld>
            <a:endParaRPr lang="en-US" dirty="0"/>
          </a:p>
        </p:txBody>
      </p:sp>
    </p:spTree>
    <p:extLst>
      <p:ext uri="{BB962C8B-B14F-4D97-AF65-F5344CB8AC3E}">
        <p14:creationId xmlns:p14="http://schemas.microsoft.com/office/powerpoint/2010/main" val="129018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a:extLst>
              <a:ext uri="{FF2B5EF4-FFF2-40B4-BE49-F238E27FC236}">
                <a16:creationId xmlns:a16="http://schemas.microsoft.com/office/drawing/2014/main" id="{30BF43D1-CA04-1F43-A375-BE5618536BB4}"/>
              </a:ext>
            </a:extLst>
          </p:cNvPr>
          <p:cNvPicPr>
            <a:picLocks noChangeAspect="1"/>
          </p:cNvPicPr>
          <p:nvPr/>
        </p:nvPicPr>
        <p:blipFill>
          <a:blip r:embed="rId3"/>
          <a:stretch>
            <a:fillRect/>
          </a:stretch>
        </p:blipFill>
        <p:spPr>
          <a:xfrm>
            <a:off x="6213888" y="2055240"/>
            <a:ext cx="2786446" cy="1530583"/>
          </a:xfrm>
          <a:prstGeom prst="rect">
            <a:avLst/>
          </a:prstGeom>
        </p:spPr>
      </p:pic>
      <p:pic>
        <p:nvPicPr>
          <p:cNvPr id="59" name="Picture 58">
            <a:extLst>
              <a:ext uri="{FF2B5EF4-FFF2-40B4-BE49-F238E27FC236}">
                <a16:creationId xmlns:a16="http://schemas.microsoft.com/office/drawing/2014/main" id="{3E0A6A98-9DFA-2244-A8D7-75B1BF0BB04A}"/>
              </a:ext>
            </a:extLst>
          </p:cNvPr>
          <p:cNvPicPr>
            <a:picLocks noChangeAspect="1"/>
          </p:cNvPicPr>
          <p:nvPr/>
        </p:nvPicPr>
        <p:blipFill>
          <a:blip r:embed="rId4"/>
          <a:stretch>
            <a:fillRect/>
          </a:stretch>
        </p:blipFill>
        <p:spPr>
          <a:xfrm>
            <a:off x="3958603" y="2307336"/>
            <a:ext cx="2453226" cy="1256002"/>
          </a:xfrm>
          <a:prstGeom prst="rect">
            <a:avLst/>
          </a:prstGeom>
        </p:spPr>
      </p:pic>
      <p:sp>
        <p:nvSpPr>
          <p:cNvPr id="2" name="Title 1">
            <a:extLst>
              <a:ext uri="{FF2B5EF4-FFF2-40B4-BE49-F238E27FC236}">
                <a16:creationId xmlns:a16="http://schemas.microsoft.com/office/drawing/2014/main" id="{623A4978-B9E1-1944-9438-3569EFECEDFD}"/>
              </a:ext>
            </a:extLst>
          </p:cNvPr>
          <p:cNvSpPr>
            <a:spLocks noGrp="1"/>
          </p:cNvSpPr>
          <p:nvPr>
            <p:ph type="title"/>
          </p:nvPr>
        </p:nvSpPr>
        <p:spPr>
          <a:xfrm>
            <a:off x="384175" y="404321"/>
            <a:ext cx="8375650" cy="651635"/>
          </a:xfrm>
        </p:spPr>
        <p:txBody>
          <a:bodyPr/>
          <a:lstStyle/>
          <a:p>
            <a:r>
              <a:rPr lang="en-US" dirty="0"/>
              <a:t>Designs produced through </a:t>
            </a:r>
            <a:r>
              <a:rPr lang="en-US" dirty="0" err="1"/>
              <a:t>optimisation</a:t>
            </a:r>
            <a:r>
              <a:rPr lang="en-US" dirty="0"/>
              <a:t> of mean line model</a:t>
            </a:r>
          </a:p>
        </p:txBody>
      </p:sp>
      <p:sp>
        <p:nvSpPr>
          <p:cNvPr id="3" name="Content Placeholder 2">
            <a:extLst>
              <a:ext uri="{FF2B5EF4-FFF2-40B4-BE49-F238E27FC236}">
                <a16:creationId xmlns:a16="http://schemas.microsoft.com/office/drawing/2014/main" id="{C644F53F-9022-894B-8B6E-EC1DADC86E4C}"/>
              </a:ext>
            </a:extLst>
          </p:cNvPr>
          <p:cNvSpPr>
            <a:spLocks noGrp="1"/>
          </p:cNvSpPr>
          <p:nvPr>
            <p:ph idx="1"/>
          </p:nvPr>
        </p:nvSpPr>
        <p:spPr>
          <a:xfrm>
            <a:off x="286150" y="1644283"/>
            <a:ext cx="3807472" cy="4174157"/>
          </a:xfrm>
        </p:spPr>
        <p:txBody>
          <a:bodyPr/>
          <a:lstStyle/>
          <a:p>
            <a:pPr marL="0" indent="0">
              <a:buNone/>
            </a:pPr>
            <a:r>
              <a:rPr lang="en-US" sz="1800" b="1" dirty="0"/>
              <a:t>Aim</a:t>
            </a:r>
          </a:p>
          <a:p>
            <a:r>
              <a:rPr lang="en-US" sz="1800" dirty="0"/>
              <a:t>Design for minimum stages to reach 85% efficiency</a:t>
            </a:r>
          </a:p>
          <a:p>
            <a:pPr marL="0" indent="0">
              <a:buNone/>
            </a:pPr>
            <a:r>
              <a:rPr lang="en-US" sz="1800" b="1" dirty="0"/>
              <a:t>Methods</a:t>
            </a:r>
          </a:p>
          <a:p>
            <a:r>
              <a:rPr lang="en-US" sz="1800" dirty="0"/>
              <a:t>Mean line with correlations</a:t>
            </a:r>
          </a:p>
          <a:p>
            <a:r>
              <a:rPr lang="en-US" sz="1800" dirty="0"/>
              <a:t>Variable parameters through the turbine</a:t>
            </a:r>
          </a:p>
          <a:p>
            <a:r>
              <a:rPr lang="en-US" sz="1800" dirty="0"/>
              <a:t>SLSQP </a:t>
            </a:r>
            <a:r>
              <a:rPr lang="en-US" sz="1800" dirty="0" err="1"/>
              <a:t>optimisation</a:t>
            </a:r>
            <a:r>
              <a:rPr lang="en-US" sz="1800" dirty="0"/>
              <a:t> with 5000 starting points to avoid local minima</a:t>
            </a:r>
          </a:p>
          <a:p>
            <a:endParaRPr lang="en-GB" sz="1800" dirty="0"/>
          </a:p>
        </p:txBody>
      </p:sp>
      <p:sp>
        <p:nvSpPr>
          <p:cNvPr id="14" name="Slide Number Placeholder 13">
            <a:extLst>
              <a:ext uri="{FF2B5EF4-FFF2-40B4-BE49-F238E27FC236}">
                <a16:creationId xmlns:a16="http://schemas.microsoft.com/office/drawing/2014/main" id="{638904B2-3BA2-904C-8918-B484DB814137}"/>
              </a:ext>
            </a:extLst>
          </p:cNvPr>
          <p:cNvSpPr>
            <a:spLocks noGrp="1"/>
          </p:cNvSpPr>
          <p:nvPr>
            <p:ph type="sldNum" sz="quarter" idx="10"/>
          </p:nvPr>
        </p:nvSpPr>
        <p:spPr/>
        <p:txBody>
          <a:bodyPr/>
          <a:lstStyle/>
          <a:p>
            <a:fld id="{833E15E1-3D7B-C448-AFDD-FBFBB13B0145}" type="slidenum">
              <a:rPr lang="en-US" smtClean="0"/>
              <a:t>5</a:t>
            </a:fld>
            <a:endParaRPr lang="en-US"/>
          </a:p>
        </p:txBody>
      </p:sp>
      <p:sp>
        <p:nvSpPr>
          <p:cNvPr id="53" name="Content Placeholder 2">
            <a:extLst>
              <a:ext uri="{FF2B5EF4-FFF2-40B4-BE49-F238E27FC236}">
                <a16:creationId xmlns:a16="http://schemas.microsoft.com/office/drawing/2014/main" id="{323B21A0-F549-384C-BE46-15DBD5CB5D7B}"/>
              </a:ext>
            </a:extLst>
          </p:cNvPr>
          <p:cNvSpPr txBox="1">
            <a:spLocks/>
          </p:cNvSpPr>
          <p:nvPr/>
        </p:nvSpPr>
        <p:spPr bwMode="auto">
          <a:xfrm>
            <a:off x="5075086" y="5895718"/>
            <a:ext cx="2853178" cy="456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pPr marL="0" indent="0" algn="ctr">
              <a:buNone/>
            </a:pPr>
            <a:r>
              <a:rPr lang="en-US" sz="1600" kern="0" dirty="0"/>
              <a:t>Shroud leakage - Denton 1993</a:t>
            </a:r>
          </a:p>
          <a:p>
            <a:pPr algn="ctr"/>
            <a:endParaRPr lang="en-GB" sz="1600" kern="0" dirty="0"/>
          </a:p>
        </p:txBody>
      </p:sp>
      <p:sp>
        <p:nvSpPr>
          <p:cNvPr id="56" name="Content Placeholder 2">
            <a:extLst>
              <a:ext uri="{FF2B5EF4-FFF2-40B4-BE49-F238E27FC236}">
                <a16:creationId xmlns:a16="http://schemas.microsoft.com/office/drawing/2014/main" id="{F3B064F6-1E02-4D45-856A-64CC436D3CA7}"/>
              </a:ext>
            </a:extLst>
          </p:cNvPr>
          <p:cNvSpPr txBox="1">
            <a:spLocks/>
          </p:cNvSpPr>
          <p:nvPr/>
        </p:nvSpPr>
        <p:spPr bwMode="auto">
          <a:xfrm>
            <a:off x="4216213" y="3652833"/>
            <a:ext cx="1891705" cy="63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pPr marL="0" indent="0" algn="ctr">
              <a:buNone/>
            </a:pPr>
            <a:r>
              <a:rPr lang="en-US" sz="1600" kern="0" dirty="0"/>
              <a:t>Profile and trailing edge - Denton 1993</a:t>
            </a:r>
          </a:p>
          <a:p>
            <a:pPr algn="ctr"/>
            <a:endParaRPr lang="en-GB" sz="1600" kern="0" dirty="0"/>
          </a:p>
        </p:txBody>
      </p:sp>
      <p:sp>
        <p:nvSpPr>
          <p:cNvPr id="57" name="Content Placeholder 2">
            <a:extLst>
              <a:ext uri="{FF2B5EF4-FFF2-40B4-BE49-F238E27FC236}">
                <a16:creationId xmlns:a16="http://schemas.microsoft.com/office/drawing/2014/main" id="{200AD8D7-BEE5-A840-A6EE-8FC0376E0C53}"/>
              </a:ext>
            </a:extLst>
          </p:cNvPr>
          <p:cNvSpPr txBox="1">
            <a:spLocks/>
          </p:cNvSpPr>
          <p:nvPr/>
        </p:nvSpPr>
        <p:spPr bwMode="auto">
          <a:xfrm>
            <a:off x="6470173" y="3652833"/>
            <a:ext cx="2318231" cy="50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pPr marL="0" indent="0" algn="ctr">
              <a:buNone/>
            </a:pPr>
            <a:r>
              <a:rPr lang="en-US" sz="1600" kern="0" dirty="0"/>
              <a:t>Secondary - Dunham and Came 1970</a:t>
            </a:r>
          </a:p>
          <a:p>
            <a:pPr algn="ctr"/>
            <a:endParaRPr lang="en-GB" sz="1600" kern="0" dirty="0"/>
          </a:p>
        </p:txBody>
      </p:sp>
      <p:pic>
        <p:nvPicPr>
          <p:cNvPr id="63" name="Picture 62">
            <a:extLst>
              <a:ext uri="{FF2B5EF4-FFF2-40B4-BE49-F238E27FC236}">
                <a16:creationId xmlns:a16="http://schemas.microsoft.com/office/drawing/2014/main" id="{549360D1-2EE0-324F-A354-EFA9AA7F355A}"/>
              </a:ext>
            </a:extLst>
          </p:cNvPr>
          <p:cNvPicPr>
            <a:picLocks noChangeAspect="1"/>
          </p:cNvPicPr>
          <p:nvPr/>
        </p:nvPicPr>
        <p:blipFill>
          <a:blip r:embed="rId5"/>
          <a:stretch>
            <a:fillRect/>
          </a:stretch>
        </p:blipFill>
        <p:spPr>
          <a:xfrm>
            <a:off x="5236496" y="4291124"/>
            <a:ext cx="2530359" cy="1530583"/>
          </a:xfrm>
          <a:prstGeom prst="rect">
            <a:avLst/>
          </a:prstGeom>
        </p:spPr>
      </p:pic>
      <p:sp>
        <p:nvSpPr>
          <p:cNvPr id="15" name="Content Placeholder 2">
            <a:extLst>
              <a:ext uri="{FF2B5EF4-FFF2-40B4-BE49-F238E27FC236}">
                <a16:creationId xmlns:a16="http://schemas.microsoft.com/office/drawing/2014/main" id="{0ACAC01E-252D-8143-AF25-6395DFEF33C7}"/>
              </a:ext>
            </a:extLst>
          </p:cNvPr>
          <p:cNvSpPr txBox="1">
            <a:spLocks/>
          </p:cNvSpPr>
          <p:nvPr/>
        </p:nvSpPr>
        <p:spPr bwMode="auto">
          <a:xfrm>
            <a:off x="4796172" y="1646765"/>
            <a:ext cx="3231314" cy="63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pPr marL="0" indent="0" algn="ctr">
              <a:buNone/>
            </a:pPr>
            <a:r>
              <a:rPr lang="en-US" sz="1600" b="1" kern="0" dirty="0"/>
              <a:t>Loss correlations used</a:t>
            </a:r>
          </a:p>
          <a:p>
            <a:pPr algn="ctr"/>
            <a:endParaRPr lang="en-GB" sz="1600" b="1" kern="0" dirty="0"/>
          </a:p>
        </p:txBody>
      </p:sp>
    </p:spTree>
    <p:extLst>
      <p:ext uri="{BB962C8B-B14F-4D97-AF65-F5344CB8AC3E}">
        <p14:creationId xmlns:p14="http://schemas.microsoft.com/office/powerpoint/2010/main" val="20512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0B6F4BB-677B-A84C-B355-DBDCC5979BF0}"/>
              </a:ext>
            </a:extLst>
          </p:cNvPr>
          <p:cNvPicPr>
            <a:picLocks noChangeAspect="1"/>
          </p:cNvPicPr>
          <p:nvPr/>
        </p:nvPicPr>
        <p:blipFill>
          <a:blip r:embed="rId4"/>
          <a:stretch>
            <a:fillRect/>
          </a:stretch>
        </p:blipFill>
        <p:spPr>
          <a:xfrm>
            <a:off x="2440304" y="1739903"/>
            <a:ext cx="3420000" cy="2045608"/>
          </a:xfrm>
          <a:prstGeom prst="rect">
            <a:avLst/>
          </a:prstGeom>
        </p:spPr>
      </p:pic>
      <p:sp>
        <p:nvSpPr>
          <p:cNvPr id="7" name="Slide Number Placeholder 6">
            <a:extLst>
              <a:ext uri="{FF2B5EF4-FFF2-40B4-BE49-F238E27FC236}">
                <a16:creationId xmlns:a16="http://schemas.microsoft.com/office/drawing/2014/main" id="{4B421E73-1BC5-3448-9D9A-F6E235457FAF}"/>
              </a:ext>
            </a:extLst>
          </p:cNvPr>
          <p:cNvSpPr>
            <a:spLocks noGrp="1"/>
          </p:cNvSpPr>
          <p:nvPr>
            <p:ph type="sldNum" sz="quarter" idx="10"/>
          </p:nvPr>
        </p:nvSpPr>
        <p:spPr/>
        <p:txBody>
          <a:bodyPr/>
          <a:lstStyle/>
          <a:p>
            <a:r>
              <a:rPr lang="en-US" dirty="0"/>
              <a:t>6</a:t>
            </a:r>
          </a:p>
        </p:txBody>
      </p:sp>
      <p:sp>
        <p:nvSpPr>
          <p:cNvPr id="22" name="Rectangle 21">
            <a:extLst>
              <a:ext uri="{FF2B5EF4-FFF2-40B4-BE49-F238E27FC236}">
                <a16:creationId xmlns:a16="http://schemas.microsoft.com/office/drawing/2014/main" id="{A4C9A2B1-8831-E847-B210-6535CBADC175}"/>
              </a:ext>
            </a:extLst>
          </p:cNvPr>
          <p:cNvSpPr/>
          <p:nvPr/>
        </p:nvSpPr>
        <p:spPr bwMode="auto">
          <a:xfrm>
            <a:off x="3507129" y="2384385"/>
            <a:ext cx="300942" cy="981378"/>
          </a:xfrm>
          <a:prstGeom prst="rect">
            <a:avLst/>
          </a:prstGeom>
          <a:solidFill>
            <a:srgbClr val="00B050">
              <a:alpha val="34902"/>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17" name="Title 1">
            <a:extLst>
              <a:ext uri="{FF2B5EF4-FFF2-40B4-BE49-F238E27FC236}">
                <a16:creationId xmlns:a16="http://schemas.microsoft.com/office/drawing/2014/main" id="{099F451E-2115-264A-9B81-1AA60D453630}"/>
              </a:ext>
            </a:extLst>
          </p:cNvPr>
          <p:cNvSpPr txBox="1">
            <a:spLocks/>
          </p:cNvSpPr>
          <p:nvPr/>
        </p:nvSpPr>
        <p:spPr bwMode="auto">
          <a:xfrm>
            <a:off x="382588" y="402471"/>
            <a:ext cx="8375650" cy="38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0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defRPr>
            </a:lvl2pPr>
            <a:lvl3pPr algn="l" rtl="0" eaLnBrk="1" fontAlgn="base" hangingPunct="1">
              <a:spcBef>
                <a:spcPct val="0"/>
              </a:spcBef>
              <a:spcAft>
                <a:spcPct val="0"/>
              </a:spcAft>
              <a:defRPr sz="2600" b="1">
                <a:solidFill>
                  <a:schemeClr val="tx2"/>
                </a:solidFill>
                <a:latin typeface="Arial" charset="0"/>
              </a:defRPr>
            </a:lvl3pPr>
            <a:lvl4pPr algn="l" rtl="0" eaLnBrk="1" fontAlgn="base" hangingPunct="1">
              <a:spcBef>
                <a:spcPct val="0"/>
              </a:spcBef>
              <a:spcAft>
                <a:spcPct val="0"/>
              </a:spcAft>
              <a:defRPr sz="2600" b="1">
                <a:solidFill>
                  <a:schemeClr val="tx2"/>
                </a:solidFill>
                <a:latin typeface="Arial" charset="0"/>
              </a:defRPr>
            </a:lvl4pPr>
            <a:lvl5pPr algn="l" rtl="0" eaLnBrk="1" fontAlgn="base" hangingPunct="1">
              <a:spcBef>
                <a:spcPct val="0"/>
              </a:spcBef>
              <a:spcAft>
                <a:spcPct val="0"/>
              </a:spcAft>
              <a:defRPr sz="2600" b="1">
                <a:solidFill>
                  <a:schemeClr val="tx2"/>
                </a:solidFill>
                <a:latin typeface="Arial" charset="0"/>
              </a:defRPr>
            </a:lvl5pPr>
            <a:lvl6pPr marL="457200" algn="l" rtl="0" eaLnBrk="1" fontAlgn="base" hangingPunct="1">
              <a:spcBef>
                <a:spcPct val="0"/>
              </a:spcBef>
              <a:spcAft>
                <a:spcPct val="0"/>
              </a:spcAft>
              <a:defRPr sz="2600" b="1">
                <a:solidFill>
                  <a:schemeClr val="tx2"/>
                </a:solidFill>
                <a:latin typeface="Arial" charset="0"/>
              </a:defRPr>
            </a:lvl6pPr>
            <a:lvl7pPr marL="914400" algn="l" rtl="0" eaLnBrk="1" fontAlgn="base" hangingPunct="1">
              <a:spcBef>
                <a:spcPct val="0"/>
              </a:spcBef>
              <a:spcAft>
                <a:spcPct val="0"/>
              </a:spcAft>
              <a:defRPr sz="2600" b="1">
                <a:solidFill>
                  <a:schemeClr val="tx2"/>
                </a:solidFill>
                <a:latin typeface="Arial" charset="0"/>
              </a:defRPr>
            </a:lvl7pPr>
            <a:lvl8pPr marL="1371600" algn="l" rtl="0" eaLnBrk="1" fontAlgn="base" hangingPunct="1">
              <a:spcBef>
                <a:spcPct val="0"/>
              </a:spcBef>
              <a:spcAft>
                <a:spcPct val="0"/>
              </a:spcAft>
              <a:defRPr sz="2600" b="1">
                <a:solidFill>
                  <a:schemeClr val="tx2"/>
                </a:solidFill>
                <a:latin typeface="Arial" charset="0"/>
              </a:defRPr>
            </a:lvl8pPr>
            <a:lvl9pPr marL="1828800" algn="l" rtl="0" eaLnBrk="1" fontAlgn="base" hangingPunct="1">
              <a:spcBef>
                <a:spcPct val="0"/>
              </a:spcBef>
              <a:spcAft>
                <a:spcPct val="0"/>
              </a:spcAft>
              <a:defRPr sz="2600" b="1">
                <a:solidFill>
                  <a:schemeClr val="tx2"/>
                </a:solidFill>
                <a:latin typeface="Arial" charset="0"/>
              </a:defRPr>
            </a:lvl9pPr>
          </a:lstStyle>
          <a:p>
            <a:r>
              <a:rPr lang="en-US" kern="0" dirty="0"/>
              <a:t>Shroud loss dominates, so large blade spans reduce loss</a:t>
            </a:r>
          </a:p>
        </p:txBody>
      </p:sp>
      <p:sp>
        <p:nvSpPr>
          <p:cNvPr id="23" name="Content Placeholder 2">
            <a:extLst>
              <a:ext uri="{FF2B5EF4-FFF2-40B4-BE49-F238E27FC236}">
                <a16:creationId xmlns:a16="http://schemas.microsoft.com/office/drawing/2014/main" id="{40BA9190-4C6D-2D44-85C2-278C2C08AA42}"/>
              </a:ext>
            </a:extLst>
          </p:cNvPr>
          <p:cNvSpPr txBox="1">
            <a:spLocks/>
          </p:cNvSpPr>
          <p:nvPr/>
        </p:nvSpPr>
        <p:spPr bwMode="auto">
          <a:xfrm>
            <a:off x="70945" y="1694194"/>
            <a:ext cx="2484007" cy="4919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r>
              <a:rPr lang="en-US" sz="1600" kern="0" dirty="0"/>
              <a:t>Shroud loss dominates </a:t>
            </a:r>
          </a:p>
          <a:p>
            <a:r>
              <a:rPr lang="en-US" sz="1600" kern="0" dirty="0"/>
              <a:t>Design </a:t>
            </a:r>
            <a:r>
              <a:rPr lang="en-US" sz="1600" kern="0" dirty="0" err="1"/>
              <a:t>favours</a:t>
            </a:r>
            <a:r>
              <a:rPr lang="en-US" sz="1600" kern="0" dirty="0"/>
              <a:t> large blade spans</a:t>
            </a:r>
          </a:p>
          <a:p>
            <a:r>
              <a:rPr lang="en-US" sz="1600" kern="0" dirty="0"/>
              <a:t>Low flow coefficient increases spans</a:t>
            </a:r>
          </a:p>
          <a:p>
            <a:pPr marL="0" indent="0">
              <a:buNone/>
            </a:pPr>
            <a:endParaRPr lang="en-US" sz="1600" dirty="0"/>
          </a:p>
          <a:p>
            <a:endParaRPr lang="en-US" sz="1600" kern="0" dirty="0"/>
          </a:p>
        </p:txBody>
      </p:sp>
    </p:spTree>
    <p:custDataLst>
      <p:tags r:id="rId1"/>
    </p:custDataLst>
    <p:extLst>
      <p:ext uri="{BB962C8B-B14F-4D97-AF65-F5344CB8AC3E}">
        <p14:creationId xmlns:p14="http://schemas.microsoft.com/office/powerpoint/2010/main" val="57362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4B99AEF-7F65-A34D-854D-297D61193FF1}"/>
              </a:ext>
            </a:extLst>
          </p:cNvPr>
          <p:cNvPicPr>
            <a:picLocks noChangeAspect="1"/>
          </p:cNvPicPr>
          <p:nvPr/>
        </p:nvPicPr>
        <p:blipFill>
          <a:blip r:embed="rId4"/>
          <a:stretch>
            <a:fillRect/>
          </a:stretch>
        </p:blipFill>
        <p:spPr>
          <a:xfrm>
            <a:off x="5712425" y="1752491"/>
            <a:ext cx="3420000" cy="2020431"/>
          </a:xfrm>
          <a:prstGeom prst="rect">
            <a:avLst/>
          </a:prstGeom>
        </p:spPr>
      </p:pic>
      <p:pic>
        <p:nvPicPr>
          <p:cNvPr id="13" name="Picture 12">
            <a:extLst>
              <a:ext uri="{FF2B5EF4-FFF2-40B4-BE49-F238E27FC236}">
                <a16:creationId xmlns:a16="http://schemas.microsoft.com/office/drawing/2014/main" id="{F0B6F4BB-677B-A84C-B355-DBDCC5979BF0}"/>
              </a:ext>
            </a:extLst>
          </p:cNvPr>
          <p:cNvPicPr>
            <a:picLocks noChangeAspect="1"/>
          </p:cNvPicPr>
          <p:nvPr/>
        </p:nvPicPr>
        <p:blipFill>
          <a:blip r:embed="rId5">
            <a:alphaModFix amt="35000"/>
          </a:blip>
          <a:stretch>
            <a:fillRect/>
          </a:stretch>
        </p:blipFill>
        <p:spPr>
          <a:xfrm>
            <a:off x="2440304" y="1739903"/>
            <a:ext cx="3420000" cy="2045608"/>
          </a:xfrm>
          <a:prstGeom prst="rect">
            <a:avLst/>
          </a:prstGeom>
        </p:spPr>
      </p:pic>
      <p:sp>
        <p:nvSpPr>
          <p:cNvPr id="7" name="Slide Number Placeholder 6">
            <a:extLst>
              <a:ext uri="{FF2B5EF4-FFF2-40B4-BE49-F238E27FC236}">
                <a16:creationId xmlns:a16="http://schemas.microsoft.com/office/drawing/2014/main" id="{4B421E73-1BC5-3448-9D9A-F6E235457FAF}"/>
              </a:ext>
            </a:extLst>
          </p:cNvPr>
          <p:cNvSpPr>
            <a:spLocks noGrp="1"/>
          </p:cNvSpPr>
          <p:nvPr>
            <p:ph type="sldNum" sz="quarter" idx="10"/>
          </p:nvPr>
        </p:nvSpPr>
        <p:spPr/>
        <p:txBody>
          <a:bodyPr/>
          <a:lstStyle/>
          <a:p>
            <a:r>
              <a:rPr lang="en-US" dirty="0"/>
              <a:t>6</a:t>
            </a:r>
          </a:p>
        </p:txBody>
      </p:sp>
      <p:sp>
        <p:nvSpPr>
          <p:cNvPr id="25" name="Rectangle 24">
            <a:extLst>
              <a:ext uri="{FF2B5EF4-FFF2-40B4-BE49-F238E27FC236}">
                <a16:creationId xmlns:a16="http://schemas.microsoft.com/office/drawing/2014/main" id="{D451C49E-2FAE-D14B-A13D-4F79A3B257E5}"/>
              </a:ext>
            </a:extLst>
          </p:cNvPr>
          <p:cNvSpPr/>
          <p:nvPr/>
        </p:nvSpPr>
        <p:spPr bwMode="auto">
          <a:xfrm>
            <a:off x="6898041" y="1751476"/>
            <a:ext cx="524384" cy="1612635"/>
          </a:xfrm>
          <a:prstGeom prst="rect">
            <a:avLst/>
          </a:prstGeom>
          <a:solidFill>
            <a:srgbClr val="00B050">
              <a:alpha val="34902"/>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18" name="Rectangle 17">
            <a:extLst>
              <a:ext uri="{FF2B5EF4-FFF2-40B4-BE49-F238E27FC236}">
                <a16:creationId xmlns:a16="http://schemas.microsoft.com/office/drawing/2014/main" id="{F8E90D04-6353-264F-977C-83979FA241C9}"/>
              </a:ext>
            </a:extLst>
          </p:cNvPr>
          <p:cNvSpPr/>
          <p:nvPr/>
        </p:nvSpPr>
        <p:spPr bwMode="auto">
          <a:xfrm>
            <a:off x="3507129" y="2384385"/>
            <a:ext cx="300942" cy="981378"/>
          </a:xfrm>
          <a:prstGeom prst="rect">
            <a:avLst/>
          </a:prstGeom>
          <a:solidFill>
            <a:srgbClr val="00B050">
              <a:alpha val="7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23" name="Content Placeholder 2">
            <a:extLst>
              <a:ext uri="{FF2B5EF4-FFF2-40B4-BE49-F238E27FC236}">
                <a16:creationId xmlns:a16="http://schemas.microsoft.com/office/drawing/2014/main" id="{1A4AA589-45B5-1148-B499-BC6EA4C50B2F}"/>
              </a:ext>
            </a:extLst>
          </p:cNvPr>
          <p:cNvSpPr txBox="1">
            <a:spLocks/>
          </p:cNvSpPr>
          <p:nvPr/>
        </p:nvSpPr>
        <p:spPr bwMode="auto">
          <a:xfrm>
            <a:off x="70945" y="1694194"/>
            <a:ext cx="2484007" cy="4919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r>
              <a:rPr lang="en-US" sz="1600" kern="0" dirty="0"/>
              <a:t>Shroud loss dominates </a:t>
            </a:r>
          </a:p>
          <a:p>
            <a:r>
              <a:rPr lang="en-US" sz="1600" kern="0" dirty="0"/>
              <a:t>Design </a:t>
            </a:r>
            <a:r>
              <a:rPr lang="en-US" sz="1600" kern="0" dirty="0" err="1"/>
              <a:t>favours</a:t>
            </a:r>
            <a:r>
              <a:rPr lang="en-US" sz="1600" kern="0" dirty="0"/>
              <a:t> large blade spans</a:t>
            </a:r>
          </a:p>
          <a:p>
            <a:r>
              <a:rPr lang="en-US" sz="1600" kern="0" dirty="0"/>
              <a:t>Low flow coefficient increases spans</a:t>
            </a:r>
          </a:p>
          <a:p>
            <a:r>
              <a:rPr lang="en-US" sz="1600" kern="0" dirty="0"/>
              <a:t>Stage loading limited by profile and secondary loss</a:t>
            </a:r>
          </a:p>
          <a:p>
            <a:pPr marL="0" indent="0">
              <a:buNone/>
            </a:pPr>
            <a:endParaRPr lang="en-US" sz="1600" dirty="0"/>
          </a:p>
          <a:p>
            <a:endParaRPr lang="en-US" sz="1600" kern="0" dirty="0"/>
          </a:p>
        </p:txBody>
      </p:sp>
      <p:sp>
        <p:nvSpPr>
          <p:cNvPr id="27" name="Rectangle 26">
            <a:extLst>
              <a:ext uri="{FF2B5EF4-FFF2-40B4-BE49-F238E27FC236}">
                <a16:creationId xmlns:a16="http://schemas.microsoft.com/office/drawing/2014/main" id="{71FE2E45-CA1B-8D45-82CB-6AB2F6F8500B}"/>
              </a:ext>
            </a:extLst>
          </p:cNvPr>
          <p:cNvSpPr/>
          <p:nvPr/>
        </p:nvSpPr>
        <p:spPr bwMode="auto">
          <a:xfrm>
            <a:off x="11575" y="1365813"/>
            <a:ext cx="2484007" cy="1998298"/>
          </a:xfrm>
          <a:prstGeom prst="rect">
            <a:avLst/>
          </a:prstGeom>
          <a:solidFill>
            <a:schemeClr val="bg1">
              <a:alpha val="7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sp>
        <p:nvSpPr>
          <p:cNvPr id="28" name="Title 1">
            <a:extLst>
              <a:ext uri="{FF2B5EF4-FFF2-40B4-BE49-F238E27FC236}">
                <a16:creationId xmlns:a16="http://schemas.microsoft.com/office/drawing/2014/main" id="{8EB73763-DEC9-5349-93D1-6615EC2D50D1}"/>
              </a:ext>
            </a:extLst>
          </p:cNvPr>
          <p:cNvSpPr txBox="1">
            <a:spLocks/>
          </p:cNvSpPr>
          <p:nvPr/>
        </p:nvSpPr>
        <p:spPr bwMode="auto">
          <a:xfrm>
            <a:off x="382588" y="402471"/>
            <a:ext cx="8375650" cy="38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0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defRPr>
            </a:lvl2pPr>
            <a:lvl3pPr algn="l" rtl="0" eaLnBrk="1" fontAlgn="base" hangingPunct="1">
              <a:spcBef>
                <a:spcPct val="0"/>
              </a:spcBef>
              <a:spcAft>
                <a:spcPct val="0"/>
              </a:spcAft>
              <a:defRPr sz="2600" b="1">
                <a:solidFill>
                  <a:schemeClr val="tx2"/>
                </a:solidFill>
                <a:latin typeface="Arial" charset="0"/>
              </a:defRPr>
            </a:lvl3pPr>
            <a:lvl4pPr algn="l" rtl="0" eaLnBrk="1" fontAlgn="base" hangingPunct="1">
              <a:spcBef>
                <a:spcPct val="0"/>
              </a:spcBef>
              <a:spcAft>
                <a:spcPct val="0"/>
              </a:spcAft>
              <a:defRPr sz="2600" b="1">
                <a:solidFill>
                  <a:schemeClr val="tx2"/>
                </a:solidFill>
                <a:latin typeface="Arial" charset="0"/>
              </a:defRPr>
            </a:lvl4pPr>
            <a:lvl5pPr algn="l" rtl="0" eaLnBrk="1" fontAlgn="base" hangingPunct="1">
              <a:spcBef>
                <a:spcPct val="0"/>
              </a:spcBef>
              <a:spcAft>
                <a:spcPct val="0"/>
              </a:spcAft>
              <a:defRPr sz="2600" b="1">
                <a:solidFill>
                  <a:schemeClr val="tx2"/>
                </a:solidFill>
                <a:latin typeface="Arial" charset="0"/>
              </a:defRPr>
            </a:lvl5pPr>
            <a:lvl6pPr marL="457200" algn="l" rtl="0" eaLnBrk="1" fontAlgn="base" hangingPunct="1">
              <a:spcBef>
                <a:spcPct val="0"/>
              </a:spcBef>
              <a:spcAft>
                <a:spcPct val="0"/>
              </a:spcAft>
              <a:defRPr sz="2600" b="1">
                <a:solidFill>
                  <a:schemeClr val="tx2"/>
                </a:solidFill>
                <a:latin typeface="Arial" charset="0"/>
              </a:defRPr>
            </a:lvl6pPr>
            <a:lvl7pPr marL="914400" algn="l" rtl="0" eaLnBrk="1" fontAlgn="base" hangingPunct="1">
              <a:spcBef>
                <a:spcPct val="0"/>
              </a:spcBef>
              <a:spcAft>
                <a:spcPct val="0"/>
              </a:spcAft>
              <a:defRPr sz="2600" b="1">
                <a:solidFill>
                  <a:schemeClr val="tx2"/>
                </a:solidFill>
                <a:latin typeface="Arial" charset="0"/>
              </a:defRPr>
            </a:lvl7pPr>
            <a:lvl8pPr marL="1371600" algn="l" rtl="0" eaLnBrk="1" fontAlgn="base" hangingPunct="1">
              <a:spcBef>
                <a:spcPct val="0"/>
              </a:spcBef>
              <a:spcAft>
                <a:spcPct val="0"/>
              </a:spcAft>
              <a:defRPr sz="2600" b="1">
                <a:solidFill>
                  <a:schemeClr val="tx2"/>
                </a:solidFill>
                <a:latin typeface="Arial" charset="0"/>
              </a:defRPr>
            </a:lvl8pPr>
            <a:lvl9pPr marL="1828800" algn="l" rtl="0" eaLnBrk="1" fontAlgn="base" hangingPunct="1">
              <a:spcBef>
                <a:spcPct val="0"/>
              </a:spcBef>
              <a:spcAft>
                <a:spcPct val="0"/>
              </a:spcAft>
              <a:defRPr sz="2600" b="1">
                <a:solidFill>
                  <a:schemeClr val="tx2"/>
                </a:solidFill>
                <a:latin typeface="Arial" charset="0"/>
              </a:defRPr>
            </a:lvl9pPr>
          </a:lstStyle>
          <a:p>
            <a:r>
              <a:rPr lang="en-US" kern="0" dirty="0"/>
              <a:t>Shroud loss dominates, so large blade spans reduce loss</a:t>
            </a:r>
          </a:p>
        </p:txBody>
      </p:sp>
    </p:spTree>
    <p:custDataLst>
      <p:tags r:id="rId1"/>
    </p:custDataLst>
    <p:extLst>
      <p:ext uri="{BB962C8B-B14F-4D97-AF65-F5344CB8AC3E}">
        <p14:creationId xmlns:p14="http://schemas.microsoft.com/office/powerpoint/2010/main" val="4275658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B17D58D-4EF7-B241-97C4-3C0D77B4FAFD}"/>
              </a:ext>
            </a:extLst>
          </p:cNvPr>
          <p:cNvPicPr>
            <a:picLocks noChangeAspect="1"/>
          </p:cNvPicPr>
          <p:nvPr/>
        </p:nvPicPr>
        <p:blipFill>
          <a:blip r:embed="rId4"/>
          <a:stretch>
            <a:fillRect/>
          </a:stretch>
        </p:blipFill>
        <p:spPr>
          <a:xfrm>
            <a:off x="2484007" y="4092734"/>
            <a:ext cx="3420000" cy="2039054"/>
          </a:xfrm>
          <a:prstGeom prst="rect">
            <a:avLst/>
          </a:prstGeom>
        </p:spPr>
      </p:pic>
      <p:pic>
        <p:nvPicPr>
          <p:cNvPr id="16" name="Picture 15">
            <a:extLst>
              <a:ext uri="{FF2B5EF4-FFF2-40B4-BE49-F238E27FC236}">
                <a16:creationId xmlns:a16="http://schemas.microsoft.com/office/drawing/2014/main" id="{94B99AEF-7F65-A34D-854D-297D61193FF1}"/>
              </a:ext>
            </a:extLst>
          </p:cNvPr>
          <p:cNvPicPr>
            <a:picLocks noChangeAspect="1"/>
          </p:cNvPicPr>
          <p:nvPr/>
        </p:nvPicPr>
        <p:blipFill>
          <a:blip r:embed="rId5">
            <a:alphaModFix amt="35000"/>
          </a:blip>
          <a:stretch>
            <a:fillRect/>
          </a:stretch>
        </p:blipFill>
        <p:spPr>
          <a:xfrm>
            <a:off x="5712425" y="1752491"/>
            <a:ext cx="3420000" cy="2020431"/>
          </a:xfrm>
          <a:prstGeom prst="rect">
            <a:avLst/>
          </a:prstGeom>
        </p:spPr>
      </p:pic>
      <p:pic>
        <p:nvPicPr>
          <p:cNvPr id="13" name="Picture 12">
            <a:extLst>
              <a:ext uri="{FF2B5EF4-FFF2-40B4-BE49-F238E27FC236}">
                <a16:creationId xmlns:a16="http://schemas.microsoft.com/office/drawing/2014/main" id="{F0B6F4BB-677B-A84C-B355-DBDCC5979BF0}"/>
              </a:ext>
            </a:extLst>
          </p:cNvPr>
          <p:cNvPicPr>
            <a:picLocks noChangeAspect="1"/>
          </p:cNvPicPr>
          <p:nvPr/>
        </p:nvPicPr>
        <p:blipFill>
          <a:blip r:embed="rId6">
            <a:alphaModFix amt="35000"/>
          </a:blip>
          <a:stretch>
            <a:fillRect/>
          </a:stretch>
        </p:blipFill>
        <p:spPr>
          <a:xfrm>
            <a:off x="2440304" y="1739903"/>
            <a:ext cx="3420000" cy="2045608"/>
          </a:xfrm>
          <a:prstGeom prst="rect">
            <a:avLst/>
          </a:prstGeom>
        </p:spPr>
      </p:pic>
      <p:sp>
        <p:nvSpPr>
          <p:cNvPr id="7" name="Slide Number Placeholder 6">
            <a:extLst>
              <a:ext uri="{FF2B5EF4-FFF2-40B4-BE49-F238E27FC236}">
                <a16:creationId xmlns:a16="http://schemas.microsoft.com/office/drawing/2014/main" id="{4B421E73-1BC5-3448-9D9A-F6E235457FAF}"/>
              </a:ext>
            </a:extLst>
          </p:cNvPr>
          <p:cNvSpPr>
            <a:spLocks noGrp="1"/>
          </p:cNvSpPr>
          <p:nvPr>
            <p:ph type="sldNum" sz="quarter" idx="10"/>
          </p:nvPr>
        </p:nvSpPr>
        <p:spPr/>
        <p:txBody>
          <a:bodyPr/>
          <a:lstStyle/>
          <a:p>
            <a:r>
              <a:rPr lang="en-US" dirty="0"/>
              <a:t>6</a:t>
            </a:r>
          </a:p>
        </p:txBody>
      </p:sp>
      <p:sp>
        <p:nvSpPr>
          <p:cNvPr id="25" name="Rectangle 24">
            <a:extLst>
              <a:ext uri="{FF2B5EF4-FFF2-40B4-BE49-F238E27FC236}">
                <a16:creationId xmlns:a16="http://schemas.microsoft.com/office/drawing/2014/main" id="{D451C49E-2FAE-D14B-A13D-4F79A3B257E5}"/>
              </a:ext>
            </a:extLst>
          </p:cNvPr>
          <p:cNvSpPr/>
          <p:nvPr/>
        </p:nvSpPr>
        <p:spPr bwMode="auto">
          <a:xfrm>
            <a:off x="6898041" y="1751476"/>
            <a:ext cx="524384" cy="1612635"/>
          </a:xfrm>
          <a:prstGeom prst="rect">
            <a:avLst/>
          </a:prstGeom>
          <a:solidFill>
            <a:srgbClr val="00B050">
              <a:alpha val="7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26" name="Rectangle 25">
            <a:extLst>
              <a:ext uri="{FF2B5EF4-FFF2-40B4-BE49-F238E27FC236}">
                <a16:creationId xmlns:a16="http://schemas.microsoft.com/office/drawing/2014/main" id="{357FFDFB-756C-4941-9C42-9EF127F9074D}"/>
              </a:ext>
            </a:extLst>
          </p:cNvPr>
          <p:cNvSpPr/>
          <p:nvPr/>
        </p:nvSpPr>
        <p:spPr bwMode="auto">
          <a:xfrm>
            <a:off x="3565003" y="4105323"/>
            <a:ext cx="1006997" cy="1639283"/>
          </a:xfrm>
          <a:prstGeom prst="rect">
            <a:avLst/>
          </a:prstGeom>
          <a:solidFill>
            <a:srgbClr val="00B050">
              <a:alpha val="34902"/>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19" name="Rectangle 18">
            <a:extLst>
              <a:ext uri="{FF2B5EF4-FFF2-40B4-BE49-F238E27FC236}">
                <a16:creationId xmlns:a16="http://schemas.microsoft.com/office/drawing/2014/main" id="{55DB62CB-2EAE-2649-91A8-9C9598625C1D}"/>
              </a:ext>
            </a:extLst>
          </p:cNvPr>
          <p:cNvSpPr/>
          <p:nvPr/>
        </p:nvSpPr>
        <p:spPr bwMode="auto">
          <a:xfrm>
            <a:off x="3507129" y="2384385"/>
            <a:ext cx="300942" cy="981378"/>
          </a:xfrm>
          <a:prstGeom prst="rect">
            <a:avLst/>
          </a:prstGeom>
          <a:solidFill>
            <a:srgbClr val="00B050">
              <a:alpha val="7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27" name="Content Placeholder 2">
            <a:extLst>
              <a:ext uri="{FF2B5EF4-FFF2-40B4-BE49-F238E27FC236}">
                <a16:creationId xmlns:a16="http://schemas.microsoft.com/office/drawing/2014/main" id="{99F82316-AAC4-0F4A-9ED9-3CE230045D77}"/>
              </a:ext>
            </a:extLst>
          </p:cNvPr>
          <p:cNvSpPr txBox="1">
            <a:spLocks/>
          </p:cNvSpPr>
          <p:nvPr/>
        </p:nvSpPr>
        <p:spPr bwMode="auto">
          <a:xfrm>
            <a:off x="70945" y="1694194"/>
            <a:ext cx="2484007" cy="4919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r>
              <a:rPr lang="en-US" sz="1600" kern="0" dirty="0"/>
              <a:t>Shroud loss dominates </a:t>
            </a:r>
          </a:p>
          <a:p>
            <a:r>
              <a:rPr lang="en-US" sz="1600" kern="0" dirty="0"/>
              <a:t>Design </a:t>
            </a:r>
            <a:r>
              <a:rPr lang="en-US" sz="1600" kern="0" dirty="0" err="1"/>
              <a:t>favours</a:t>
            </a:r>
            <a:r>
              <a:rPr lang="en-US" sz="1600" kern="0" dirty="0"/>
              <a:t> large blade spans</a:t>
            </a:r>
          </a:p>
          <a:p>
            <a:r>
              <a:rPr lang="en-US" sz="1600" kern="0" dirty="0"/>
              <a:t>Low flow coefficient increases spans</a:t>
            </a:r>
          </a:p>
          <a:p>
            <a:r>
              <a:rPr lang="en-US" sz="1600" kern="0" dirty="0"/>
              <a:t>Stage loading limited by profile and secondary loss</a:t>
            </a:r>
          </a:p>
          <a:p>
            <a:r>
              <a:rPr lang="en-US" sz="1600" dirty="0"/>
              <a:t>Low aspect ratio reduces trailing edge loss</a:t>
            </a:r>
          </a:p>
          <a:p>
            <a:pPr marL="0" indent="0">
              <a:buNone/>
            </a:pPr>
            <a:endParaRPr lang="en-US" sz="1600" dirty="0"/>
          </a:p>
          <a:p>
            <a:endParaRPr lang="en-US" sz="1600" kern="0" dirty="0"/>
          </a:p>
        </p:txBody>
      </p:sp>
      <p:sp>
        <p:nvSpPr>
          <p:cNvPr id="29" name="Rectangle 28">
            <a:extLst>
              <a:ext uri="{FF2B5EF4-FFF2-40B4-BE49-F238E27FC236}">
                <a16:creationId xmlns:a16="http://schemas.microsoft.com/office/drawing/2014/main" id="{338F49E5-AEB5-314B-BA62-3B0184DB88EB}"/>
              </a:ext>
            </a:extLst>
          </p:cNvPr>
          <p:cNvSpPr/>
          <p:nvPr/>
        </p:nvSpPr>
        <p:spPr bwMode="auto">
          <a:xfrm>
            <a:off x="11575" y="1365813"/>
            <a:ext cx="2484007" cy="2882096"/>
          </a:xfrm>
          <a:prstGeom prst="rect">
            <a:avLst/>
          </a:prstGeom>
          <a:solidFill>
            <a:schemeClr val="bg1">
              <a:alpha val="7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sp>
        <p:nvSpPr>
          <p:cNvPr id="30" name="Title 1">
            <a:extLst>
              <a:ext uri="{FF2B5EF4-FFF2-40B4-BE49-F238E27FC236}">
                <a16:creationId xmlns:a16="http://schemas.microsoft.com/office/drawing/2014/main" id="{FE0B26F2-837E-2B47-B674-75BBE7490880}"/>
              </a:ext>
            </a:extLst>
          </p:cNvPr>
          <p:cNvSpPr txBox="1">
            <a:spLocks/>
          </p:cNvSpPr>
          <p:nvPr/>
        </p:nvSpPr>
        <p:spPr bwMode="auto">
          <a:xfrm>
            <a:off x="382588" y="402471"/>
            <a:ext cx="8375650" cy="38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0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defRPr>
            </a:lvl2pPr>
            <a:lvl3pPr algn="l" rtl="0" eaLnBrk="1" fontAlgn="base" hangingPunct="1">
              <a:spcBef>
                <a:spcPct val="0"/>
              </a:spcBef>
              <a:spcAft>
                <a:spcPct val="0"/>
              </a:spcAft>
              <a:defRPr sz="2600" b="1">
                <a:solidFill>
                  <a:schemeClr val="tx2"/>
                </a:solidFill>
                <a:latin typeface="Arial" charset="0"/>
              </a:defRPr>
            </a:lvl3pPr>
            <a:lvl4pPr algn="l" rtl="0" eaLnBrk="1" fontAlgn="base" hangingPunct="1">
              <a:spcBef>
                <a:spcPct val="0"/>
              </a:spcBef>
              <a:spcAft>
                <a:spcPct val="0"/>
              </a:spcAft>
              <a:defRPr sz="2600" b="1">
                <a:solidFill>
                  <a:schemeClr val="tx2"/>
                </a:solidFill>
                <a:latin typeface="Arial" charset="0"/>
              </a:defRPr>
            </a:lvl4pPr>
            <a:lvl5pPr algn="l" rtl="0" eaLnBrk="1" fontAlgn="base" hangingPunct="1">
              <a:spcBef>
                <a:spcPct val="0"/>
              </a:spcBef>
              <a:spcAft>
                <a:spcPct val="0"/>
              </a:spcAft>
              <a:defRPr sz="2600" b="1">
                <a:solidFill>
                  <a:schemeClr val="tx2"/>
                </a:solidFill>
                <a:latin typeface="Arial" charset="0"/>
              </a:defRPr>
            </a:lvl5pPr>
            <a:lvl6pPr marL="457200" algn="l" rtl="0" eaLnBrk="1" fontAlgn="base" hangingPunct="1">
              <a:spcBef>
                <a:spcPct val="0"/>
              </a:spcBef>
              <a:spcAft>
                <a:spcPct val="0"/>
              </a:spcAft>
              <a:defRPr sz="2600" b="1">
                <a:solidFill>
                  <a:schemeClr val="tx2"/>
                </a:solidFill>
                <a:latin typeface="Arial" charset="0"/>
              </a:defRPr>
            </a:lvl6pPr>
            <a:lvl7pPr marL="914400" algn="l" rtl="0" eaLnBrk="1" fontAlgn="base" hangingPunct="1">
              <a:spcBef>
                <a:spcPct val="0"/>
              </a:spcBef>
              <a:spcAft>
                <a:spcPct val="0"/>
              </a:spcAft>
              <a:defRPr sz="2600" b="1">
                <a:solidFill>
                  <a:schemeClr val="tx2"/>
                </a:solidFill>
                <a:latin typeface="Arial" charset="0"/>
              </a:defRPr>
            </a:lvl7pPr>
            <a:lvl8pPr marL="1371600" algn="l" rtl="0" eaLnBrk="1" fontAlgn="base" hangingPunct="1">
              <a:spcBef>
                <a:spcPct val="0"/>
              </a:spcBef>
              <a:spcAft>
                <a:spcPct val="0"/>
              </a:spcAft>
              <a:defRPr sz="2600" b="1">
                <a:solidFill>
                  <a:schemeClr val="tx2"/>
                </a:solidFill>
                <a:latin typeface="Arial" charset="0"/>
              </a:defRPr>
            </a:lvl8pPr>
            <a:lvl9pPr marL="1828800" algn="l" rtl="0" eaLnBrk="1" fontAlgn="base" hangingPunct="1">
              <a:spcBef>
                <a:spcPct val="0"/>
              </a:spcBef>
              <a:spcAft>
                <a:spcPct val="0"/>
              </a:spcAft>
              <a:defRPr sz="2600" b="1">
                <a:solidFill>
                  <a:schemeClr val="tx2"/>
                </a:solidFill>
                <a:latin typeface="Arial" charset="0"/>
              </a:defRPr>
            </a:lvl9pPr>
          </a:lstStyle>
          <a:p>
            <a:r>
              <a:rPr lang="en-US" kern="0" dirty="0"/>
              <a:t>Shroud loss dominates, so large blade spans reduce loss</a:t>
            </a:r>
          </a:p>
        </p:txBody>
      </p:sp>
    </p:spTree>
    <p:custDataLst>
      <p:tags r:id="rId1"/>
    </p:custDataLst>
    <p:extLst>
      <p:ext uri="{BB962C8B-B14F-4D97-AF65-F5344CB8AC3E}">
        <p14:creationId xmlns:p14="http://schemas.microsoft.com/office/powerpoint/2010/main" val="390200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B17D58D-4EF7-B241-97C4-3C0D77B4FAFD}"/>
              </a:ext>
            </a:extLst>
          </p:cNvPr>
          <p:cNvPicPr>
            <a:picLocks noChangeAspect="1"/>
          </p:cNvPicPr>
          <p:nvPr/>
        </p:nvPicPr>
        <p:blipFill>
          <a:blip r:embed="rId4">
            <a:alphaModFix amt="35000"/>
          </a:blip>
          <a:stretch>
            <a:fillRect/>
          </a:stretch>
        </p:blipFill>
        <p:spPr>
          <a:xfrm>
            <a:off x="2484007" y="4092734"/>
            <a:ext cx="3420000" cy="2039054"/>
          </a:xfrm>
          <a:prstGeom prst="rect">
            <a:avLst/>
          </a:prstGeom>
        </p:spPr>
      </p:pic>
      <p:pic>
        <p:nvPicPr>
          <p:cNvPr id="16" name="Picture 15">
            <a:extLst>
              <a:ext uri="{FF2B5EF4-FFF2-40B4-BE49-F238E27FC236}">
                <a16:creationId xmlns:a16="http://schemas.microsoft.com/office/drawing/2014/main" id="{94B99AEF-7F65-A34D-854D-297D61193FF1}"/>
              </a:ext>
            </a:extLst>
          </p:cNvPr>
          <p:cNvPicPr>
            <a:picLocks noChangeAspect="1"/>
          </p:cNvPicPr>
          <p:nvPr/>
        </p:nvPicPr>
        <p:blipFill>
          <a:blip r:embed="rId5">
            <a:alphaModFix amt="35000"/>
          </a:blip>
          <a:stretch>
            <a:fillRect/>
          </a:stretch>
        </p:blipFill>
        <p:spPr>
          <a:xfrm>
            <a:off x="5712425" y="1752491"/>
            <a:ext cx="3420000" cy="2020431"/>
          </a:xfrm>
          <a:prstGeom prst="rect">
            <a:avLst/>
          </a:prstGeom>
        </p:spPr>
      </p:pic>
      <p:pic>
        <p:nvPicPr>
          <p:cNvPr id="13" name="Picture 12">
            <a:extLst>
              <a:ext uri="{FF2B5EF4-FFF2-40B4-BE49-F238E27FC236}">
                <a16:creationId xmlns:a16="http://schemas.microsoft.com/office/drawing/2014/main" id="{F0B6F4BB-677B-A84C-B355-DBDCC5979BF0}"/>
              </a:ext>
            </a:extLst>
          </p:cNvPr>
          <p:cNvPicPr>
            <a:picLocks noChangeAspect="1"/>
          </p:cNvPicPr>
          <p:nvPr/>
        </p:nvPicPr>
        <p:blipFill>
          <a:blip r:embed="rId6">
            <a:alphaModFix amt="35000"/>
          </a:blip>
          <a:stretch>
            <a:fillRect/>
          </a:stretch>
        </p:blipFill>
        <p:spPr>
          <a:xfrm>
            <a:off x="2440304" y="1739903"/>
            <a:ext cx="3420000" cy="2045608"/>
          </a:xfrm>
          <a:prstGeom prst="rect">
            <a:avLst/>
          </a:prstGeom>
        </p:spPr>
      </p:pic>
      <p:sp>
        <p:nvSpPr>
          <p:cNvPr id="7" name="Slide Number Placeholder 6">
            <a:extLst>
              <a:ext uri="{FF2B5EF4-FFF2-40B4-BE49-F238E27FC236}">
                <a16:creationId xmlns:a16="http://schemas.microsoft.com/office/drawing/2014/main" id="{4B421E73-1BC5-3448-9D9A-F6E235457FAF}"/>
              </a:ext>
            </a:extLst>
          </p:cNvPr>
          <p:cNvSpPr>
            <a:spLocks noGrp="1"/>
          </p:cNvSpPr>
          <p:nvPr>
            <p:ph type="sldNum" sz="quarter" idx="10"/>
          </p:nvPr>
        </p:nvSpPr>
        <p:spPr/>
        <p:txBody>
          <a:bodyPr/>
          <a:lstStyle/>
          <a:p>
            <a:r>
              <a:rPr lang="en-US" dirty="0"/>
              <a:t>6</a:t>
            </a:r>
          </a:p>
        </p:txBody>
      </p:sp>
      <p:sp>
        <p:nvSpPr>
          <p:cNvPr id="25" name="Rectangle 24">
            <a:extLst>
              <a:ext uri="{FF2B5EF4-FFF2-40B4-BE49-F238E27FC236}">
                <a16:creationId xmlns:a16="http://schemas.microsoft.com/office/drawing/2014/main" id="{D451C49E-2FAE-D14B-A13D-4F79A3B257E5}"/>
              </a:ext>
            </a:extLst>
          </p:cNvPr>
          <p:cNvSpPr/>
          <p:nvPr/>
        </p:nvSpPr>
        <p:spPr bwMode="auto">
          <a:xfrm>
            <a:off x="6898041" y="1751476"/>
            <a:ext cx="524384" cy="1612635"/>
          </a:xfrm>
          <a:prstGeom prst="rect">
            <a:avLst/>
          </a:prstGeom>
          <a:solidFill>
            <a:srgbClr val="00B050">
              <a:alpha val="6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26" name="Rectangle 25">
            <a:extLst>
              <a:ext uri="{FF2B5EF4-FFF2-40B4-BE49-F238E27FC236}">
                <a16:creationId xmlns:a16="http://schemas.microsoft.com/office/drawing/2014/main" id="{357FFDFB-756C-4941-9C42-9EF127F9074D}"/>
              </a:ext>
            </a:extLst>
          </p:cNvPr>
          <p:cNvSpPr/>
          <p:nvPr/>
        </p:nvSpPr>
        <p:spPr bwMode="auto">
          <a:xfrm>
            <a:off x="3565003" y="4105323"/>
            <a:ext cx="1006997" cy="1639283"/>
          </a:xfrm>
          <a:prstGeom prst="rect">
            <a:avLst/>
          </a:prstGeom>
          <a:solidFill>
            <a:srgbClr val="00B050">
              <a:alpha val="6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pic>
        <p:nvPicPr>
          <p:cNvPr id="24" name="Picture 23">
            <a:extLst>
              <a:ext uri="{FF2B5EF4-FFF2-40B4-BE49-F238E27FC236}">
                <a16:creationId xmlns:a16="http://schemas.microsoft.com/office/drawing/2014/main" id="{93F530A5-B52C-6045-B81B-9D161AFF4DCE}"/>
              </a:ext>
            </a:extLst>
          </p:cNvPr>
          <p:cNvPicPr>
            <a:picLocks/>
          </p:cNvPicPr>
          <p:nvPr/>
        </p:nvPicPr>
        <p:blipFill>
          <a:blip r:embed="rId7"/>
          <a:stretch>
            <a:fillRect/>
          </a:stretch>
        </p:blipFill>
        <p:spPr>
          <a:xfrm>
            <a:off x="5770300" y="4042798"/>
            <a:ext cx="3240000" cy="2055600"/>
          </a:xfrm>
          <a:prstGeom prst="rect">
            <a:avLst/>
          </a:prstGeom>
        </p:spPr>
      </p:pic>
      <p:sp>
        <p:nvSpPr>
          <p:cNvPr id="15" name="Content Placeholder 2">
            <a:extLst>
              <a:ext uri="{FF2B5EF4-FFF2-40B4-BE49-F238E27FC236}">
                <a16:creationId xmlns:a16="http://schemas.microsoft.com/office/drawing/2014/main" id="{635E4A78-2F8B-8E47-B986-4B1DE43E5A80}"/>
              </a:ext>
            </a:extLst>
          </p:cNvPr>
          <p:cNvSpPr txBox="1">
            <a:spLocks/>
          </p:cNvSpPr>
          <p:nvPr/>
        </p:nvSpPr>
        <p:spPr bwMode="auto">
          <a:xfrm>
            <a:off x="70945" y="1694194"/>
            <a:ext cx="2484007" cy="4919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r>
              <a:rPr lang="en-US" sz="1600" kern="0" dirty="0"/>
              <a:t>Shroud loss dominates </a:t>
            </a:r>
          </a:p>
          <a:p>
            <a:r>
              <a:rPr lang="en-US" sz="1600" kern="0" dirty="0"/>
              <a:t>Design </a:t>
            </a:r>
            <a:r>
              <a:rPr lang="en-US" sz="1600" kern="0" dirty="0" err="1"/>
              <a:t>favours</a:t>
            </a:r>
            <a:r>
              <a:rPr lang="en-US" sz="1600" kern="0" dirty="0"/>
              <a:t> large blade spans</a:t>
            </a:r>
          </a:p>
          <a:p>
            <a:r>
              <a:rPr lang="en-US" sz="1600" kern="0" dirty="0"/>
              <a:t>Low flow coefficient increases spans</a:t>
            </a:r>
          </a:p>
          <a:p>
            <a:r>
              <a:rPr lang="en-US" sz="1600" kern="0" dirty="0"/>
              <a:t>Stage loading limited by profile and secondary loss</a:t>
            </a:r>
          </a:p>
          <a:p>
            <a:r>
              <a:rPr lang="en-US" sz="1600" dirty="0"/>
              <a:t>Low aspect ratio reduces trailing edge loss</a:t>
            </a:r>
          </a:p>
          <a:p>
            <a:r>
              <a:rPr lang="en-US" sz="1600" dirty="0"/>
              <a:t>More stages means smaller radius, allowing thicker annulus</a:t>
            </a:r>
          </a:p>
          <a:p>
            <a:pPr marL="0" indent="0">
              <a:buNone/>
            </a:pPr>
            <a:endParaRPr lang="en-US" sz="1600" dirty="0"/>
          </a:p>
          <a:p>
            <a:endParaRPr lang="en-US" sz="1600" kern="0" dirty="0"/>
          </a:p>
        </p:txBody>
      </p:sp>
      <p:sp>
        <p:nvSpPr>
          <p:cNvPr id="18" name="Rectangle 17">
            <a:extLst>
              <a:ext uri="{FF2B5EF4-FFF2-40B4-BE49-F238E27FC236}">
                <a16:creationId xmlns:a16="http://schemas.microsoft.com/office/drawing/2014/main" id="{ED6FB0F6-8E8A-114C-9A8B-1AA87B10FBFE}"/>
              </a:ext>
            </a:extLst>
          </p:cNvPr>
          <p:cNvSpPr/>
          <p:nvPr/>
        </p:nvSpPr>
        <p:spPr bwMode="auto">
          <a:xfrm>
            <a:off x="3507129" y="2384385"/>
            <a:ext cx="300942" cy="981378"/>
          </a:xfrm>
          <a:prstGeom prst="rect">
            <a:avLst/>
          </a:prstGeom>
          <a:solidFill>
            <a:srgbClr val="00B050">
              <a:alpha val="6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a:endParaRPr lang="en-GB" sz="1800">
              <a:solidFill>
                <a:srgbClr val="000000"/>
              </a:solidFill>
            </a:endParaRPr>
          </a:p>
        </p:txBody>
      </p:sp>
      <p:sp>
        <p:nvSpPr>
          <p:cNvPr id="19" name="Rectangle 18">
            <a:extLst>
              <a:ext uri="{FF2B5EF4-FFF2-40B4-BE49-F238E27FC236}">
                <a16:creationId xmlns:a16="http://schemas.microsoft.com/office/drawing/2014/main" id="{1B9FD12B-3821-D94D-B05E-38CC3355A513}"/>
              </a:ext>
            </a:extLst>
          </p:cNvPr>
          <p:cNvSpPr/>
          <p:nvPr/>
        </p:nvSpPr>
        <p:spPr bwMode="auto">
          <a:xfrm>
            <a:off x="11575" y="1365813"/>
            <a:ext cx="2484007" cy="3703898"/>
          </a:xfrm>
          <a:prstGeom prst="rect">
            <a:avLst/>
          </a:prstGeom>
          <a:solidFill>
            <a:schemeClr val="bg1">
              <a:alpha val="7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sp>
        <p:nvSpPr>
          <p:cNvPr id="23" name="Title 1">
            <a:extLst>
              <a:ext uri="{FF2B5EF4-FFF2-40B4-BE49-F238E27FC236}">
                <a16:creationId xmlns:a16="http://schemas.microsoft.com/office/drawing/2014/main" id="{25827446-9A3C-7C49-A0E2-0F1E91EEB2A9}"/>
              </a:ext>
            </a:extLst>
          </p:cNvPr>
          <p:cNvSpPr txBox="1">
            <a:spLocks/>
          </p:cNvSpPr>
          <p:nvPr/>
        </p:nvSpPr>
        <p:spPr bwMode="auto">
          <a:xfrm>
            <a:off x="382588" y="402471"/>
            <a:ext cx="8375650" cy="38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0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defRPr>
            </a:lvl2pPr>
            <a:lvl3pPr algn="l" rtl="0" eaLnBrk="1" fontAlgn="base" hangingPunct="1">
              <a:spcBef>
                <a:spcPct val="0"/>
              </a:spcBef>
              <a:spcAft>
                <a:spcPct val="0"/>
              </a:spcAft>
              <a:defRPr sz="2600" b="1">
                <a:solidFill>
                  <a:schemeClr val="tx2"/>
                </a:solidFill>
                <a:latin typeface="Arial" charset="0"/>
              </a:defRPr>
            </a:lvl3pPr>
            <a:lvl4pPr algn="l" rtl="0" eaLnBrk="1" fontAlgn="base" hangingPunct="1">
              <a:spcBef>
                <a:spcPct val="0"/>
              </a:spcBef>
              <a:spcAft>
                <a:spcPct val="0"/>
              </a:spcAft>
              <a:defRPr sz="2600" b="1">
                <a:solidFill>
                  <a:schemeClr val="tx2"/>
                </a:solidFill>
                <a:latin typeface="Arial" charset="0"/>
              </a:defRPr>
            </a:lvl4pPr>
            <a:lvl5pPr algn="l" rtl="0" eaLnBrk="1" fontAlgn="base" hangingPunct="1">
              <a:spcBef>
                <a:spcPct val="0"/>
              </a:spcBef>
              <a:spcAft>
                <a:spcPct val="0"/>
              </a:spcAft>
              <a:defRPr sz="2600" b="1">
                <a:solidFill>
                  <a:schemeClr val="tx2"/>
                </a:solidFill>
                <a:latin typeface="Arial" charset="0"/>
              </a:defRPr>
            </a:lvl5pPr>
            <a:lvl6pPr marL="457200" algn="l" rtl="0" eaLnBrk="1" fontAlgn="base" hangingPunct="1">
              <a:spcBef>
                <a:spcPct val="0"/>
              </a:spcBef>
              <a:spcAft>
                <a:spcPct val="0"/>
              </a:spcAft>
              <a:defRPr sz="2600" b="1">
                <a:solidFill>
                  <a:schemeClr val="tx2"/>
                </a:solidFill>
                <a:latin typeface="Arial" charset="0"/>
              </a:defRPr>
            </a:lvl6pPr>
            <a:lvl7pPr marL="914400" algn="l" rtl="0" eaLnBrk="1" fontAlgn="base" hangingPunct="1">
              <a:spcBef>
                <a:spcPct val="0"/>
              </a:spcBef>
              <a:spcAft>
                <a:spcPct val="0"/>
              </a:spcAft>
              <a:defRPr sz="2600" b="1">
                <a:solidFill>
                  <a:schemeClr val="tx2"/>
                </a:solidFill>
                <a:latin typeface="Arial" charset="0"/>
              </a:defRPr>
            </a:lvl7pPr>
            <a:lvl8pPr marL="1371600" algn="l" rtl="0" eaLnBrk="1" fontAlgn="base" hangingPunct="1">
              <a:spcBef>
                <a:spcPct val="0"/>
              </a:spcBef>
              <a:spcAft>
                <a:spcPct val="0"/>
              </a:spcAft>
              <a:defRPr sz="2600" b="1">
                <a:solidFill>
                  <a:schemeClr val="tx2"/>
                </a:solidFill>
                <a:latin typeface="Arial" charset="0"/>
              </a:defRPr>
            </a:lvl8pPr>
            <a:lvl9pPr marL="1828800" algn="l" rtl="0" eaLnBrk="1" fontAlgn="base" hangingPunct="1">
              <a:spcBef>
                <a:spcPct val="0"/>
              </a:spcBef>
              <a:spcAft>
                <a:spcPct val="0"/>
              </a:spcAft>
              <a:defRPr sz="2600" b="1">
                <a:solidFill>
                  <a:schemeClr val="tx2"/>
                </a:solidFill>
                <a:latin typeface="Arial" charset="0"/>
              </a:defRPr>
            </a:lvl9pPr>
          </a:lstStyle>
          <a:p>
            <a:r>
              <a:rPr lang="en-US" kern="0" dirty="0"/>
              <a:t>Shroud loss dominates, so large blade spans reduce loss</a:t>
            </a:r>
          </a:p>
        </p:txBody>
      </p:sp>
    </p:spTree>
    <p:custDataLst>
      <p:tags r:id="rId1"/>
    </p:custDataLst>
    <p:extLst>
      <p:ext uri="{BB962C8B-B14F-4D97-AF65-F5344CB8AC3E}">
        <p14:creationId xmlns:p14="http://schemas.microsoft.com/office/powerpoint/2010/main" val="3853019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9" name="Picture 8">
            <a:extLst>
              <a:ext uri="{FF2B5EF4-FFF2-40B4-BE49-F238E27FC236}">
                <a16:creationId xmlns:a16="http://schemas.microsoft.com/office/drawing/2014/main" id="{2BD9542A-28BD-024D-AE85-973B1C14277F}"/>
              </a:ext>
            </a:extLst>
          </p:cNvPr>
          <p:cNvPicPr>
            <a:picLocks/>
          </p:cNvPicPr>
          <p:nvPr/>
        </p:nvPicPr>
        <p:blipFill>
          <a:blip r:embed="rId3"/>
          <a:stretch>
            <a:fillRect/>
          </a:stretch>
        </p:blipFill>
        <p:spPr>
          <a:xfrm>
            <a:off x="319996" y="1736042"/>
            <a:ext cx="8730000" cy="4715558"/>
          </a:xfrm>
          <a:prstGeom prst="rect">
            <a:avLst/>
          </a:prstGeom>
        </p:spPr>
      </p:pic>
      <p:pic>
        <p:nvPicPr>
          <p:cNvPr id="11" name="Picture 10">
            <a:extLst>
              <a:ext uri="{FF2B5EF4-FFF2-40B4-BE49-F238E27FC236}">
                <a16:creationId xmlns:a16="http://schemas.microsoft.com/office/drawing/2014/main" id="{8B0BDBC5-14D6-0645-9226-78C0E9643186}"/>
              </a:ext>
            </a:extLst>
          </p:cNvPr>
          <p:cNvPicPr>
            <a:picLocks noChangeAspect="1"/>
          </p:cNvPicPr>
          <p:nvPr/>
        </p:nvPicPr>
        <p:blipFill rotWithShape="1">
          <a:blip r:embed="rId4"/>
          <a:srcRect l="84877" t="3804" r="868" b="-3804"/>
          <a:stretch/>
        </p:blipFill>
        <p:spPr>
          <a:xfrm>
            <a:off x="7760043" y="1914988"/>
            <a:ext cx="1246315" cy="4716000"/>
          </a:xfrm>
          <a:prstGeom prst="rect">
            <a:avLst/>
          </a:prstGeom>
        </p:spPr>
      </p:pic>
    </p:spTree>
    <p:extLst>
      <p:ext uri="{BB962C8B-B14F-4D97-AF65-F5344CB8AC3E}">
        <p14:creationId xmlns:p14="http://schemas.microsoft.com/office/powerpoint/2010/main" val="2119374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642506F-477F-A04B-9B85-36C025575BCA}"/>
              </a:ext>
            </a:extLst>
          </p:cNvPr>
          <p:cNvPicPr>
            <a:picLocks noChangeAspect="1"/>
          </p:cNvPicPr>
          <p:nvPr/>
        </p:nvPicPr>
        <p:blipFill rotWithShape="1">
          <a:blip r:embed="rId3">
            <a:alphaModFix amt="20000"/>
          </a:blip>
          <a:srcRect l="84877" t="3804" r="868" b="-3804"/>
          <a:stretch/>
        </p:blipFill>
        <p:spPr>
          <a:xfrm>
            <a:off x="7760043" y="1914988"/>
            <a:ext cx="1246315" cy="4716000"/>
          </a:xfrm>
          <a:prstGeom prst="rect">
            <a:avLst/>
          </a:prstGeom>
        </p:spPr>
      </p:pic>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8" name="Picture 7">
            <a:extLst>
              <a:ext uri="{FF2B5EF4-FFF2-40B4-BE49-F238E27FC236}">
                <a16:creationId xmlns:a16="http://schemas.microsoft.com/office/drawing/2014/main" id="{1344E463-3925-634B-A532-56F135722701}"/>
              </a:ext>
            </a:extLst>
          </p:cNvPr>
          <p:cNvPicPr>
            <a:picLocks noChangeAspect="1"/>
          </p:cNvPicPr>
          <p:nvPr/>
        </p:nvPicPr>
        <p:blipFill rotWithShape="1">
          <a:blip r:embed="rId4"/>
          <a:srcRect r="11601"/>
          <a:stretch/>
        </p:blipFill>
        <p:spPr>
          <a:xfrm>
            <a:off x="329980" y="1732001"/>
            <a:ext cx="7416000" cy="4710667"/>
          </a:xfrm>
          <a:prstGeom prst="rect">
            <a:avLst/>
          </a:prstGeom>
        </p:spPr>
      </p:pic>
      <p:pic>
        <p:nvPicPr>
          <p:cNvPr id="10" name="Picture 9">
            <a:extLst>
              <a:ext uri="{FF2B5EF4-FFF2-40B4-BE49-F238E27FC236}">
                <a16:creationId xmlns:a16="http://schemas.microsoft.com/office/drawing/2014/main" id="{2AB728DB-DD11-FF46-93E1-5F1A05E5CF1E}"/>
              </a:ext>
            </a:extLst>
          </p:cNvPr>
          <p:cNvPicPr>
            <a:picLocks/>
          </p:cNvPicPr>
          <p:nvPr/>
        </p:nvPicPr>
        <p:blipFill rotWithShape="1">
          <a:blip r:embed="rId5">
            <a:alphaModFix amt="20000"/>
          </a:blip>
          <a:srcRect l="12054" t="2491" r="17152" b="14966"/>
          <a:stretch/>
        </p:blipFill>
        <p:spPr>
          <a:xfrm>
            <a:off x="1383957" y="1853514"/>
            <a:ext cx="6180360" cy="3892378"/>
          </a:xfrm>
          <a:prstGeom prst="rect">
            <a:avLst/>
          </a:prstGeom>
        </p:spPr>
      </p:pic>
      <p:pic>
        <p:nvPicPr>
          <p:cNvPr id="13" name="Picture 12">
            <a:extLst>
              <a:ext uri="{FF2B5EF4-FFF2-40B4-BE49-F238E27FC236}">
                <a16:creationId xmlns:a16="http://schemas.microsoft.com/office/drawing/2014/main" id="{032A14FD-E5C5-8543-A606-70A75DD3F1FA}"/>
              </a:ext>
            </a:extLst>
          </p:cNvPr>
          <p:cNvPicPr>
            <a:picLocks noChangeAspect="1"/>
          </p:cNvPicPr>
          <p:nvPr/>
        </p:nvPicPr>
        <p:blipFill rotWithShape="1">
          <a:blip r:embed="rId3">
            <a:alphaModFix/>
          </a:blip>
          <a:srcRect l="84877" t="3804" r="868" b="75839"/>
          <a:stretch/>
        </p:blipFill>
        <p:spPr>
          <a:xfrm>
            <a:off x="7760043" y="1914988"/>
            <a:ext cx="1246315" cy="960017"/>
          </a:xfrm>
          <a:prstGeom prst="rect">
            <a:avLst/>
          </a:prstGeom>
        </p:spPr>
      </p:pic>
    </p:spTree>
    <p:extLst>
      <p:ext uri="{BB962C8B-B14F-4D97-AF65-F5344CB8AC3E}">
        <p14:creationId xmlns:p14="http://schemas.microsoft.com/office/powerpoint/2010/main" val="2480444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10" name="Picture 9">
            <a:extLst>
              <a:ext uri="{FF2B5EF4-FFF2-40B4-BE49-F238E27FC236}">
                <a16:creationId xmlns:a16="http://schemas.microsoft.com/office/drawing/2014/main" id="{DE0BE721-24F6-5147-9D61-465159A0EE1B}"/>
              </a:ext>
            </a:extLst>
          </p:cNvPr>
          <p:cNvPicPr>
            <a:picLocks/>
          </p:cNvPicPr>
          <p:nvPr/>
        </p:nvPicPr>
        <p:blipFill rotWithShape="1">
          <a:blip r:embed="rId3"/>
          <a:srcRect r="11897"/>
          <a:stretch/>
        </p:blipFill>
        <p:spPr>
          <a:xfrm>
            <a:off x="331571" y="1732001"/>
            <a:ext cx="7398000" cy="4719600"/>
          </a:xfrm>
          <a:prstGeom prst="rect">
            <a:avLst/>
          </a:prstGeom>
        </p:spPr>
      </p:pic>
      <p:pic>
        <p:nvPicPr>
          <p:cNvPr id="13" name="Picture 12">
            <a:extLst>
              <a:ext uri="{FF2B5EF4-FFF2-40B4-BE49-F238E27FC236}">
                <a16:creationId xmlns:a16="http://schemas.microsoft.com/office/drawing/2014/main" id="{62036485-EE62-B641-AD94-ABC9F449777D}"/>
              </a:ext>
            </a:extLst>
          </p:cNvPr>
          <p:cNvPicPr>
            <a:picLocks/>
          </p:cNvPicPr>
          <p:nvPr/>
        </p:nvPicPr>
        <p:blipFill rotWithShape="1">
          <a:blip r:embed="rId4">
            <a:alphaModFix amt="20000"/>
          </a:blip>
          <a:srcRect l="12054" t="2491" r="17152" b="14966"/>
          <a:stretch/>
        </p:blipFill>
        <p:spPr>
          <a:xfrm>
            <a:off x="1383957" y="1853514"/>
            <a:ext cx="6180360" cy="3892378"/>
          </a:xfrm>
          <a:prstGeom prst="rect">
            <a:avLst/>
          </a:prstGeom>
        </p:spPr>
      </p:pic>
      <p:pic>
        <p:nvPicPr>
          <p:cNvPr id="16" name="Picture 15">
            <a:extLst>
              <a:ext uri="{FF2B5EF4-FFF2-40B4-BE49-F238E27FC236}">
                <a16:creationId xmlns:a16="http://schemas.microsoft.com/office/drawing/2014/main" id="{B1E51388-8A1D-3048-BF55-91D7BEFE79B3}"/>
              </a:ext>
            </a:extLst>
          </p:cNvPr>
          <p:cNvPicPr>
            <a:picLocks noChangeAspect="1"/>
          </p:cNvPicPr>
          <p:nvPr/>
        </p:nvPicPr>
        <p:blipFill rotWithShape="1">
          <a:blip r:embed="rId5">
            <a:alphaModFix amt="20000"/>
          </a:blip>
          <a:srcRect l="84877" t="3804" r="868" b="-3804"/>
          <a:stretch/>
        </p:blipFill>
        <p:spPr>
          <a:xfrm>
            <a:off x="7760043" y="1914988"/>
            <a:ext cx="1246315" cy="4716000"/>
          </a:xfrm>
          <a:prstGeom prst="rect">
            <a:avLst/>
          </a:prstGeom>
        </p:spPr>
      </p:pic>
      <p:pic>
        <p:nvPicPr>
          <p:cNvPr id="17" name="Picture 16">
            <a:extLst>
              <a:ext uri="{FF2B5EF4-FFF2-40B4-BE49-F238E27FC236}">
                <a16:creationId xmlns:a16="http://schemas.microsoft.com/office/drawing/2014/main" id="{26E38CF1-760E-044C-8FD0-3C761D6F6CA9}"/>
              </a:ext>
            </a:extLst>
          </p:cNvPr>
          <p:cNvPicPr>
            <a:picLocks noChangeAspect="1"/>
          </p:cNvPicPr>
          <p:nvPr/>
        </p:nvPicPr>
        <p:blipFill rotWithShape="1">
          <a:blip r:embed="rId5">
            <a:alphaModFix/>
          </a:blip>
          <a:srcRect l="84877" t="36476" r="868" b="51471"/>
          <a:stretch/>
        </p:blipFill>
        <p:spPr>
          <a:xfrm>
            <a:off x="7764032" y="3454494"/>
            <a:ext cx="1246315" cy="568412"/>
          </a:xfrm>
          <a:prstGeom prst="rect">
            <a:avLst/>
          </a:prstGeom>
        </p:spPr>
      </p:pic>
    </p:spTree>
    <p:extLst>
      <p:ext uri="{BB962C8B-B14F-4D97-AF65-F5344CB8AC3E}">
        <p14:creationId xmlns:p14="http://schemas.microsoft.com/office/powerpoint/2010/main" val="3118081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5" name="Picture 4">
            <a:extLst>
              <a:ext uri="{FF2B5EF4-FFF2-40B4-BE49-F238E27FC236}">
                <a16:creationId xmlns:a16="http://schemas.microsoft.com/office/drawing/2014/main" id="{43F6B6E0-060A-F241-8A23-DB79EAA742C3}"/>
              </a:ext>
            </a:extLst>
          </p:cNvPr>
          <p:cNvPicPr>
            <a:picLocks/>
          </p:cNvPicPr>
          <p:nvPr/>
        </p:nvPicPr>
        <p:blipFill rotWithShape="1">
          <a:blip r:embed="rId3"/>
          <a:srcRect r="15102"/>
          <a:stretch/>
        </p:blipFill>
        <p:spPr>
          <a:xfrm>
            <a:off x="331572" y="1732000"/>
            <a:ext cx="7416000" cy="4719600"/>
          </a:xfrm>
          <a:prstGeom prst="rect">
            <a:avLst/>
          </a:prstGeom>
        </p:spPr>
      </p:pic>
      <p:pic>
        <p:nvPicPr>
          <p:cNvPr id="8" name="Picture 7">
            <a:extLst>
              <a:ext uri="{FF2B5EF4-FFF2-40B4-BE49-F238E27FC236}">
                <a16:creationId xmlns:a16="http://schemas.microsoft.com/office/drawing/2014/main" id="{05F9AAFB-2EC5-5F47-89BA-C5A8598D4070}"/>
              </a:ext>
            </a:extLst>
          </p:cNvPr>
          <p:cNvPicPr>
            <a:picLocks/>
          </p:cNvPicPr>
          <p:nvPr/>
        </p:nvPicPr>
        <p:blipFill rotWithShape="1">
          <a:blip r:embed="rId4">
            <a:alphaModFix amt="20000"/>
          </a:blip>
          <a:srcRect l="12054" t="2491" r="17152" b="14966"/>
          <a:stretch/>
        </p:blipFill>
        <p:spPr>
          <a:xfrm>
            <a:off x="1383957" y="1853514"/>
            <a:ext cx="6180360" cy="3892378"/>
          </a:xfrm>
          <a:prstGeom prst="rect">
            <a:avLst/>
          </a:prstGeom>
        </p:spPr>
      </p:pic>
      <p:pic>
        <p:nvPicPr>
          <p:cNvPr id="13" name="Picture 12">
            <a:extLst>
              <a:ext uri="{FF2B5EF4-FFF2-40B4-BE49-F238E27FC236}">
                <a16:creationId xmlns:a16="http://schemas.microsoft.com/office/drawing/2014/main" id="{E8B36939-7943-164B-91A7-A1F1B905EE6D}"/>
              </a:ext>
            </a:extLst>
          </p:cNvPr>
          <p:cNvPicPr>
            <a:picLocks noChangeAspect="1"/>
          </p:cNvPicPr>
          <p:nvPr/>
        </p:nvPicPr>
        <p:blipFill rotWithShape="1">
          <a:blip r:embed="rId5">
            <a:alphaModFix amt="20000"/>
          </a:blip>
          <a:srcRect l="84877" t="3804" r="868" b="-3804"/>
          <a:stretch/>
        </p:blipFill>
        <p:spPr>
          <a:xfrm>
            <a:off x="7760043" y="1914988"/>
            <a:ext cx="1246315" cy="4716000"/>
          </a:xfrm>
          <a:prstGeom prst="rect">
            <a:avLst/>
          </a:prstGeom>
        </p:spPr>
      </p:pic>
      <p:pic>
        <p:nvPicPr>
          <p:cNvPr id="14" name="Picture 13">
            <a:extLst>
              <a:ext uri="{FF2B5EF4-FFF2-40B4-BE49-F238E27FC236}">
                <a16:creationId xmlns:a16="http://schemas.microsoft.com/office/drawing/2014/main" id="{E8A4188F-C973-3140-86D7-7AEDB28D6B0B}"/>
              </a:ext>
            </a:extLst>
          </p:cNvPr>
          <p:cNvPicPr>
            <a:picLocks noChangeAspect="1"/>
          </p:cNvPicPr>
          <p:nvPr/>
        </p:nvPicPr>
        <p:blipFill rotWithShape="1">
          <a:blip r:embed="rId5">
            <a:alphaModFix/>
          </a:blip>
          <a:srcRect l="84877" t="65821" r="868" b="21677"/>
          <a:stretch/>
        </p:blipFill>
        <p:spPr>
          <a:xfrm>
            <a:off x="7761759" y="4843849"/>
            <a:ext cx="1246315" cy="589575"/>
          </a:xfrm>
          <a:prstGeom prst="rect">
            <a:avLst/>
          </a:prstGeom>
        </p:spPr>
      </p:pic>
    </p:spTree>
    <p:extLst>
      <p:ext uri="{BB962C8B-B14F-4D97-AF65-F5344CB8AC3E}">
        <p14:creationId xmlns:p14="http://schemas.microsoft.com/office/powerpoint/2010/main" val="419587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5" name="Picture 4">
            <a:extLst>
              <a:ext uri="{FF2B5EF4-FFF2-40B4-BE49-F238E27FC236}">
                <a16:creationId xmlns:a16="http://schemas.microsoft.com/office/drawing/2014/main" id="{9941CC39-1974-8843-A130-B6CEDBDA6795}"/>
              </a:ext>
            </a:extLst>
          </p:cNvPr>
          <p:cNvPicPr>
            <a:picLocks noChangeAspect="1"/>
          </p:cNvPicPr>
          <p:nvPr/>
        </p:nvPicPr>
        <p:blipFill rotWithShape="1">
          <a:blip r:embed="rId3"/>
          <a:srcRect r="11601"/>
          <a:stretch/>
        </p:blipFill>
        <p:spPr>
          <a:xfrm>
            <a:off x="329980" y="1732000"/>
            <a:ext cx="7430063" cy="4719600"/>
          </a:xfrm>
          <a:prstGeom prst="rect">
            <a:avLst/>
          </a:prstGeom>
        </p:spPr>
      </p:pic>
      <p:pic>
        <p:nvPicPr>
          <p:cNvPr id="8" name="Picture 7">
            <a:extLst>
              <a:ext uri="{FF2B5EF4-FFF2-40B4-BE49-F238E27FC236}">
                <a16:creationId xmlns:a16="http://schemas.microsoft.com/office/drawing/2014/main" id="{CABC6B21-7C1D-DC41-85C4-D15CFCF7318A}"/>
              </a:ext>
            </a:extLst>
          </p:cNvPr>
          <p:cNvPicPr>
            <a:picLocks/>
          </p:cNvPicPr>
          <p:nvPr/>
        </p:nvPicPr>
        <p:blipFill rotWithShape="1">
          <a:blip r:embed="rId4">
            <a:alphaModFix amt="20000"/>
          </a:blip>
          <a:srcRect l="12054" t="2491" r="17152" b="14966"/>
          <a:stretch/>
        </p:blipFill>
        <p:spPr>
          <a:xfrm>
            <a:off x="1383957" y="1853514"/>
            <a:ext cx="6180360" cy="3892378"/>
          </a:xfrm>
          <a:prstGeom prst="rect">
            <a:avLst/>
          </a:prstGeom>
        </p:spPr>
      </p:pic>
      <p:pic>
        <p:nvPicPr>
          <p:cNvPr id="11" name="Picture 10">
            <a:extLst>
              <a:ext uri="{FF2B5EF4-FFF2-40B4-BE49-F238E27FC236}">
                <a16:creationId xmlns:a16="http://schemas.microsoft.com/office/drawing/2014/main" id="{EA964543-AE13-4349-8E5B-5900D1206DCC}"/>
              </a:ext>
            </a:extLst>
          </p:cNvPr>
          <p:cNvPicPr>
            <a:picLocks noChangeAspect="1"/>
          </p:cNvPicPr>
          <p:nvPr/>
        </p:nvPicPr>
        <p:blipFill rotWithShape="1">
          <a:blip r:embed="rId5">
            <a:alphaModFix amt="20000"/>
          </a:blip>
          <a:srcRect l="84877" t="3804" r="868" b="-3804"/>
          <a:stretch/>
        </p:blipFill>
        <p:spPr>
          <a:xfrm>
            <a:off x="7760043" y="1914988"/>
            <a:ext cx="1246315" cy="4716000"/>
          </a:xfrm>
          <a:prstGeom prst="rect">
            <a:avLst/>
          </a:prstGeom>
        </p:spPr>
      </p:pic>
      <p:pic>
        <p:nvPicPr>
          <p:cNvPr id="12" name="Picture 11">
            <a:extLst>
              <a:ext uri="{FF2B5EF4-FFF2-40B4-BE49-F238E27FC236}">
                <a16:creationId xmlns:a16="http://schemas.microsoft.com/office/drawing/2014/main" id="{E3947DCB-A75A-C040-88EF-350C78BF1669}"/>
              </a:ext>
            </a:extLst>
          </p:cNvPr>
          <p:cNvPicPr>
            <a:picLocks noChangeAspect="1"/>
          </p:cNvPicPr>
          <p:nvPr/>
        </p:nvPicPr>
        <p:blipFill rotWithShape="1">
          <a:blip r:embed="rId5">
            <a:alphaModFix/>
          </a:blip>
          <a:srcRect l="84877" t="24946" r="868" b="62477"/>
          <a:stretch/>
        </p:blipFill>
        <p:spPr>
          <a:xfrm>
            <a:off x="7753239" y="2910018"/>
            <a:ext cx="1246315" cy="593124"/>
          </a:xfrm>
          <a:prstGeom prst="rect">
            <a:avLst/>
          </a:prstGeom>
        </p:spPr>
      </p:pic>
    </p:spTree>
    <p:extLst>
      <p:ext uri="{BB962C8B-B14F-4D97-AF65-F5344CB8AC3E}">
        <p14:creationId xmlns:p14="http://schemas.microsoft.com/office/powerpoint/2010/main" val="3494455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5" name="Picture 4">
            <a:extLst>
              <a:ext uri="{FF2B5EF4-FFF2-40B4-BE49-F238E27FC236}">
                <a16:creationId xmlns:a16="http://schemas.microsoft.com/office/drawing/2014/main" id="{67A5C544-2EF5-FD4C-8D51-C5A8D3540F31}"/>
              </a:ext>
            </a:extLst>
          </p:cNvPr>
          <p:cNvPicPr>
            <a:picLocks noChangeAspect="1"/>
          </p:cNvPicPr>
          <p:nvPr/>
        </p:nvPicPr>
        <p:blipFill rotWithShape="1">
          <a:blip r:embed="rId3"/>
          <a:srcRect r="13952"/>
          <a:stretch/>
        </p:blipFill>
        <p:spPr>
          <a:xfrm>
            <a:off x="330842" y="1732000"/>
            <a:ext cx="7392131" cy="4719600"/>
          </a:xfrm>
          <a:prstGeom prst="rect">
            <a:avLst/>
          </a:prstGeom>
        </p:spPr>
      </p:pic>
      <p:pic>
        <p:nvPicPr>
          <p:cNvPr id="8" name="Picture 7">
            <a:extLst>
              <a:ext uri="{FF2B5EF4-FFF2-40B4-BE49-F238E27FC236}">
                <a16:creationId xmlns:a16="http://schemas.microsoft.com/office/drawing/2014/main" id="{3B27276B-1BE3-2D43-9652-D502D6B5F084}"/>
              </a:ext>
            </a:extLst>
          </p:cNvPr>
          <p:cNvPicPr>
            <a:picLocks/>
          </p:cNvPicPr>
          <p:nvPr/>
        </p:nvPicPr>
        <p:blipFill rotWithShape="1">
          <a:blip r:embed="rId4">
            <a:alphaModFix amt="20000"/>
          </a:blip>
          <a:srcRect l="12054" t="2491" r="17152" b="14966"/>
          <a:stretch/>
        </p:blipFill>
        <p:spPr>
          <a:xfrm>
            <a:off x="1383957" y="1853514"/>
            <a:ext cx="6180360" cy="3892378"/>
          </a:xfrm>
          <a:prstGeom prst="rect">
            <a:avLst/>
          </a:prstGeom>
        </p:spPr>
      </p:pic>
      <p:pic>
        <p:nvPicPr>
          <p:cNvPr id="14" name="Picture 13">
            <a:extLst>
              <a:ext uri="{FF2B5EF4-FFF2-40B4-BE49-F238E27FC236}">
                <a16:creationId xmlns:a16="http://schemas.microsoft.com/office/drawing/2014/main" id="{AA91F372-2BC5-8A4D-AF3D-54F5D4956118}"/>
              </a:ext>
            </a:extLst>
          </p:cNvPr>
          <p:cNvPicPr>
            <a:picLocks noChangeAspect="1"/>
          </p:cNvPicPr>
          <p:nvPr/>
        </p:nvPicPr>
        <p:blipFill rotWithShape="1">
          <a:blip r:embed="rId5">
            <a:alphaModFix amt="20000"/>
          </a:blip>
          <a:srcRect l="84877" t="3804" r="868" b="-3804"/>
          <a:stretch/>
        </p:blipFill>
        <p:spPr>
          <a:xfrm>
            <a:off x="7760043" y="1914988"/>
            <a:ext cx="1246315" cy="4716000"/>
          </a:xfrm>
          <a:prstGeom prst="rect">
            <a:avLst/>
          </a:prstGeom>
        </p:spPr>
      </p:pic>
      <p:pic>
        <p:nvPicPr>
          <p:cNvPr id="15" name="Picture 14">
            <a:extLst>
              <a:ext uri="{FF2B5EF4-FFF2-40B4-BE49-F238E27FC236}">
                <a16:creationId xmlns:a16="http://schemas.microsoft.com/office/drawing/2014/main" id="{D5429BE8-C495-0A48-8A51-2AB4D0DE7710}"/>
              </a:ext>
            </a:extLst>
          </p:cNvPr>
          <p:cNvPicPr>
            <a:picLocks noChangeAspect="1"/>
          </p:cNvPicPr>
          <p:nvPr/>
        </p:nvPicPr>
        <p:blipFill rotWithShape="1">
          <a:blip r:embed="rId5">
            <a:alphaModFix/>
          </a:blip>
          <a:srcRect l="84877" t="49315" r="868" b="39418"/>
          <a:stretch/>
        </p:blipFill>
        <p:spPr>
          <a:xfrm>
            <a:off x="7755167" y="4067086"/>
            <a:ext cx="1246315" cy="531341"/>
          </a:xfrm>
          <a:prstGeom prst="rect">
            <a:avLst/>
          </a:prstGeom>
        </p:spPr>
      </p:pic>
    </p:spTree>
    <p:extLst>
      <p:ext uri="{BB962C8B-B14F-4D97-AF65-F5344CB8AC3E}">
        <p14:creationId xmlns:p14="http://schemas.microsoft.com/office/powerpoint/2010/main" val="1163342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1F4-617F-8142-87F2-06DF9A85C8A9}"/>
              </a:ext>
            </a:extLst>
          </p:cNvPr>
          <p:cNvSpPr>
            <a:spLocks noGrp="1"/>
          </p:cNvSpPr>
          <p:nvPr>
            <p:ph type="title"/>
          </p:nvPr>
        </p:nvSpPr>
        <p:spPr>
          <a:xfrm>
            <a:off x="384174" y="405459"/>
            <a:ext cx="8375650" cy="639634"/>
          </a:xfrm>
        </p:spPr>
        <p:txBody>
          <a:bodyPr/>
          <a:lstStyle/>
          <a:p>
            <a:r>
              <a:rPr lang="en-US" dirty="0"/>
              <a:t>Design point changes in response to changing loss sources</a:t>
            </a:r>
          </a:p>
        </p:txBody>
      </p:sp>
      <p:sp>
        <p:nvSpPr>
          <p:cNvPr id="4" name="Slide Number Placeholder 3">
            <a:extLst>
              <a:ext uri="{FF2B5EF4-FFF2-40B4-BE49-F238E27FC236}">
                <a16:creationId xmlns:a16="http://schemas.microsoft.com/office/drawing/2014/main" id="{6CDD802C-FC70-7E46-A654-14980A8514C9}"/>
              </a:ext>
            </a:extLst>
          </p:cNvPr>
          <p:cNvSpPr>
            <a:spLocks noGrp="1"/>
          </p:cNvSpPr>
          <p:nvPr>
            <p:ph type="sldNum" sz="quarter" idx="10"/>
          </p:nvPr>
        </p:nvSpPr>
        <p:spPr/>
        <p:txBody>
          <a:bodyPr/>
          <a:lstStyle/>
          <a:p>
            <a:r>
              <a:rPr lang="en-US" dirty="0"/>
              <a:t>7</a:t>
            </a:r>
          </a:p>
        </p:txBody>
      </p:sp>
      <p:pic>
        <p:nvPicPr>
          <p:cNvPr id="5" name="Picture 4">
            <a:extLst>
              <a:ext uri="{FF2B5EF4-FFF2-40B4-BE49-F238E27FC236}">
                <a16:creationId xmlns:a16="http://schemas.microsoft.com/office/drawing/2014/main" id="{5CFB896B-CFC6-AB48-8B8E-05B26ABBC9B0}"/>
              </a:ext>
            </a:extLst>
          </p:cNvPr>
          <p:cNvPicPr>
            <a:picLocks noChangeAspect="1"/>
          </p:cNvPicPr>
          <p:nvPr/>
        </p:nvPicPr>
        <p:blipFill rotWithShape="1">
          <a:blip r:embed="rId3"/>
          <a:srcRect r="10214"/>
          <a:stretch/>
        </p:blipFill>
        <p:spPr>
          <a:xfrm>
            <a:off x="331573" y="1732000"/>
            <a:ext cx="7403758" cy="4719600"/>
          </a:xfrm>
          <a:prstGeom prst="rect">
            <a:avLst/>
          </a:prstGeom>
        </p:spPr>
      </p:pic>
      <p:pic>
        <p:nvPicPr>
          <p:cNvPr id="8" name="Picture 7">
            <a:extLst>
              <a:ext uri="{FF2B5EF4-FFF2-40B4-BE49-F238E27FC236}">
                <a16:creationId xmlns:a16="http://schemas.microsoft.com/office/drawing/2014/main" id="{9CF6EAB8-FD14-204A-BAB5-CE88AF0BF1EA}"/>
              </a:ext>
            </a:extLst>
          </p:cNvPr>
          <p:cNvPicPr>
            <a:picLocks/>
          </p:cNvPicPr>
          <p:nvPr/>
        </p:nvPicPr>
        <p:blipFill rotWithShape="1">
          <a:blip r:embed="rId4">
            <a:alphaModFix amt="20000"/>
          </a:blip>
          <a:srcRect l="12054" t="2491" r="17152" b="14966"/>
          <a:stretch/>
        </p:blipFill>
        <p:spPr>
          <a:xfrm>
            <a:off x="1383957" y="1853514"/>
            <a:ext cx="6180360" cy="3892378"/>
          </a:xfrm>
          <a:prstGeom prst="rect">
            <a:avLst/>
          </a:prstGeom>
        </p:spPr>
      </p:pic>
      <p:pic>
        <p:nvPicPr>
          <p:cNvPr id="9" name="Picture 8">
            <a:extLst>
              <a:ext uri="{FF2B5EF4-FFF2-40B4-BE49-F238E27FC236}">
                <a16:creationId xmlns:a16="http://schemas.microsoft.com/office/drawing/2014/main" id="{4E50CF0D-B02E-DD40-9742-89B6C8436A67}"/>
              </a:ext>
            </a:extLst>
          </p:cNvPr>
          <p:cNvPicPr>
            <a:picLocks noChangeAspect="1"/>
          </p:cNvPicPr>
          <p:nvPr/>
        </p:nvPicPr>
        <p:blipFill rotWithShape="1">
          <a:blip r:embed="rId5">
            <a:alphaModFix amt="20000"/>
          </a:blip>
          <a:srcRect l="84877" t="3804" r="868" b="-3804"/>
          <a:stretch/>
        </p:blipFill>
        <p:spPr>
          <a:xfrm>
            <a:off x="7760043" y="1914988"/>
            <a:ext cx="1246315" cy="4716000"/>
          </a:xfrm>
          <a:prstGeom prst="rect">
            <a:avLst/>
          </a:prstGeom>
        </p:spPr>
      </p:pic>
      <p:pic>
        <p:nvPicPr>
          <p:cNvPr id="11" name="Picture 10">
            <a:extLst>
              <a:ext uri="{FF2B5EF4-FFF2-40B4-BE49-F238E27FC236}">
                <a16:creationId xmlns:a16="http://schemas.microsoft.com/office/drawing/2014/main" id="{8F541566-4A5B-2041-8F0E-662EB2384D82}"/>
              </a:ext>
            </a:extLst>
          </p:cNvPr>
          <p:cNvPicPr>
            <a:picLocks noChangeAspect="1"/>
          </p:cNvPicPr>
          <p:nvPr/>
        </p:nvPicPr>
        <p:blipFill rotWithShape="1">
          <a:blip r:embed="rId5">
            <a:alphaModFix/>
          </a:blip>
          <a:srcRect l="84877" t="60057" r="868" b="34179"/>
          <a:stretch/>
        </p:blipFill>
        <p:spPr>
          <a:xfrm>
            <a:off x="7762915" y="4572000"/>
            <a:ext cx="1246315" cy="271849"/>
          </a:xfrm>
          <a:prstGeom prst="rect">
            <a:avLst/>
          </a:prstGeom>
        </p:spPr>
      </p:pic>
    </p:spTree>
    <p:extLst>
      <p:ext uri="{BB962C8B-B14F-4D97-AF65-F5344CB8AC3E}">
        <p14:creationId xmlns:p14="http://schemas.microsoft.com/office/powerpoint/2010/main" val="1014772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A21C-CA49-6C41-BEC2-35E57DA4BCFB}"/>
              </a:ext>
            </a:extLst>
          </p:cNvPr>
          <p:cNvSpPr>
            <a:spLocks noGrp="1"/>
          </p:cNvSpPr>
          <p:nvPr>
            <p:ph type="title"/>
          </p:nvPr>
        </p:nvSpPr>
        <p:spPr>
          <a:xfrm>
            <a:off x="384175" y="263958"/>
            <a:ext cx="8375650" cy="735662"/>
          </a:xfrm>
        </p:spPr>
        <p:txBody>
          <a:bodyPr/>
          <a:lstStyle/>
          <a:p>
            <a:r>
              <a:rPr lang="en-GB" dirty="0"/>
              <a:t>Helium turbine operates in a biased design space compared to </a:t>
            </a:r>
            <a:r>
              <a:rPr lang="en-GB" dirty="0" err="1"/>
              <a:t>aeroengine</a:t>
            </a:r>
            <a:r>
              <a:rPr lang="en-GB" dirty="0"/>
              <a:t> turbine</a:t>
            </a:r>
          </a:p>
        </p:txBody>
      </p:sp>
      <p:sp>
        <p:nvSpPr>
          <p:cNvPr id="4" name="Slide Number Placeholder 3">
            <a:extLst>
              <a:ext uri="{FF2B5EF4-FFF2-40B4-BE49-F238E27FC236}">
                <a16:creationId xmlns:a16="http://schemas.microsoft.com/office/drawing/2014/main" id="{10577BED-09B8-D84A-AE21-58D98E358EF7}"/>
              </a:ext>
            </a:extLst>
          </p:cNvPr>
          <p:cNvSpPr>
            <a:spLocks noGrp="1"/>
          </p:cNvSpPr>
          <p:nvPr>
            <p:ph type="sldNum" sz="quarter" idx="10"/>
          </p:nvPr>
        </p:nvSpPr>
        <p:spPr/>
        <p:txBody>
          <a:bodyPr/>
          <a:lstStyle/>
          <a:p>
            <a:r>
              <a:rPr lang="en-US" dirty="0"/>
              <a:t>8</a:t>
            </a:r>
          </a:p>
        </p:txBody>
      </p:sp>
      <p:pic>
        <p:nvPicPr>
          <p:cNvPr id="11" name="Picture 10">
            <a:extLst>
              <a:ext uri="{FF2B5EF4-FFF2-40B4-BE49-F238E27FC236}">
                <a16:creationId xmlns:a16="http://schemas.microsoft.com/office/drawing/2014/main" id="{2C5543AB-C6AF-C74F-AEEF-0CF7B06ADAD8}"/>
              </a:ext>
            </a:extLst>
          </p:cNvPr>
          <p:cNvPicPr>
            <a:picLocks noChangeAspect="1"/>
          </p:cNvPicPr>
          <p:nvPr/>
        </p:nvPicPr>
        <p:blipFill rotWithShape="1">
          <a:blip r:embed="rId3"/>
          <a:srcRect l="74156" t="39781" b="46202"/>
          <a:stretch/>
        </p:blipFill>
        <p:spPr>
          <a:xfrm>
            <a:off x="1881985" y="6009173"/>
            <a:ext cx="982393" cy="568410"/>
          </a:xfrm>
          <a:prstGeom prst="rect">
            <a:avLst/>
          </a:prstGeom>
        </p:spPr>
      </p:pic>
      <p:pic>
        <p:nvPicPr>
          <p:cNvPr id="12" name="Picture 11">
            <a:extLst>
              <a:ext uri="{FF2B5EF4-FFF2-40B4-BE49-F238E27FC236}">
                <a16:creationId xmlns:a16="http://schemas.microsoft.com/office/drawing/2014/main" id="{344766DC-CA96-6B4C-B08C-30E1A5A0FE16}"/>
              </a:ext>
            </a:extLst>
          </p:cNvPr>
          <p:cNvPicPr>
            <a:picLocks noChangeAspect="1"/>
          </p:cNvPicPr>
          <p:nvPr/>
        </p:nvPicPr>
        <p:blipFill rotWithShape="1">
          <a:blip r:embed="rId3"/>
          <a:srcRect l="74156" t="53328" r="2165" b="31469"/>
          <a:stretch/>
        </p:blipFill>
        <p:spPr>
          <a:xfrm>
            <a:off x="970189" y="6011291"/>
            <a:ext cx="900113" cy="616502"/>
          </a:xfrm>
          <a:prstGeom prst="rect">
            <a:avLst/>
          </a:prstGeom>
        </p:spPr>
      </p:pic>
      <p:pic>
        <p:nvPicPr>
          <p:cNvPr id="15" name="Picture 14">
            <a:extLst>
              <a:ext uri="{FF2B5EF4-FFF2-40B4-BE49-F238E27FC236}">
                <a16:creationId xmlns:a16="http://schemas.microsoft.com/office/drawing/2014/main" id="{443F17CF-312F-AF44-B6C5-616CB97064BF}"/>
              </a:ext>
            </a:extLst>
          </p:cNvPr>
          <p:cNvPicPr>
            <a:picLocks noChangeAspect="1"/>
          </p:cNvPicPr>
          <p:nvPr/>
        </p:nvPicPr>
        <p:blipFill rotWithShape="1">
          <a:blip r:embed="rId4"/>
          <a:srcRect r="25640"/>
          <a:stretch/>
        </p:blipFill>
        <p:spPr>
          <a:xfrm>
            <a:off x="0" y="2002420"/>
            <a:ext cx="3186574" cy="4008871"/>
          </a:xfrm>
          <a:prstGeom prst="rect">
            <a:avLst/>
          </a:prstGeom>
        </p:spPr>
      </p:pic>
    </p:spTree>
    <p:extLst>
      <p:ext uri="{BB962C8B-B14F-4D97-AF65-F5344CB8AC3E}">
        <p14:creationId xmlns:p14="http://schemas.microsoft.com/office/powerpoint/2010/main" val="39459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A21C-CA49-6C41-BEC2-35E57DA4BCFB}"/>
              </a:ext>
            </a:extLst>
          </p:cNvPr>
          <p:cNvSpPr>
            <a:spLocks noGrp="1"/>
          </p:cNvSpPr>
          <p:nvPr>
            <p:ph type="title"/>
          </p:nvPr>
        </p:nvSpPr>
        <p:spPr>
          <a:xfrm>
            <a:off x="384175" y="257861"/>
            <a:ext cx="8375650" cy="735662"/>
          </a:xfrm>
        </p:spPr>
        <p:txBody>
          <a:bodyPr/>
          <a:lstStyle/>
          <a:p>
            <a:r>
              <a:rPr lang="en-GB" dirty="0"/>
              <a:t>Helium turbine operates in a biased design space compared to </a:t>
            </a:r>
            <a:r>
              <a:rPr lang="en-GB" dirty="0" err="1"/>
              <a:t>aeroengine</a:t>
            </a:r>
            <a:r>
              <a:rPr lang="en-GB" dirty="0"/>
              <a:t> turbine</a:t>
            </a:r>
          </a:p>
        </p:txBody>
      </p:sp>
      <p:sp>
        <p:nvSpPr>
          <p:cNvPr id="4" name="Slide Number Placeholder 3">
            <a:extLst>
              <a:ext uri="{FF2B5EF4-FFF2-40B4-BE49-F238E27FC236}">
                <a16:creationId xmlns:a16="http://schemas.microsoft.com/office/drawing/2014/main" id="{10577BED-09B8-D84A-AE21-58D98E358EF7}"/>
              </a:ext>
            </a:extLst>
          </p:cNvPr>
          <p:cNvSpPr>
            <a:spLocks noGrp="1"/>
          </p:cNvSpPr>
          <p:nvPr>
            <p:ph type="sldNum" sz="quarter" idx="10"/>
          </p:nvPr>
        </p:nvSpPr>
        <p:spPr/>
        <p:txBody>
          <a:bodyPr/>
          <a:lstStyle/>
          <a:p>
            <a:r>
              <a:rPr lang="en-US" dirty="0"/>
              <a:t>8</a:t>
            </a:r>
          </a:p>
        </p:txBody>
      </p:sp>
      <p:pic>
        <p:nvPicPr>
          <p:cNvPr id="11" name="Picture 10">
            <a:extLst>
              <a:ext uri="{FF2B5EF4-FFF2-40B4-BE49-F238E27FC236}">
                <a16:creationId xmlns:a16="http://schemas.microsoft.com/office/drawing/2014/main" id="{2C5543AB-C6AF-C74F-AEEF-0CF7B06ADAD8}"/>
              </a:ext>
            </a:extLst>
          </p:cNvPr>
          <p:cNvPicPr>
            <a:picLocks noChangeAspect="1"/>
          </p:cNvPicPr>
          <p:nvPr/>
        </p:nvPicPr>
        <p:blipFill rotWithShape="1">
          <a:blip r:embed="rId3"/>
          <a:srcRect l="74156" t="39781" b="46202"/>
          <a:stretch/>
        </p:blipFill>
        <p:spPr>
          <a:xfrm>
            <a:off x="1881985" y="6009173"/>
            <a:ext cx="982393" cy="568410"/>
          </a:xfrm>
          <a:prstGeom prst="rect">
            <a:avLst/>
          </a:prstGeom>
        </p:spPr>
      </p:pic>
      <p:pic>
        <p:nvPicPr>
          <p:cNvPr id="12" name="Picture 11">
            <a:extLst>
              <a:ext uri="{FF2B5EF4-FFF2-40B4-BE49-F238E27FC236}">
                <a16:creationId xmlns:a16="http://schemas.microsoft.com/office/drawing/2014/main" id="{344766DC-CA96-6B4C-B08C-30E1A5A0FE16}"/>
              </a:ext>
            </a:extLst>
          </p:cNvPr>
          <p:cNvPicPr>
            <a:picLocks noChangeAspect="1"/>
          </p:cNvPicPr>
          <p:nvPr/>
        </p:nvPicPr>
        <p:blipFill rotWithShape="1">
          <a:blip r:embed="rId3"/>
          <a:srcRect l="74156" t="53328" r="2165" b="31469"/>
          <a:stretch/>
        </p:blipFill>
        <p:spPr>
          <a:xfrm>
            <a:off x="970189" y="6011291"/>
            <a:ext cx="900113" cy="616502"/>
          </a:xfrm>
          <a:prstGeom prst="rect">
            <a:avLst/>
          </a:prstGeom>
        </p:spPr>
      </p:pic>
      <p:pic>
        <p:nvPicPr>
          <p:cNvPr id="15" name="Picture 14">
            <a:extLst>
              <a:ext uri="{FF2B5EF4-FFF2-40B4-BE49-F238E27FC236}">
                <a16:creationId xmlns:a16="http://schemas.microsoft.com/office/drawing/2014/main" id="{443F17CF-312F-AF44-B6C5-616CB97064BF}"/>
              </a:ext>
            </a:extLst>
          </p:cNvPr>
          <p:cNvPicPr>
            <a:picLocks noChangeAspect="1"/>
          </p:cNvPicPr>
          <p:nvPr/>
        </p:nvPicPr>
        <p:blipFill rotWithShape="1">
          <a:blip r:embed="rId4"/>
          <a:srcRect r="25640"/>
          <a:stretch/>
        </p:blipFill>
        <p:spPr>
          <a:xfrm>
            <a:off x="0" y="2002420"/>
            <a:ext cx="3186574" cy="4008871"/>
          </a:xfrm>
          <a:prstGeom prst="rect">
            <a:avLst/>
          </a:prstGeom>
        </p:spPr>
      </p:pic>
      <mc:AlternateContent xmlns:mc="http://schemas.openxmlformats.org/markup-compatibility/2006">
        <mc:Choice xmlns:a14="http://schemas.microsoft.com/office/drawing/2010/main" Requires="a14">
          <p:graphicFrame>
            <p:nvGraphicFramePr>
              <p:cNvPr id="17" name="Table 16">
                <a:extLst>
                  <a:ext uri="{FF2B5EF4-FFF2-40B4-BE49-F238E27FC236}">
                    <a16:creationId xmlns:a16="http://schemas.microsoft.com/office/drawing/2014/main" id="{931C95F3-E432-5848-B8DB-5728B2D19383}"/>
                  </a:ext>
                </a:extLst>
              </p:cNvPr>
              <p:cNvGraphicFramePr>
                <a:graphicFrameLocks noGrp="1"/>
              </p:cNvGraphicFramePr>
              <p:nvPr>
                <p:extLst>
                  <p:ext uri="{D42A27DB-BD31-4B8C-83A1-F6EECF244321}">
                    <p14:modId xmlns:p14="http://schemas.microsoft.com/office/powerpoint/2010/main" val="1386511523"/>
                  </p:ext>
                </p:extLst>
              </p:nvPr>
            </p:nvGraphicFramePr>
            <p:xfrm>
              <a:off x="3863376" y="2020300"/>
              <a:ext cx="5025982" cy="1695440"/>
            </p:xfrm>
            <a:graphic>
              <a:graphicData uri="http://schemas.openxmlformats.org/drawingml/2006/table">
                <a:tbl>
                  <a:tblPr firstRow="1" bandRow="1">
                    <a:tableStyleId>{5C22544A-7EE6-4342-B048-85BDC9FD1C3A}</a:tableStyleId>
                  </a:tblPr>
                  <a:tblGrid>
                    <a:gridCol w="1408726">
                      <a:extLst>
                        <a:ext uri="{9D8B030D-6E8A-4147-A177-3AD203B41FA5}">
                          <a16:colId xmlns:a16="http://schemas.microsoft.com/office/drawing/2014/main" val="1317811807"/>
                        </a:ext>
                      </a:extLst>
                    </a:gridCol>
                    <a:gridCol w="1808628">
                      <a:extLst>
                        <a:ext uri="{9D8B030D-6E8A-4147-A177-3AD203B41FA5}">
                          <a16:colId xmlns:a16="http://schemas.microsoft.com/office/drawing/2014/main" val="4081859043"/>
                        </a:ext>
                      </a:extLst>
                    </a:gridCol>
                    <a:gridCol w="1808628">
                      <a:extLst>
                        <a:ext uri="{9D8B030D-6E8A-4147-A177-3AD203B41FA5}">
                          <a16:colId xmlns:a16="http://schemas.microsoft.com/office/drawing/2014/main" val="2433207674"/>
                        </a:ext>
                      </a:extLst>
                    </a:gridCol>
                  </a:tblGrid>
                  <a:tr h="544128">
                    <a:tc>
                      <a:txBody>
                        <a:bodyPr/>
                        <a:lstStyle/>
                        <a:p>
                          <a:r>
                            <a:rPr lang="en-GB" sz="1600" dirty="0"/>
                            <a:t>Parameter</a:t>
                          </a:r>
                        </a:p>
                      </a:txBody>
                      <a:tcPr/>
                    </a:tc>
                    <a:tc>
                      <a:txBody>
                        <a:bodyPr/>
                        <a:lstStyle/>
                        <a:p>
                          <a:r>
                            <a:rPr lang="en-GB" sz="1600" dirty="0" err="1"/>
                            <a:t>Aeroengine</a:t>
                          </a:r>
                          <a:r>
                            <a:rPr lang="en-GB" sz="1600" dirty="0"/>
                            <a:t> turbine</a:t>
                          </a:r>
                        </a:p>
                      </a:txBody>
                      <a:tcPr/>
                    </a:tc>
                    <a:tc>
                      <a:txBody>
                        <a:bodyPr/>
                        <a:lstStyle/>
                        <a:p>
                          <a:r>
                            <a:rPr lang="en-GB" sz="1600" dirty="0"/>
                            <a:t>Helium turbine</a:t>
                          </a:r>
                        </a:p>
                      </a:txBody>
                      <a:tcPr/>
                    </a:tc>
                    <a:extLst>
                      <a:ext uri="{0D108BD9-81ED-4DB2-BD59-A6C34878D82A}">
                        <a16:rowId xmlns:a16="http://schemas.microsoft.com/office/drawing/2014/main" val="2786270682"/>
                      </a:ext>
                    </a:extLst>
                  </a:tr>
                  <a:tr h="375384">
                    <a:tc>
                      <a:txBody>
                        <a:bodyPr/>
                        <a:lstStyle/>
                        <a:p>
                          <a:pPr/>
                          <a14:m>
                            <m:oMath xmlns:m="http://schemas.openxmlformats.org/officeDocument/2006/math">
                              <m:acc>
                                <m:accPr>
                                  <m:chr m:val="̇"/>
                                  <m:ctrlPr>
                                    <a:rPr lang="en-GB" sz="1600" i="1" smtClean="0">
                                      <a:latin typeface="Cambria Math" panose="02040503050406030204" pitchFamily="18" charset="0"/>
                                    </a:rPr>
                                  </m:ctrlPr>
                                </m:accPr>
                                <m:e>
                                  <m:r>
                                    <a:rPr lang="en-GB" sz="1600" b="0" i="1" smtClean="0">
                                      <a:latin typeface="Cambria Math" panose="02040503050406030204" pitchFamily="18" charset="0"/>
                                    </a:rPr>
                                    <m:t>𝑊</m:t>
                                  </m:r>
                                </m:e>
                              </m:acc>
                            </m:oMath>
                          </a14:m>
                          <a:r>
                            <a:rPr lang="en-GB" sz="1600" dirty="0"/>
                            <a:t>   </a:t>
                          </a:r>
                          <a:r>
                            <a:rPr lang="en-GB" sz="1600" baseline="0" dirty="0"/>
                            <a:t> </a:t>
                          </a:r>
                          <a:r>
                            <a:rPr lang="en-GB" sz="1600" dirty="0"/>
                            <a:t>(MW)</a:t>
                          </a:r>
                        </a:p>
                      </a:txBody>
                      <a:tcPr/>
                    </a:tc>
                    <a:tc>
                      <a:txBody>
                        <a:bodyPr/>
                        <a:lstStyle/>
                        <a:p>
                          <a:r>
                            <a:rPr lang="en-GB" sz="1600" dirty="0"/>
                            <a:t>15</a:t>
                          </a:r>
                        </a:p>
                      </a:txBody>
                      <a:tcPr/>
                    </a:tc>
                    <a:tc>
                      <a:txBody>
                        <a:bodyPr/>
                        <a:lstStyle/>
                        <a:p>
                          <a:r>
                            <a:rPr lang="en-GB" sz="1600" dirty="0"/>
                            <a:t>17</a:t>
                          </a:r>
                        </a:p>
                      </a:txBody>
                      <a:tcPr/>
                    </a:tc>
                    <a:extLst>
                      <a:ext uri="{0D108BD9-81ED-4DB2-BD59-A6C34878D82A}">
                        <a16:rowId xmlns:a16="http://schemas.microsoft.com/office/drawing/2014/main" val="1851602333"/>
                      </a:ext>
                    </a:extLst>
                  </a:tr>
                  <a:tr h="370468">
                    <a:tc>
                      <a:txBody>
                        <a:bodyPr/>
                        <a:lstStyle/>
                        <a:p>
                          <a:pPr/>
                          <a14:m>
                            <m:oMath xmlns:m="http://schemas.openxmlformats.org/officeDocument/2006/math">
                              <m:r>
                                <m:rPr>
                                  <m:sty m:val="p"/>
                                </m:rPr>
                                <a:rPr lang="en-GB" sz="1600" b="0" i="0" smtClean="0">
                                  <a:latin typeface="Cambria Math" panose="02040503050406030204" pitchFamily="18" charset="0"/>
                                </a:rPr>
                                <m:t>Ω</m:t>
                              </m:r>
                            </m:oMath>
                          </a14:m>
                          <a:r>
                            <a:rPr lang="en-GB" sz="1600" dirty="0"/>
                            <a:t>     (rpm</a:t>
                          </a:r>
                          <a:r>
                            <a:rPr lang="en-GB" sz="1600" baseline="0" dirty="0"/>
                            <a:t>)</a:t>
                          </a:r>
                          <a:endParaRPr lang="en-GB" sz="1600" dirty="0"/>
                        </a:p>
                      </a:txBody>
                      <a:tcPr/>
                    </a:tc>
                    <a:tc>
                      <a:txBody>
                        <a:bodyPr/>
                        <a:lstStyle/>
                        <a:p>
                          <a:r>
                            <a:rPr lang="en-GB" sz="1600" dirty="0"/>
                            <a:t>11160</a:t>
                          </a:r>
                        </a:p>
                      </a:txBody>
                      <a:tcPr/>
                    </a:tc>
                    <a:tc>
                      <a:txBody>
                        <a:bodyPr/>
                        <a:lstStyle/>
                        <a:p>
                          <a:r>
                            <a:rPr lang="en-GB" sz="1600" dirty="0"/>
                            <a:t>6782</a:t>
                          </a:r>
                        </a:p>
                      </a:txBody>
                      <a:tcPr/>
                    </a:tc>
                    <a:extLst>
                      <a:ext uri="{0D108BD9-81ED-4DB2-BD59-A6C34878D82A}">
                        <a16:rowId xmlns:a16="http://schemas.microsoft.com/office/drawing/2014/main" val="3663463920"/>
                      </a:ext>
                    </a:extLst>
                  </a:tr>
                  <a:tr h="370468">
                    <a:tc>
                      <a:txBody>
                        <a:bodyPr/>
                        <a:lstStyle/>
                        <a:p>
                          <a:pPr algn="l"/>
                          <a14:m>
                            <m:oMath xmlns:m="http://schemas.openxmlformats.org/officeDocument/2006/math">
                              <m:r>
                                <a:rPr lang="en-GB" sz="1600" b="0" i="1" smtClean="0">
                                  <a:latin typeface="Cambria Math" panose="02040503050406030204" pitchFamily="18" charset="0"/>
                                </a:rPr>
                                <m:t>𝑄</m:t>
                              </m:r>
                            </m:oMath>
                          </a14:m>
                          <a:r>
                            <a:rPr lang="en-GB" sz="1600" dirty="0"/>
                            <a:t>     (m</a:t>
                          </a:r>
                          <a:r>
                            <a:rPr lang="en-GB" sz="1600" baseline="30000" dirty="0"/>
                            <a:t>3</a:t>
                          </a:r>
                          <a:r>
                            <a:rPr lang="en-GB" sz="1600" baseline="0" dirty="0"/>
                            <a:t>s</a:t>
                          </a:r>
                          <a:r>
                            <a:rPr lang="en-GB" sz="1600" baseline="30000" dirty="0"/>
                            <a:t>-1</a:t>
                          </a:r>
                          <a:r>
                            <a:rPr lang="en-GB" sz="1600" baseline="0" dirty="0"/>
                            <a:t>)</a:t>
                          </a:r>
                          <a:endParaRPr lang="en-GB" sz="1600" dirty="0"/>
                        </a:p>
                      </a:txBody>
                      <a:tcPr/>
                    </a:tc>
                    <a:tc>
                      <a:txBody>
                        <a:bodyPr/>
                        <a:lstStyle/>
                        <a:p>
                          <a:r>
                            <a:rPr lang="en-GB" sz="1600" dirty="0"/>
                            <a:t>8.61</a:t>
                          </a:r>
                        </a:p>
                      </a:txBody>
                      <a:tcPr/>
                    </a:tc>
                    <a:tc>
                      <a:txBody>
                        <a:bodyPr/>
                        <a:lstStyle/>
                        <a:p>
                          <a:r>
                            <a:rPr lang="en-GB" sz="1600" dirty="0"/>
                            <a:t>2.17</a:t>
                          </a:r>
                        </a:p>
                      </a:txBody>
                      <a:tcPr/>
                    </a:tc>
                    <a:extLst>
                      <a:ext uri="{0D108BD9-81ED-4DB2-BD59-A6C34878D82A}">
                        <a16:rowId xmlns:a16="http://schemas.microsoft.com/office/drawing/2014/main" val="2432577881"/>
                      </a:ext>
                    </a:extLst>
                  </a:tr>
                </a:tbl>
              </a:graphicData>
            </a:graphic>
          </p:graphicFrame>
        </mc:Choice>
        <mc:Fallback>
          <p:graphicFrame>
            <p:nvGraphicFramePr>
              <p:cNvPr id="17" name="Table 16">
                <a:extLst>
                  <a:ext uri="{FF2B5EF4-FFF2-40B4-BE49-F238E27FC236}">
                    <a16:creationId xmlns:a16="http://schemas.microsoft.com/office/drawing/2014/main" id="{931C95F3-E432-5848-B8DB-5728B2D19383}"/>
                  </a:ext>
                </a:extLst>
              </p:cNvPr>
              <p:cNvGraphicFramePr>
                <a:graphicFrameLocks noGrp="1"/>
              </p:cNvGraphicFramePr>
              <p:nvPr>
                <p:extLst>
                  <p:ext uri="{D42A27DB-BD31-4B8C-83A1-F6EECF244321}">
                    <p14:modId xmlns:p14="http://schemas.microsoft.com/office/powerpoint/2010/main" val="1386511523"/>
                  </p:ext>
                </p:extLst>
              </p:nvPr>
            </p:nvGraphicFramePr>
            <p:xfrm>
              <a:off x="3863376" y="2020300"/>
              <a:ext cx="5025982" cy="1695440"/>
            </p:xfrm>
            <a:graphic>
              <a:graphicData uri="http://schemas.openxmlformats.org/drawingml/2006/table">
                <a:tbl>
                  <a:tblPr firstRow="1" bandRow="1">
                    <a:tableStyleId>{5C22544A-7EE6-4342-B048-85BDC9FD1C3A}</a:tableStyleId>
                  </a:tblPr>
                  <a:tblGrid>
                    <a:gridCol w="1408726">
                      <a:extLst>
                        <a:ext uri="{9D8B030D-6E8A-4147-A177-3AD203B41FA5}">
                          <a16:colId xmlns:a16="http://schemas.microsoft.com/office/drawing/2014/main" val="1317811807"/>
                        </a:ext>
                      </a:extLst>
                    </a:gridCol>
                    <a:gridCol w="1808628">
                      <a:extLst>
                        <a:ext uri="{9D8B030D-6E8A-4147-A177-3AD203B41FA5}">
                          <a16:colId xmlns:a16="http://schemas.microsoft.com/office/drawing/2014/main" val="4081859043"/>
                        </a:ext>
                      </a:extLst>
                    </a:gridCol>
                    <a:gridCol w="1808628">
                      <a:extLst>
                        <a:ext uri="{9D8B030D-6E8A-4147-A177-3AD203B41FA5}">
                          <a16:colId xmlns:a16="http://schemas.microsoft.com/office/drawing/2014/main" val="2433207674"/>
                        </a:ext>
                      </a:extLst>
                    </a:gridCol>
                  </a:tblGrid>
                  <a:tr h="579120">
                    <a:tc>
                      <a:txBody>
                        <a:bodyPr/>
                        <a:lstStyle/>
                        <a:p>
                          <a:r>
                            <a:rPr lang="en-GB" sz="1600" dirty="0"/>
                            <a:t>Parameter</a:t>
                          </a:r>
                        </a:p>
                      </a:txBody>
                      <a:tcPr/>
                    </a:tc>
                    <a:tc>
                      <a:txBody>
                        <a:bodyPr/>
                        <a:lstStyle/>
                        <a:p>
                          <a:r>
                            <a:rPr lang="en-GB" sz="1600" dirty="0" err="1"/>
                            <a:t>Aeroengine</a:t>
                          </a:r>
                          <a:r>
                            <a:rPr lang="en-GB" sz="1600" dirty="0"/>
                            <a:t> turbine</a:t>
                          </a:r>
                        </a:p>
                      </a:txBody>
                      <a:tcPr/>
                    </a:tc>
                    <a:tc>
                      <a:txBody>
                        <a:bodyPr/>
                        <a:lstStyle/>
                        <a:p>
                          <a:r>
                            <a:rPr lang="en-GB" sz="1600" dirty="0"/>
                            <a:t>Helium turbine</a:t>
                          </a:r>
                        </a:p>
                      </a:txBody>
                      <a:tcPr/>
                    </a:tc>
                    <a:extLst>
                      <a:ext uri="{0D108BD9-81ED-4DB2-BD59-A6C34878D82A}">
                        <a16:rowId xmlns:a16="http://schemas.microsoft.com/office/drawing/2014/main" val="2786270682"/>
                      </a:ext>
                    </a:extLst>
                  </a:tr>
                  <a:tr h="375384">
                    <a:tc>
                      <a:txBody>
                        <a:bodyPr/>
                        <a:lstStyle/>
                        <a:p>
                          <a:endParaRPr lang="en-US"/>
                        </a:p>
                      </a:txBody>
                      <a:tcPr>
                        <a:blipFill>
                          <a:blip r:embed="rId5"/>
                          <a:stretch>
                            <a:fillRect l="-901" t="-165517" r="-258559" b="-213793"/>
                          </a:stretch>
                        </a:blipFill>
                      </a:tcPr>
                    </a:tc>
                    <a:tc>
                      <a:txBody>
                        <a:bodyPr/>
                        <a:lstStyle/>
                        <a:p>
                          <a:r>
                            <a:rPr lang="en-GB" sz="1600" dirty="0"/>
                            <a:t>15</a:t>
                          </a:r>
                        </a:p>
                      </a:txBody>
                      <a:tcPr/>
                    </a:tc>
                    <a:tc>
                      <a:txBody>
                        <a:bodyPr/>
                        <a:lstStyle/>
                        <a:p>
                          <a:r>
                            <a:rPr lang="en-GB" sz="1600" dirty="0"/>
                            <a:t>17</a:t>
                          </a:r>
                        </a:p>
                      </a:txBody>
                      <a:tcPr/>
                    </a:tc>
                    <a:extLst>
                      <a:ext uri="{0D108BD9-81ED-4DB2-BD59-A6C34878D82A}">
                        <a16:rowId xmlns:a16="http://schemas.microsoft.com/office/drawing/2014/main" val="1851602333"/>
                      </a:ext>
                    </a:extLst>
                  </a:tr>
                  <a:tr h="370468">
                    <a:tc>
                      <a:txBody>
                        <a:bodyPr/>
                        <a:lstStyle/>
                        <a:p>
                          <a:endParaRPr lang="en-US"/>
                        </a:p>
                      </a:txBody>
                      <a:tcPr>
                        <a:blipFill>
                          <a:blip r:embed="rId5"/>
                          <a:stretch>
                            <a:fillRect l="-901" t="-256667" r="-258559" b="-106667"/>
                          </a:stretch>
                        </a:blipFill>
                      </a:tcPr>
                    </a:tc>
                    <a:tc>
                      <a:txBody>
                        <a:bodyPr/>
                        <a:lstStyle/>
                        <a:p>
                          <a:r>
                            <a:rPr lang="en-GB" sz="1600" dirty="0"/>
                            <a:t>11160</a:t>
                          </a:r>
                        </a:p>
                      </a:txBody>
                      <a:tcPr/>
                    </a:tc>
                    <a:tc>
                      <a:txBody>
                        <a:bodyPr/>
                        <a:lstStyle/>
                        <a:p>
                          <a:r>
                            <a:rPr lang="en-GB" sz="1600" dirty="0"/>
                            <a:t>6782</a:t>
                          </a:r>
                        </a:p>
                      </a:txBody>
                      <a:tcPr/>
                    </a:tc>
                    <a:extLst>
                      <a:ext uri="{0D108BD9-81ED-4DB2-BD59-A6C34878D82A}">
                        <a16:rowId xmlns:a16="http://schemas.microsoft.com/office/drawing/2014/main" val="3663463920"/>
                      </a:ext>
                    </a:extLst>
                  </a:tr>
                  <a:tr h="370468">
                    <a:tc>
                      <a:txBody>
                        <a:bodyPr/>
                        <a:lstStyle/>
                        <a:p>
                          <a:endParaRPr lang="en-US"/>
                        </a:p>
                      </a:txBody>
                      <a:tcPr>
                        <a:blipFill>
                          <a:blip r:embed="rId5"/>
                          <a:stretch>
                            <a:fillRect l="-901" t="-368966" r="-258559" b="-10345"/>
                          </a:stretch>
                        </a:blipFill>
                      </a:tcPr>
                    </a:tc>
                    <a:tc>
                      <a:txBody>
                        <a:bodyPr/>
                        <a:lstStyle/>
                        <a:p>
                          <a:r>
                            <a:rPr lang="en-GB" sz="1600" dirty="0"/>
                            <a:t>8.61</a:t>
                          </a:r>
                        </a:p>
                      </a:txBody>
                      <a:tcPr/>
                    </a:tc>
                    <a:tc>
                      <a:txBody>
                        <a:bodyPr/>
                        <a:lstStyle/>
                        <a:p>
                          <a:r>
                            <a:rPr lang="en-GB" sz="1600" dirty="0"/>
                            <a:t>2.17</a:t>
                          </a:r>
                        </a:p>
                      </a:txBody>
                      <a:tcPr/>
                    </a:tc>
                    <a:extLst>
                      <a:ext uri="{0D108BD9-81ED-4DB2-BD59-A6C34878D82A}">
                        <a16:rowId xmlns:a16="http://schemas.microsoft.com/office/drawing/2014/main" val="2432577881"/>
                      </a:ext>
                    </a:extLst>
                  </a:tr>
                </a:tbl>
              </a:graphicData>
            </a:graphic>
          </p:graphicFrame>
        </mc:Fallback>
      </mc:AlternateContent>
    </p:spTree>
    <p:extLst>
      <p:ext uri="{BB962C8B-B14F-4D97-AF65-F5344CB8AC3E}">
        <p14:creationId xmlns:p14="http://schemas.microsoft.com/office/powerpoint/2010/main" val="3019483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152AE7E-4FF2-4E44-AA4D-6BDA64F8AB92}"/>
              </a:ext>
            </a:extLst>
          </p:cNvPr>
          <p:cNvPicPr>
            <a:picLocks noChangeAspect="1"/>
          </p:cNvPicPr>
          <p:nvPr/>
        </p:nvPicPr>
        <p:blipFill rotWithShape="1">
          <a:blip r:embed="rId3"/>
          <a:srcRect l="63918" t="2124" r="2085" b="52323"/>
          <a:stretch/>
        </p:blipFill>
        <p:spPr>
          <a:xfrm>
            <a:off x="5004278" y="4012829"/>
            <a:ext cx="1010298" cy="836358"/>
          </a:xfrm>
          <a:prstGeom prst="rect">
            <a:avLst/>
          </a:prstGeom>
        </p:spPr>
      </p:pic>
      <p:sp>
        <p:nvSpPr>
          <p:cNvPr id="2" name="Title 1">
            <a:extLst>
              <a:ext uri="{FF2B5EF4-FFF2-40B4-BE49-F238E27FC236}">
                <a16:creationId xmlns:a16="http://schemas.microsoft.com/office/drawing/2014/main" id="{F972A21C-CA49-6C41-BEC2-35E57DA4BCFB}"/>
              </a:ext>
            </a:extLst>
          </p:cNvPr>
          <p:cNvSpPr>
            <a:spLocks noGrp="1"/>
          </p:cNvSpPr>
          <p:nvPr>
            <p:ph type="title"/>
          </p:nvPr>
        </p:nvSpPr>
        <p:spPr>
          <a:xfrm>
            <a:off x="384175" y="264907"/>
            <a:ext cx="8375650" cy="735662"/>
          </a:xfrm>
        </p:spPr>
        <p:txBody>
          <a:bodyPr/>
          <a:lstStyle/>
          <a:p>
            <a:r>
              <a:rPr lang="en-GB" dirty="0"/>
              <a:t>Helium turbine operates in a biased design space compared to </a:t>
            </a:r>
            <a:r>
              <a:rPr lang="en-GB" dirty="0" err="1"/>
              <a:t>aeroengine</a:t>
            </a:r>
            <a:r>
              <a:rPr lang="en-GB" dirty="0"/>
              <a:t> turbine</a:t>
            </a:r>
          </a:p>
        </p:txBody>
      </p:sp>
      <p:sp>
        <p:nvSpPr>
          <p:cNvPr id="4" name="Slide Number Placeholder 3">
            <a:extLst>
              <a:ext uri="{FF2B5EF4-FFF2-40B4-BE49-F238E27FC236}">
                <a16:creationId xmlns:a16="http://schemas.microsoft.com/office/drawing/2014/main" id="{10577BED-09B8-D84A-AE21-58D98E358EF7}"/>
              </a:ext>
            </a:extLst>
          </p:cNvPr>
          <p:cNvSpPr>
            <a:spLocks noGrp="1"/>
          </p:cNvSpPr>
          <p:nvPr>
            <p:ph type="sldNum" sz="quarter" idx="10"/>
          </p:nvPr>
        </p:nvSpPr>
        <p:spPr/>
        <p:txBody>
          <a:bodyPr/>
          <a:lstStyle/>
          <a:p>
            <a:r>
              <a:rPr lang="en-US" dirty="0"/>
              <a:t>8</a:t>
            </a:r>
          </a:p>
        </p:txBody>
      </p:sp>
      <p:pic>
        <p:nvPicPr>
          <p:cNvPr id="9" name="Picture 8">
            <a:extLst>
              <a:ext uri="{FF2B5EF4-FFF2-40B4-BE49-F238E27FC236}">
                <a16:creationId xmlns:a16="http://schemas.microsoft.com/office/drawing/2014/main" id="{8A4EE18B-AC14-8B41-92A4-1D72320F21DB}"/>
              </a:ext>
            </a:extLst>
          </p:cNvPr>
          <p:cNvPicPr>
            <a:picLocks noChangeAspect="1"/>
          </p:cNvPicPr>
          <p:nvPr/>
        </p:nvPicPr>
        <p:blipFill>
          <a:blip r:embed="rId3"/>
          <a:stretch>
            <a:fillRect/>
          </a:stretch>
        </p:blipFill>
        <p:spPr>
          <a:xfrm>
            <a:off x="6034409" y="4010998"/>
            <a:ext cx="2971670" cy="1836000"/>
          </a:xfrm>
          <a:prstGeom prst="rect">
            <a:avLst/>
          </a:prstGeom>
        </p:spPr>
      </p:pic>
      <p:pic>
        <p:nvPicPr>
          <p:cNvPr id="10" name="Picture 9">
            <a:extLst>
              <a:ext uri="{FF2B5EF4-FFF2-40B4-BE49-F238E27FC236}">
                <a16:creationId xmlns:a16="http://schemas.microsoft.com/office/drawing/2014/main" id="{7D5E5F7A-9F03-D248-889D-E8577EDF83DA}"/>
              </a:ext>
            </a:extLst>
          </p:cNvPr>
          <p:cNvPicPr>
            <a:picLocks noChangeAspect="1"/>
          </p:cNvPicPr>
          <p:nvPr/>
        </p:nvPicPr>
        <p:blipFill>
          <a:blip r:embed="rId4"/>
          <a:stretch>
            <a:fillRect/>
          </a:stretch>
        </p:blipFill>
        <p:spPr>
          <a:xfrm>
            <a:off x="3157497" y="3972007"/>
            <a:ext cx="2911637" cy="1836000"/>
          </a:xfrm>
          <a:prstGeom prst="rect">
            <a:avLst/>
          </a:prstGeom>
        </p:spPr>
      </p:pic>
      <p:pic>
        <p:nvPicPr>
          <p:cNvPr id="11" name="Picture 10">
            <a:extLst>
              <a:ext uri="{FF2B5EF4-FFF2-40B4-BE49-F238E27FC236}">
                <a16:creationId xmlns:a16="http://schemas.microsoft.com/office/drawing/2014/main" id="{2C5543AB-C6AF-C74F-AEEF-0CF7B06ADAD8}"/>
              </a:ext>
            </a:extLst>
          </p:cNvPr>
          <p:cNvPicPr>
            <a:picLocks noChangeAspect="1"/>
          </p:cNvPicPr>
          <p:nvPr/>
        </p:nvPicPr>
        <p:blipFill rotWithShape="1">
          <a:blip r:embed="rId5"/>
          <a:srcRect l="74156" t="39781" b="46202"/>
          <a:stretch/>
        </p:blipFill>
        <p:spPr>
          <a:xfrm>
            <a:off x="1881985" y="6009173"/>
            <a:ext cx="982393" cy="568410"/>
          </a:xfrm>
          <a:prstGeom prst="rect">
            <a:avLst/>
          </a:prstGeom>
        </p:spPr>
      </p:pic>
      <p:pic>
        <p:nvPicPr>
          <p:cNvPr id="12" name="Picture 11">
            <a:extLst>
              <a:ext uri="{FF2B5EF4-FFF2-40B4-BE49-F238E27FC236}">
                <a16:creationId xmlns:a16="http://schemas.microsoft.com/office/drawing/2014/main" id="{344766DC-CA96-6B4C-B08C-30E1A5A0FE16}"/>
              </a:ext>
            </a:extLst>
          </p:cNvPr>
          <p:cNvPicPr>
            <a:picLocks noChangeAspect="1"/>
          </p:cNvPicPr>
          <p:nvPr/>
        </p:nvPicPr>
        <p:blipFill rotWithShape="1">
          <a:blip r:embed="rId5"/>
          <a:srcRect l="74156" t="53328" r="2165" b="31469"/>
          <a:stretch/>
        </p:blipFill>
        <p:spPr>
          <a:xfrm>
            <a:off x="970189" y="6011291"/>
            <a:ext cx="900113" cy="616502"/>
          </a:xfrm>
          <a:prstGeom prst="rect">
            <a:avLst/>
          </a:prstGeom>
        </p:spPr>
      </p:pic>
      <mc:AlternateContent xmlns:mc="http://schemas.openxmlformats.org/markup-compatibility/2006">
        <mc:Choice xmlns:a14="http://schemas.microsoft.com/office/drawing/2010/main" Requires="a14">
          <p:graphicFrame>
            <p:nvGraphicFramePr>
              <p:cNvPr id="13" name="Table 12">
                <a:extLst>
                  <a:ext uri="{FF2B5EF4-FFF2-40B4-BE49-F238E27FC236}">
                    <a16:creationId xmlns:a16="http://schemas.microsoft.com/office/drawing/2014/main" id="{005162A1-AC29-CF4C-835E-476C74C54C03}"/>
                  </a:ext>
                </a:extLst>
              </p:cNvPr>
              <p:cNvGraphicFramePr>
                <a:graphicFrameLocks noGrp="1"/>
              </p:cNvGraphicFramePr>
              <p:nvPr>
                <p:extLst>
                  <p:ext uri="{D42A27DB-BD31-4B8C-83A1-F6EECF244321}">
                    <p14:modId xmlns:p14="http://schemas.microsoft.com/office/powerpoint/2010/main" val="1350167323"/>
                  </p:ext>
                </p:extLst>
              </p:nvPr>
            </p:nvGraphicFramePr>
            <p:xfrm>
              <a:off x="3863376" y="2020300"/>
              <a:ext cx="5025982" cy="1695440"/>
            </p:xfrm>
            <a:graphic>
              <a:graphicData uri="http://schemas.openxmlformats.org/drawingml/2006/table">
                <a:tbl>
                  <a:tblPr firstRow="1" bandRow="1">
                    <a:tableStyleId>{5C22544A-7EE6-4342-B048-85BDC9FD1C3A}</a:tableStyleId>
                  </a:tblPr>
                  <a:tblGrid>
                    <a:gridCol w="1408726">
                      <a:extLst>
                        <a:ext uri="{9D8B030D-6E8A-4147-A177-3AD203B41FA5}">
                          <a16:colId xmlns:a16="http://schemas.microsoft.com/office/drawing/2014/main" val="1317811807"/>
                        </a:ext>
                      </a:extLst>
                    </a:gridCol>
                    <a:gridCol w="1808628">
                      <a:extLst>
                        <a:ext uri="{9D8B030D-6E8A-4147-A177-3AD203B41FA5}">
                          <a16:colId xmlns:a16="http://schemas.microsoft.com/office/drawing/2014/main" val="4081859043"/>
                        </a:ext>
                      </a:extLst>
                    </a:gridCol>
                    <a:gridCol w="1808628">
                      <a:extLst>
                        <a:ext uri="{9D8B030D-6E8A-4147-A177-3AD203B41FA5}">
                          <a16:colId xmlns:a16="http://schemas.microsoft.com/office/drawing/2014/main" val="2433207674"/>
                        </a:ext>
                      </a:extLst>
                    </a:gridCol>
                  </a:tblGrid>
                  <a:tr h="544128">
                    <a:tc>
                      <a:txBody>
                        <a:bodyPr/>
                        <a:lstStyle/>
                        <a:p>
                          <a:r>
                            <a:rPr lang="en-GB" sz="1600" dirty="0"/>
                            <a:t>Parameter</a:t>
                          </a:r>
                        </a:p>
                      </a:txBody>
                      <a:tcPr/>
                    </a:tc>
                    <a:tc>
                      <a:txBody>
                        <a:bodyPr/>
                        <a:lstStyle/>
                        <a:p>
                          <a:r>
                            <a:rPr lang="en-GB" sz="1600" dirty="0" err="1"/>
                            <a:t>Aeroengine</a:t>
                          </a:r>
                          <a:r>
                            <a:rPr lang="en-GB" sz="1600" dirty="0"/>
                            <a:t> turbine</a:t>
                          </a:r>
                        </a:p>
                      </a:txBody>
                      <a:tcPr/>
                    </a:tc>
                    <a:tc>
                      <a:txBody>
                        <a:bodyPr/>
                        <a:lstStyle/>
                        <a:p>
                          <a:r>
                            <a:rPr lang="en-GB" sz="1600" dirty="0"/>
                            <a:t>Helium turbine</a:t>
                          </a:r>
                        </a:p>
                      </a:txBody>
                      <a:tcPr/>
                    </a:tc>
                    <a:extLst>
                      <a:ext uri="{0D108BD9-81ED-4DB2-BD59-A6C34878D82A}">
                        <a16:rowId xmlns:a16="http://schemas.microsoft.com/office/drawing/2014/main" val="2786270682"/>
                      </a:ext>
                    </a:extLst>
                  </a:tr>
                  <a:tr h="375384">
                    <a:tc>
                      <a:txBody>
                        <a:bodyPr/>
                        <a:lstStyle/>
                        <a:p>
                          <a:pPr/>
                          <a14:m>
                            <m:oMath xmlns:m="http://schemas.openxmlformats.org/officeDocument/2006/math">
                              <m:acc>
                                <m:accPr>
                                  <m:chr m:val="̇"/>
                                  <m:ctrlPr>
                                    <a:rPr lang="en-GB" sz="1600" i="1" smtClean="0">
                                      <a:latin typeface="Cambria Math" panose="02040503050406030204" pitchFamily="18" charset="0"/>
                                    </a:rPr>
                                  </m:ctrlPr>
                                </m:accPr>
                                <m:e>
                                  <m:r>
                                    <a:rPr lang="en-GB" sz="1600" b="0" i="1" smtClean="0">
                                      <a:latin typeface="Cambria Math" panose="02040503050406030204" pitchFamily="18" charset="0"/>
                                    </a:rPr>
                                    <m:t>𝑊</m:t>
                                  </m:r>
                                </m:e>
                              </m:acc>
                            </m:oMath>
                          </a14:m>
                          <a:r>
                            <a:rPr lang="en-GB" sz="1600" dirty="0"/>
                            <a:t>   </a:t>
                          </a:r>
                          <a:r>
                            <a:rPr lang="en-GB" sz="1600" baseline="0" dirty="0"/>
                            <a:t> </a:t>
                          </a:r>
                          <a:r>
                            <a:rPr lang="en-GB" sz="1600" dirty="0"/>
                            <a:t>(MW)</a:t>
                          </a:r>
                        </a:p>
                      </a:txBody>
                      <a:tcPr/>
                    </a:tc>
                    <a:tc>
                      <a:txBody>
                        <a:bodyPr/>
                        <a:lstStyle/>
                        <a:p>
                          <a:r>
                            <a:rPr lang="en-GB" sz="1600" dirty="0"/>
                            <a:t>15</a:t>
                          </a:r>
                        </a:p>
                      </a:txBody>
                      <a:tcPr/>
                    </a:tc>
                    <a:tc>
                      <a:txBody>
                        <a:bodyPr/>
                        <a:lstStyle/>
                        <a:p>
                          <a:r>
                            <a:rPr lang="en-GB" sz="1600" dirty="0"/>
                            <a:t>17</a:t>
                          </a:r>
                        </a:p>
                      </a:txBody>
                      <a:tcPr/>
                    </a:tc>
                    <a:extLst>
                      <a:ext uri="{0D108BD9-81ED-4DB2-BD59-A6C34878D82A}">
                        <a16:rowId xmlns:a16="http://schemas.microsoft.com/office/drawing/2014/main" val="1851602333"/>
                      </a:ext>
                    </a:extLst>
                  </a:tr>
                  <a:tr h="370468">
                    <a:tc>
                      <a:txBody>
                        <a:bodyPr/>
                        <a:lstStyle/>
                        <a:p>
                          <a:pPr/>
                          <a14:m>
                            <m:oMath xmlns:m="http://schemas.openxmlformats.org/officeDocument/2006/math">
                              <m:r>
                                <m:rPr>
                                  <m:sty m:val="p"/>
                                </m:rPr>
                                <a:rPr lang="en-GB" sz="1600" b="0" i="0" smtClean="0">
                                  <a:latin typeface="Cambria Math" panose="02040503050406030204" pitchFamily="18" charset="0"/>
                                </a:rPr>
                                <m:t>Ω</m:t>
                              </m:r>
                            </m:oMath>
                          </a14:m>
                          <a:r>
                            <a:rPr lang="en-GB" sz="1600" dirty="0"/>
                            <a:t>     (rpm</a:t>
                          </a:r>
                          <a:r>
                            <a:rPr lang="en-GB" sz="1600" baseline="0" dirty="0"/>
                            <a:t>)</a:t>
                          </a:r>
                          <a:endParaRPr lang="en-GB" sz="1600" dirty="0"/>
                        </a:p>
                      </a:txBody>
                      <a:tcPr/>
                    </a:tc>
                    <a:tc>
                      <a:txBody>
                        <a:bodyPr/>
                        <a:lstStyle/>
                        <a:p>
                          <a:r>
                            <a:rPr lang="en-GB" sz="1600" dirty="0"/>
                            <a:t>11160</a:t>
                          </a:r>
                        </a:p>
                      </a:txBody>
                      <a:tcPr/>
                    </a:tc>
                    <a:tc>
                      <a:txBody>
                        <a:bodyPr/>
                        <a:lstStyle/>
                        <a:p>
                          <a:r>
                            <a:rPr lang="en-GB" sz="1600" dirty="0"/>
                            <a:t>6782</a:t>
                          </a:r>
                        </a:p>
                      </a:txBody>
                      <a:tcPr/>
                    </a:tc>
                    <a:extLst>
                      <a:ext uri="{0D108BD9-81ED-4DB2-BD59-A6C34878D82A}">
                        <a16:rowId xmlns:a16="http://schemas.microsoft.com/office/drawing/2014/main" val="3663463920"/>
                      </a:ext>
                    </a:extLst>
                  </a:tr>
                  <a:tr h="370468">
                    <a:tc>
                      <a:txBody>
                        <a:bodyPr/>
                        <a:lstStyle/>
                        <a:p>
                          <a:pPr algn="l"/>
                          <a14:m>
                            <m:oMath xmlns:m="http://schemas.openxmlformats.org/officeDocument/2006/math">
                              <m:r>
                                <a:rPr lang="en-GB" sz="1600" b="0" i="1" smtClean="0">
                                  <a:latin typeface="Cambria Math" panose="02040503050406030204" pitchFamily="18" charset="0"/>
                                </a:rPr>
                                <m:t>𝑄</m:t>
                              </m:r>
                            </m:oMath>
                          </a14:m>
                          <a:r>
                            <a:rPr lang="en-GB" sz="1600" dirty="0"/>
                            <a:t>     (m</a:t>
                          </a:r>
                          <a:r>
                            <a:rPr lang="en-GB" sz="1600" baseline="30000" dirty="0"/>
                            <a:t>3</a:t>
                          </a:r>
                          <a:r>
                            <a:rPr lang="en-GB" sz="1600" baseline="0" dirty="0"/>
                            <a:t>s</a:t>
                          </a:r>
                          <a:r>
                            <a:rPr lang="en-GB" sz="1600" baseline="30000" dirty="0"/>
                            <a:t>-1</a:t>
                          </a:r>
                          <a:r>
                            <a:rPr lang="en-GB" sz="1600" baseline="0" dirty="0"/>
                            <a:t>)</a:t>
                          </a:r>
                          <a:endParaRPr lang="en-GB" sz="1600" dirty="0"/>
                        </a:p>
                      </a:txBody>
                      <a:tcPr/>
                    </a:tc>
                    <a:tc>
                      <a:txBody>
                        <a:bodyPr/>
                        <a:lstStyle/>
                        <a:p>
                          <a:r>
                            <a:rPr lang="en-GB" sz="1600" dirty="0"/>
                            <a:t>8.61</a:t>
                          </a:r>
                        </a:p>
                      </a:txBody>
                      <a:tcPr/>
                    </a:tc>
                    <a:tc>
                      <a:txBody>
                        <a:bodyPr/>
                        <a:lstStyle/>
                        <a:p>
                          <a:r>
                            <a:rPr lang="en-GB" sz="1600" dirty="0"/>
                            <a:t>2.17</a:t>
                          </a:r>
                        </a:p>
                      </a:txBody>
                      <a:tcPr/>
                    </a:tc>
                    <a:extLst>
                      <a:ext uri="{0D108BD9-81ED-4DB2-BD59-A6C34878D82A}">
                        <a16:rowId xmlns:a16="http://schemas.microsoft.com/office/drawing/2014/main" val="2432577881"/>
                      </a:ext>
                    </a:extLst>
                  </a:tr>
                </a:tbl>
              </a:graphicData>
            </a:graphic>
          </p:graphicFrame>
        </mc:Choice>
        <mc:Fallback>
          <p:graphicFrame>
            <p:nvGraphicFramePr>
              <p:cNvPr id="13" name="Table 12">
                <a:extLst>
                  <a:ext uri="{FF2B5EF4-FFF2-40B4-BE49-F238E27FC236}">
                    <a16:creationId xmlns:a16="http://schemas.microsoft.com/office/drawing/2014/main" id="{005162A1-AC29-CF4C-835E-476C74C54C03}"/>
                  </a:ext>
                </a:extLst>
              </p:cNvPr>
              <p:cNvGraphicFramePr>
                <a:graphicFrameLocks noGrp="1"/>
              </p:cNvGraphicFramePr>
              <p:nvPr>
                <p:extLst>
                  <p:ext uri="{D42A27DB-BD31-4B8C-83A1-F6EECF244321}">
                    <p14:modId xmlns:p14="http://schemas.microsoft.com/office/powerpoint/2010/main" val="1350167323"/>
                  </p:ext>
                </p:extLst>
              </p:nvPr>
            </p:nvGraphicFramePr>
            <p:xfrm>
              <a:off x="3863376" y="2020300"/>
              <a:ext cx="5025982" cy="1695440"/>
            </p:xfrm>
            <a:graphic>
              <a:graphicData uri="http://schemas.openxmlformats.org/drawingml/2006/table">
                <a:tbl>
                  <a:tblPr firstRow="1" bandRow="1">
                    <a:tableStyleId>{5C22544A-7EE6-4342-B048-85BDC9FD1C3A}</a:tableStyleId>
                  </a:tblPr>
                  <a:tblGrid>
                    <a:gridCol w="1408726">
                      <a:extLst>
                        <a:ext uri="{9D8B030D-6E8A-4147-A177-3AD203B41FA5}">
                          <a16:colId xmlns:a16="http://schemas.microsoft.com/office/drawing/2014/main" val="1317811807"/>
                        </a:ext>
                      </a:extLst>
                    </a:gridCol>
                    <a:gridCol w="1808628">
                      <a:extLst>
                        <a:ext uri="{9D8B030D-6E8A-4147-A177-3AD203B41FA5}">
                          <a16:colId xmlns:a16="http://schemas.microsoft.com/office/drawing/2014/main" val="4081859043"/>
                        </a:ext>
                      </a:extLst>
                    </a:gridCol>
                    <a:gridCol w="1808628">
                      <a:extLst>
                        <a:ext uri="{9D8B030D-6E8A-4147-A177-3AD203B41FA5}">
                          <a16:colId xmlns:a16="http://schemas.microsoft.com/office/drawing/2014/main" val="2433207674"/>
                        </a:ext>
                      </a:extLst>
                    </a:gridCol>
                  </a:tblGrid>
                  <a:tr h="579120">
                    <a:tc>
                      <a:txBody>
                        <a:bodyPr/>
                        <a:lstStyle/>
                        <a:p>
                          <a:r>
                            <a:rPr lang="en-GB" sz="1600" dirty="0"/>
                            <a:t>Parameter</a:t>
                          </a:r>
                        </a:p>
                      </a:txBody>
                      <a:tcPr/>
                    </a:tc>
                    <a:tc>
                      <a:txBody>
                        <a:bodyPr/>
                        <a:lstStyle/>
                        <a:p>
                          <a:r>
                            <a:rPr lang="en-GB" sz="1600" dirty="0" err="1"/>
                            <a:t>Aeroengine</a:t>
                          </a:r>
                          <a:r>
                            <a:rPr lang="en-GB" sz="1600" dirty="0"/>
                            <a:t> turbine</a:t>
                          </a:r>
                        </a:p>
                      </a:txBody>
                      <a:tcPr/>
                    </a:tc>
                    <a:tc>
                      <a:txBody>
                        <a:bodyPr/>
                        <a:lstStyle/>
                        <a:p>
                          <a:r>
                            <a:rPr lang="en-GB" sz="1600" dirty="0"/>
                            <a:t>Helium turbine</a:t>
                          </a:r>
                        </a:p>
                      </a:txBody>
                      <a:tcPr/>
                    </a:tc>
                    <a:extLst>
                      <a:ext uri="{0D108BD9-81ED-4DB2-BD59-A6C34878D82A}">
                        <a16:rowId xmlns:a16="http://schemas.microsoft.com/office/drawing/2014/main" val="2786270682"/>
                      </a:ext>
                    </a:extLst>
                  </a:tr>
                  <a:tr h="375384">
                    <a:tc>
                      <a:txBody>
                        <a:bodyPr/>
                        <a:lstStyle/>
                        <a:p>
                          <a:endParaRPr lang="en-US"/>
                        </a:p>
                      </a:txBody>
                      <a:tcPr>
                        <a:blipFill>
                          <a:blip r:embed="rId6"/>
                          <a:stretch>
                            <a:fillRect l="-901" t="-165517" r="-258559" b="-213793"/>
                          </a:stretch>
                        </a:blipFill>
                      </a:tcPr>
                    </a:tc>
                    <a:tc>
                      <a:txBody>
                        <a:bodyPr/>
                        <a:lstStyle/>
                        <a:p>
                          <a:r>
                            <a:rPr lang="en-GB" sz="1600" dirty="0"/>
                            <a:t>15</a:t>
                          </a:r>
                        </a:p>
                      </a:txBody>
                      <a:tcPr/>
                    </a:tc>
                    <a:tc>
                      <a:txBody>
                        <a:bodyPr/>
                        <a:lstStyle/>
                        <a:p>
                          <a:r>
                            <a:rPr lang="en-GB" sz="1600" dirty="0"/>
                            <a:t>17</a:t>
                          </a:r>
                        </a:p>
                      </a:txBody>
                      <a:tcPr/>
                    </a:tc>
                    <a:extLst>
                      <a:ext uri="{0D108BD9-81ED-4DB2-BD59-A6C34878D82A}">
                        <a16:rowId xmlns:a16="http://schemas.microsoft.com/office/drawing/2014/main" val="1851602333"/>
                      </a:ext>
                    </a:extLst>
                  </a:tr>
                  <a:tr h="370468">
                    <a:tc>
                      <a:txBody>
                        <a:bodyPr/>
                        <a:lstStyle/>
                        <a:p>
                          <a:endParaRPr lang="en-US"/>
                        </a:p>
                      </a:txBody>
                      <a:tcPr>
                        <a:blipFill>
                          <a:blip r:embed="rId6"/>
                          <a:stretch>
                            <a:fillRect l="-901" t="-256667" r="-258559" b="-106667"/>
                          </a:stretch>
                        </a:blipFill>
                      </a:tcPr>
                    </a:tc>
                    <a:tc>
                      <a:txBody>
                        <a:bodyPr/>
                        <a:lstStyle/>
                        <a:p>
                          <a:r>
                            <a:rPr lang="en-GB" sz="1600" dirty="0"/>
                            <a:t>11160</a:t>
                          </a:r>
                        </a:p>
                      </a:txBody>
                      <a:tcPr/>
                    </a:tc>
                    <a:tc>
                      <a:txBody>
                        <a:bodyPr/>
                        <a:lstStyle/>
                        <a:p>
                          <a:r>
                            <a:rPr lang="en-GB" sz="1600" dirty="0"/>
                            <a:t>6782</a:t>
                          </a:r>
                        </a:p>
                      </a:txBody>
                      <a:tcPr/>
                    </a:tc>
                    <a:extLst>
                      <a:ext uri="{0D108BD9-81ED-4DB2-BD59-A6C34878D82A}">
                        <a16:rowId xmlns:a16="http://schemas.microsoft.com/office/drawing/2014/main" val="3663463920"/>
                      </a:ext>
                    </a:extLst>
                  </a:tr>
                  <a:tr h="370468">
                    <a:tc>
                      <a:txBody>
                        <a:bodyPr/>
                        <a:lstStyle/>
                        <a:p>
                          <a:endParaRPr lang="en-US"/>
                        </a:p>
                      </a:txBody>
                      <a:tcPr>
                        <a:blipFill>
                          <a:blip r:embed="rId6"/>
                          <a:stretch>
                            <a:fillRect l="-901" t="-368966" r="-258559" b="-10345"/>
                          </a:stretch>
                        </a:blipFill>
                      </a:tcPr>
                    </a:tc>
                    <a:tc>
                      <a:txBody>
                        <a:bodyPr/>
                        <a:lstStyle/>
                        <a:p>
                          <a:r>
                            <a:rPr lang="en-GB" sz="1600" dirty="0"/>
                            <a:t>8.61</a:t>
                          </a:r>
                        </a:p>
                      </a:txBody>
                      <a:tcPr/>
                    </a:tc>
                    <a:tc>
                      <a:txBody>
                        <a:bodyPr/>
                        <a:lstStyle/>
                        <a:p>
                          <a:r>
                            <a:rPr lang="en-GB" sz="1600" dirty="0"/>
                            <a:t>2.17</a:t>
                          </a:r>
                        </a:p>
                      </a:txBody>
                      <a:tcPr/>
                    </a:tc>
                    <a:extLst>
                      <a:ext uri="{0D108BD9-81ED-4DB2-BD59-A6C34878D82A}">
                        <a16:rowId xmlns:a16="http://schemas.microsoft.com/office/drawing/2014/main" val="2432577881"/>
                      </a:ext>
                    </a:extLst>
                  </a:tr>
                </a:tbl>
              </a:graphicData>
            </a:graphic>
          </p:graphicFrame>
        </mc:Fallback>
      </mc:AlternateContent>
      <p:pic>
        <p:nvPicPr>
          <p:cNvPr id="15" name="Picture 14">
            <a:extLst>
              <a:ext uri="{FF2B5EF4-FFF2-40B4-BE49-F238E27FC236}">
                <a16:creationId xmlns:a16="http://schemas.microsoft.com/office/drawing/2014/main" id="{443F17CF-312F-AF44-B6C5-616CB97064BF}"/>
              </a:ext>
            </a:extLst>
          </p:cNvPr>
          <p:cNvPicPr>
            <a:picLocks noChangeAspect="1"/>
          </p:cNvPicPr>
          <p:nvPr/>
        </p:nvPicPr>
        <p:blipFill rotWithShape="1">
          <a:blip r:embed="rId7"/>
          <a:srcRect r="25640"/>
          <a:stretch/>
        </p:blipFill>
        <p:spPr>
          <a:xfrm>
            <a:off x="0" y="2002420"/>
            <a:ext cx="3186574" cy="4008871"/>
          </a:xfrm>
          <a:prstGeom prst="rect">
            <a:avLst/>
          </a:prstGeom>
        </p:spPr>
      </p:pic>
      <p:sp>
        <p:nvSpPr>
          <p:cNvPr id="14" name="Content Placeholder 2">
            <a:extLst>
              <a:ext uri="{FF2B5EF4-FFF2-40B4-BE49-F238E27FC236}">
                <a16:creationId xmlns:a16="http://schemas.microsoft.com/office/drawing/2014/main" id="{A2165935-BCF2-CC4D-A5E3-864E39D73916}"/>
              </a:ext>
            </a:extLst>
          </p:cNvPr>
          <p:cNvSpPr>
            <a:spLocks noGrp="1"/>
          </p:cNvSpPr>
          <p:nvPr>
            <p:ph idx="1"/>
          </p:nvPr>
        </p:nvSpPr>
        <p:spPr>
          <a:xfrm>
            <a:off x="7237612" y="5945059"/>
            <a:ext cx="1803192" cy="332544"/>
          </a:xfrm>
        </p:spPr>
        <p:txBody>
          <a:bodyPr/>
          <a:lstStyle/>
          <a:p>
            <a:pPr marL="0" indent="0">
              <a:buFontTx/>
              <a:buNone/>
            </a:pPr>
            <a:r>
              <a:rPr lang="en-GB" sz="1600" dirty="0"/>
              <a:t>Helium turbine</a:t>
            </a:r>
          </a:p>
          <a:p>
            <a:pPr marL="0" indent="0">
              <a:buNone/>
            </a:pPr>
            <a:endParaRPr lang="en-GB" sz="1600" dirty="0"/>
          </a:p>
        </p:txBody>
      </p:sp>
      <p:sp>
        <p:nvSpPr>
          <p:cNvPr id="16" name="Content Placeholder 2">
            <a:extLst>
              <a:ext uri="{FF2B5EF4-FFF2-40B4-BE49-F238E27FC236}">
                <a16:creationId xmlns:a16="http://schemas.microsoft.com/office/drawing/2014/main" id="{7A775206-313C-EA47-BCCC-D725EDA8EF36}"/>
              </a:ext>
            </a:extLst>
          </p:cNvPr>
          <p:cNvSpPr txBox="1">
            <a:spLocks/>
          </p:cNvSpPr>
          <p:nvPr/>
        </p:nvSpPr>
        <p:spPr bwMode="auto">
          <a:xfrm>
            <a:off x="4060273" y="5945059"/>
            <a:ext cx="1803192" cy="33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pPr marL="0" indent="0">
              <a:buFontTx/>
              <a:buNone/>
            </a:pPr>
            <a:r>
              <a:rPr lang="en-GB" sz="1600" kern="0" dirty="0" err="1"/>
              <a:t>Aeroengine</a:t>
            </a:r>
            <a:r>
              <a:rPr lang="en-GB" sz="1600" kern="0" dirty="0"/>
              <a:t> turbine</a:t>
            </a:r>
          </a:p>
          <a:p>
            <a:pPr marL="0" indent="0">
              <a:buFontTx/>
              <a:buNone/>
            </a:pPr>
            <a:endParaRPr lang="en-GB" sz="1600" kern="0" dirty="0"/>
          </a:p>
        </p:txBody>
      </p:sp>
      <p:sp>
        <p:nvSpPr>
          <p:cNvPr id="3" name="Rectangle 2">
            <a:extLst>
              <a:ext uri="{FF2B5EF4-FFF2-40B4-BE49-F238E27FC236}">
                <a16:creationId xmlns:a16="http://schemas.microsoft.com/office/drawing/2014/main" id="{B89A8B7C-7671-4148-956F-0C6256AA6AF2}"/>
              </a:ext>
            </a:extLst>
          </p:cNvPr>
          <p:cNvSpPr/>
          <p:nvPr/>
        </p:nvSpPr>
        <p:spPr bwMode="auto">
          <a:xfrm>
            <a:off x="7782132" y="4027076"/>
            <a:ext cx="1167493" cy="742551"/>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843654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DC66-E455-984C-8C33-C3AC76010BB7}"/>
              </a:ext>
            </a:extLst>
          </p:cNvPr>
          <p:cNvSpPr>
            <a:spLocks noGrp="1"/>
          </p:cNvSpPr>
          <p:nvPr>
            <p:ph type="title"/>
          </p:nvPr>
        </p:nvSpPr>
        <p:spPr>
          <a:xfrm>
            <a:off x="384176" y="264589"/>
            <a:ext cx="8375650" cy="792491"/>
          </a:xfrm>
        </p:spPr>
        <p:txBody>
          <a:bodyPr/>
          <a:lstStyle/>
          <a:p>
            <a:r>
              <a:rPr lang="en-US" dirty="0"/>
              <a:t>Number of stages can be reduced with tighter tolerances and improved blade and shroud design</a:t>
            </a:r>
          </a:p>
        </p:txBody>
      </p:sp>
      <p:sp>
        <p:nvSpPr>
          <p:cNvPr id="3" name="Content Placeholder 2">
            <a:extLst>
              <a:ext uri="{FF2B5EF4-FFF2-40B4-BE49-F238E27FC236}">
                <a16:creationId xmlns:a16="http://schemas.microsoft.com/office/drawing/2014/main" id="{C538D67F-6CF1-EE4D-BB14-1E7FB2FD3F3A}"/>
              </a:ext>
            </a:extLst>
          </p:cNvPr>
          <p:cNvSpPr>
            <a:spLocks noGrp="1"/>
          </p:cNvSpPr>
          <p:nvPr>
            <p:ph idx="1"/>
          </p:nvPr>
        </p:nvSpPr>
        <p:spPr>
          <a:xfrm>
            <a:off x="384176" y="1886507"/>
            <a:ext cx="8375650" cy="3084986"/>
          </a:xfrm>
        </p:spPr>
        <p:txBody>
          <a:bodyPr/>
          <a:lstStyle/>
          <a:p>
            <a:r>
              <a:rPr lang="en-US" sz="2400" dirty="0"/>
              <a:t>Minimum stages for 85% efficiency with:</a:t>
            </a:r>
          </a:p>
          <a:p>
            <a:endParaRPr lang="en-US" sz="2400" dirty="0"/>
          </a:p>
          <a:p>
            <a:endParaRPr lang="en-US" sz="2400" dirty="0"/>
          </a:p>
          <a:p>
            <a:endParaRPr lang="en-US" sz="2400" dirty="0"/>
          </a:p>
          <a:p>
            <a:pPr marL="0" indent="0">
              <a:buNone/>
            </a:pPr>
            <a:endParaRPr lang="en-US" sz="2400" dirty="0"/>
          </a:p>
          <a:p>
            <a:pPr marL="0" indent="0">
              <a:buNone/>
            </a:pPr>
            <a:endParaRPr lang="en-US" sz="1800" dirty="0"/>
          </a:p>
        </p:txBody>
      </p:sp>
      <p:sp>
        <p:nvSpPr>
          <p:cNvPr id="7" name="Slide Number Placeholder 6">
            <a:extLst>
              <a:ext uri="{FF2B5EF4-FFF2-40B4-BE49-F238E27FC236}">
                <a16:creationId xmlns:a16="http://schemas.microsoft.com/office/drawing/2014/main" id="{0EF4B721-68F0-1048-A324-2551BDE3BD56}"/>
              </a:ext>
            </a:extLst>
          </p:cNvPr>
          <p:cNvSpPr>
            <a:spLocks noGrp="1"/>
          </p:cNvSpPr>
          <p:nvPr>
            <p:ph type="sldNum" sz="quarter" idx="10"/>
          </p:nvPr>
        </p:nvSpPr>
        <p:spPr/>
        <p:txBody>
          <a:bodyPr/>
          <a:lstStyle/>
          <a:p>
            <a:r>
              <a:rPr lang="en-US" dirty="0"/>
              <a:t>9</a:t>
            </a:r>
          </a:p>
        </p:txBody>
      </p:sp>
    </p:spTree>
    <p:extLst>
      <p:ext uri="{BB962C8B-B14F-4D97-AF65-F5344CB8AC3E}">
        <p14:creationId xmlns:p14="http://schemas.microsoft.com/office/powerpoint/2010/main" val="2024786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DC66-E455-984C-8C33-C3AC76010BB7}"/>
              </a:ext>
            </a:extLst>
          </p:cNvPr>
          <p:cNvSpPr>
            <a:spLocks noGrp="1"/>
          </p:cNvSpPr>
          <p:nvPr>
            <p:ph type="title"/>
          </p:nvPr>
        </p:nvSpPr>
        <p:spPr>
          <a:xfrm>
            <a:off x="384176" y="264589"/>
            <a:ext cx="8375650" cy="792491"/>
          </a:xfrm>
        </p:spPr>
        <p:txBody>
          <a:bodyPr/>
          <a:lstStyle/>
          <a:p>
            <a:r>
              <a:rPr lang="en-US" dirty="0"/>
              <a:t>Number of stages can be reduced with tighter tolerances and improved blade and shroud design</a:t>
            </a:r>
          </a:p>
        </p:txBody>
      </p:sp>
      <p:sp>
        <p:nvSpPr>
          <p:cNvPr id="3" name="Content Placeholder 2">
            <a:extLst>
              <a:ext uri="{FF2B5EF4-FFF2-40B4-BE49-F238E27FC236}">
                <a16:creationId xmlns:a16="http://schemas.microsoft.com/office/drawing/2014/main" id="{C538D67F-6CF1-EE4D-BB14-1E7FB2FD3F3A}"/>
              </a:ext>
            </a:extLst>
          </p:cNvPr>
          <p:cNvSpPr>
            <a:spLocks noGrp="1"/>
          </p:cNvSpPr>
          <p:nvPr>
            <p:ph idx="1"/>
          </p:nvPr>
        </p:nvSpPr>
        <p:spPr>
          <a:xfrm>
            <a:off x="384176" y="1886507"/>
            <a:ext cx="8375650" cy="3084986"/>
          </a:xfrm>
        </p:spPr>
        <p:txBody>
          <a:bodyPr/>
          <a:lstStyle/>
          <a:p>
            <a:r>
              <a:rPr lang="en-US" sz="2400" dirty="0"/>
              <a:t>Minimum stages for 85% efficiency with:</a:t>
            </a:r>
          </a:p>
          <a:p>
            <a:endParaRPr lang="en-US" sz="2400" dirty="0"/>
          </a:p>
          <a:p>
            <a:endParaRPr lang="en-US" sz="2400" dirty="0"/>
          </a:p>
          <a:p>
            <a:endParaRPr lang="en-US" sz="2400" dirty="0"/>
          </a:p>
          <a:p>
            <a:pPr marL="0" indent="0">
              <a:buNone/>
            </a:pPr>
            <a:endParaRPr lang="en-US" sz="2400" dirty="0"/>
          </a:p>
          <a:p>
            <a:pPr marL="0" indent="0">
              <a:buNone/>
            </a:pPr>
            <a:endParaRPr lang="en-US" sz="1800" dirty="0"/>
          </a:p>
        </p:txBody>
      </p:sp>
      <p:sp>
        <p:nvSpPr>
          <p:cNvPr id="7" name="Slide Number Placeholder 6">
            <a:extLst>
              <a:ext uri="{FF2B5EF4-FFF2-40B4-BE49-F238E27FC236}">
                <a16:creationId xmlns:a16="http://schemas.microsoft.com/office/drawing/2014/main" id="{0EF4B721-68F0-1048-A324-2551BDE3BD56}"/>
              </a:ext>
            </a:extLst>
          </p:cNvPr>
          <p:cNvSpPr>
            <a:spLocks noGrp="1"/>
          </p:cNvSpPr>
          <p:nvPr>
            <p:ph type="sldNum" sz="quarter" idx="10"/>
          </p:nvPr>
        </p:nvSpPr>
        <p:spPr/>
        <p:txBody>
          <a:bodyPr/>
          <a:lstStyle/>
          <a:p>
            <a:r>
              <a:rPr lang="en-US" dirty="0"/>
              <a:t>9</a:t>
            </a:r>
          </a:p>
        </p:txBody>
      </p:sp>
      <p:graphicFrame>
        <p:nvGraphicFramePr>
          <p:cNvPr id="6" name="Table 5">
            <a:extLst>
              <a:ext uri="{FF2B5EF4-FFF2-40B4-BE49-F238E27FC236}">
                <a16:creationId xmlns:a16="http://schemas.microsoft.com/office/drawing/2014/main" id="{7B694D6C-8D04-0B4F-99C6-04D60957EF29}"/>
              </a:ext>
            </a:extLst>
          </p:cNvPr>
          <p:cNvGraphicFramePr>
            <a:graphicFrameLocks noGrp="1"/>
          </p:cNvGraphicFramePr>
          <p:nvPr>
            <p:extLst>
              <p:ext uri="{D42A27DB-BD31-4B8C-83A1-F6EECF244321}">
                <p14:modId xmlns:p14="http://schemas.microsoft.com/office/powerpoint/2010/main" val="3277601314"/>
              </p:ext>
            </p:extLst>
          </p:nvPr>
        </p:nvGraphicFramePr>
        <p:xfrm>
          <a:off x="914401" y="2346374"/>
          <a:ext cx="8009976" cy="2171700"/>
        </p:xfrm>
        <a:graphic>
          <a:graphicData uri="http://schemas.openxmlformats.org/drawingml/2006/table">
            <a:tbl>
              <a:tblPr firstRow="1" bandRow="1">
                <a:tableStyleId>{F5AB1C69-6EDB-4FF4-983F-18BD219EF322}</a:tableStyleId>
              </a:tblPr>
              <a:tblGrid>
                <a:gridCol w="6313117">
                  <a:extLst>
                    <a:ext uri="{9D8B030D-6E8A-4147-A177-3AD203B41FA5}">
                      <a16:colId xmlns:a16="http://schemas.microsoft.com/office/drawing/2014/main" val="1298441687"/>
                    </a:ext>
                  </a:extLst>
                </a:gridCol>
                <a:gridCol w="1696859">
                  <a:extLst>
                    <a:ext uri="{9D8B030D-6E8A-4147-A177-3AD203B41FA5}">
                      <a16:colId xmlns:a16="http://schemas.microsoft.com/office/drawing/2014/main" val="1433621557"/>
                    </a:ext>
                  </a:extLst>
                </a:gridCol>
              </a:tblGrid>
              <a:tr h="0">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376995407"/>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No changes (</a:t>
                      </a:r>
                      <a:r>
                        <a:rPr lang="en-US" sz="2400" dirty="0" err="1"/>
                        <a:t>t</a:t>
                      </a:r>
                      <a:r>
                        <a:rPr lang="en-US" sz="2400" baseline="-25000" dirty="0" err="1"/>
                        <a:t>TE</a:t>
                      </a:r>
                      <a:r>
                        <a:rPr lang="en-US" sz="2400" dirty="0"/>
                        <a:t> = g = 0.3mm, p/</a:t>
                      </a:r>
                      <a:r>
                        <a:rPr lang="en-US" sz="2400" dirty="0" err="1"/>
                        <a:t>C</a:t>
                      </a:r>
                      <a:r>
                        <a:rPr lang="en-US" sz="2400" baseline="-25000" dirty="0" err="1"/>
                        <a:t>x</a:t>
                      </a:r>
                      <a:r>
                        <a:rPr lang="en-US" sz="2400" dirty="0"/>
                        <a:t> = 1.1)</a:t>
                      </a:r>
                      <a:endParaRPr lang="en-GB" sz="2400" dirty="0"/>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GB" sz="2400" dirty="0"/>
                        <a:t>19</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509589"/>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endParaRPr lang="en-US"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6615108"/>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endParaRPr lang="en-US"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01301695"/>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endParaRPr lang="en-US"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30408963"/>
                  </a:ext>
                </a:extLst>
              </a:tr>
            </a:tbl>
          </a:graphicData>
        </a:graphic>
      </p:graphicFrame>
    </p:spTree>
    <p:extLst>
      <p:ext uri="{BB962C8B-B14F-4D97-AF65-F5344CB8AC3E}">
        <p14:creationId xmlns:p14="http://schemas.microsoft.com/office/powerpoint/2010/main" val="3372950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DC66-E455-984C-8C33-C3AC76010BB7}"/>
              </a:ext>
            </a:extLst>
          </p:cNvPr>
          <p:cNvSpPr>
            <a:spLocks noGrp="1"/>
          </p:cNvSpPr>
          <p:nvPr>
            <p:ph type="title"/>
          </p:nvPr>
        </p:nvSpPr>
        <p:spPr>
          <a:xfrm>
            <a:off x="384176" y="264589"/>
            <a:ext cx="8375650" cy="792491"/>
          </a:xfrm>
        </p:spPr>
        <p:txBody>
          <a:bodyPr/>
          <a:lstStyle/>
          <a:p>
            <a:r>
              <a:rPr lang="en-US" dirty="0"/>
              <a:t>Number of stages can be reduced with tighter tolerances and improved blade and shroud design</a:t>
            </a:r>
          </a:p>
        </p:txBody>
      </p:sp>
      <p:sp>
        <p:nvSpPr>
          <p:cNvPr id="3" name="Content Placeholder 2">
            <a:extLst>
              <a:ext uri="{FF2B5EF4-FFF2-40B4-BE49-F238E27FC236}">
                <a16:creationId xmlns:a16="http://schemas.microsoft.com/office/drawing/2014/main" id="{C538D67F-6CF1-EE4D-BB14-1E7FB2FD3F3A}"/>
              </a:ext>
            </a:extLst>
          </p:cNvPr>
          <p:cNvSpPr>
            <a:spLocks noGrp="1"/>
          </p:cNvSpPr>
          <p:nvPr>
            <p:ph idx="1"/>
          </p:nvPr>
        </p:nvSpPr>
        <p:spPr>
          <a:xfrm>
            <a:off x="384176" y="1886507"/>
            <a:ext cx="8375650" cy="3084986"/>
          </a:xfrm>
        </p:spPr>
        <p:txBody>
          <a:bodyPr/>
          <a:lstStyle/>
          <a:p>
            <a:r>
              <a:rPr lang="en-US" sz="2400" dirty="0"/>
              <a:t>Minimum stages for 85% efficiency with:</a:t>
            </a:r>
          </a:p>
          <a:p>
            <a:endParaRPr lang="en-US" sz="2400" dirty="0"/>
          </a:p>
          <a:p>
            <a:endParaRPr lang="en-US" sz="2400" dirty="0"/>
          </a:p>
          <a:p>
            <a:endParaRPr lang="en-US" sz="2400" dirty="0"/>
          </a:p>
          <a:p>
            <a:pPr marL="0" indent="0">
              <a:buNone/>
            </a:pPr>
            <a:endParaRPr lang="en-US" sz="2400" dirty="0"/>
          </a:p>
          <a:p>
            <a:pPr marL="0" indent="0">
              <a:buNone/>
            </a:pPr>
            <a:endParaRPr lang="en-US" sz="1800" dirty="0"/>
          </a:p>
        </p:txBody>
      </p:sp>
      <p:sp>
        <p:nvSpPr>
          <p:cNvPr id="7" name="Slide Number Placeholder 6">
            <a:extLst>
              <a:ext uri="{FF2B5EF4-FFF2-40B4-BE49-F238E27FC236}">
                <a16:creationId xmlns:a16="http://schemas.microsoft.com/office/drawing/2014/main" id="{0EF4B721-68F0-1048-A324-2551BDE3BD56}"/>
              </a:ext>
            </a:extLst>
          </p:cNvPr>
          <p:cNvSpPr>
            <a:spLocks noGrp="1"/>
          </p:cNvSpPr>
          <p:nvPr>
            <p:ph type="sldNum" sz="quarter" idx="10"/>
          </p:nvPr>
        </p:nvSpPr>
        <p:spPr/>
        <p:txBody>
          <a:bodyPr/>
          <a:lstStyle/>
          <a:p>
            <a:r>
              <a:rPr lang="en-US" dirty="0"/>
              <a:t>9</a:t>
            </a:r>
          </a:p>
        </p:txBody>
      </p:sp>
      <p:graphicFrame>
        <p:nvGraphicFramePr>
          <p:cNvPr id="6" name="Table 5">
            <a:extLst>
              <a:ext uri="{FF2B5EF4-FFF2-40B4-BE49-F238E27FC236}">
                <a16:creationId xmlns:a16="http://schemas.microsoft.com/office/drawing/2014/main" id="{2ECCA9D4-C8E9-794E-B430-AE624384B69C}"/>
              </a:ext>
            </a:extLst>
          </p:cNvPr>
          <p:cNvGraphicFramePr>
            <a:graphicFrameLocks noGrp="1"/>
          </p:cNvGraphicFramePr>
          <p:nvPr>
            <p:extLst>
              <p:ext uri="{D42A27DB-BD31-4B8C-83A1-F6EECF244321}">
                <p14:modId xmlns:p14="http://schemas.microsoft.com/office/powerpoint/2010/main" val="3923349023"/>
              </p:ext>
            </p:extLst>
          </p:nvPr>
        </p:nvGraphicFramePr>
        <p:xfrm>
          <a:off x="914401" y="2346374"/>
          <a:ext cx="8009976" cy="2171700"/>
        </p:xfrm>
        <a:graphic>
          <a:graphicData uri="http://schemas.openxmlformats.org/drawingml/2006/table">
            <a:tbl>
              <a:tblPr firstRow="1" bandRow="1">
                <a:tableStyleId>{F5AB1C69-6EDB-4FF4-983F-18BD219EF322}</a:tableStyleId>
              </a:tblPr>
              <a:tblGrid>
                <a:gridCol w="6313117">
                  <a:extLst>
                    <a:ext uri="{9D8B030D-6E8A-4147-A177-3AD203B41FA5}">
                      <a16:colId xmlns:a16="http://schemas.microsoft.com/office/drawing/2014/main" val="1298441687"/>
                    </a:ext>
                  </a:extLst>
                </a:gridCol>
                <a:gridCol w="1696859">
                  <a:extLst>
                    <a:ext uri="{9D8B030D-6E8A-4147-A177-3AD203B41FA5}">
                      <a16:colId xmlns:a16="http://schemas.microsoft.com/office/drawing/2014/main" val="1433621557"/>
                    </a:ext>
                  </a:extLst>
                </a:gridCol>
              </a:tblGrid>
              <a:tr h="0">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376995407"/>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No changes (</a:t>
                      </a:r>
                      <a:r>
                        <a:rPr lang="en-US" sz="2400" dirty="0" err="1"/>
                        <a:t>t</a:t>
                      </a:r>
                      <a:r>
                        <a:rPr lang="en-US" sz="2400" baseline="-25000" dirty="0" err="1"/>
                        <a:t>TE</a:t>
                      </a:r>
                      <a:r>
                        <a:rPr lang="en-US" sz="2400" dirty="0"/>
                        <a:t> = g = 0.3mm, p/</a:t>
                      </a:r>
                      <a:r>
                        <a:rPr lang="en-US" sz="2400" dirty="0" err="1"/>
                        <a:t>C</a:t>
                      </a:r>
                      <a:r>
                        <a:rPr lang="en-US" sz="2400" baseline="-25000" dirty="0" err="1"/>
                        <a:t>x</a:t>
                      </a:r>
                      <a:r>
                        <a:rPr lang="en-US" sz="2400" dirty="0"/>
                        <a:t> = 1.1)</a:t>
                      </a:r>
                      <a:endParaRPr lang="en-GB" sz="2400" dirty="0"/>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GB" sz="2400" dirty="0"/>
                        <a:t>19</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509589"/>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Shroud gap halved to 0.15mm</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a:t>12</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6615108"/>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endParaRPr lang="en-US"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01301695"/>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endParaRPr lang="en-US"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30408963"/>
                  </a:ext>
                </a:extLst>
              </a:tr>
            </a:tbl>
          </a:graphicData>
        </a:graphic>
      </p:graphicFrame>
    </p:spTree>
    <p:extLst>
      <p:ext uri="{BB962C8B-B14F-4D97-AF65-F5344CB8AC3E}">
        <p14:creationId xmlns:p14="http://schemas.microsoft.com/office/powerpoint/2010/main" val="894883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DC66-E455-984C-8C33-C3AC76010BB7}"/>
              </a:ext>
            </a:extLst>
          </p:cNvPr>
          <p:cNvSpPr>
            <a:spLocks noGrp="1"/>
          </p:cNvSpPr>
          <p:nvPr>
            <p:ph type="title"/>
          </p:nvPr>
        </p:nvSpPr>
        <p:spPr>
          <a:xfrm>
            <a:off x="384176" y="264589"/>
            <a:ext cx="8375650" cy="792491"/>
          </a:xfrm>
        </p:spPr>
        <p:txBody>
          <a:bodyPr/>
          <a:lstStyle/>
          <a:p>
            <a:r>
              <a:rPr lang="en-US" dirty="0"/>
              <a:t>Number of stages can be reduced with tighter tolerances and improved blade and shroud design</a:t>
            </a:r>
          </a:p>
        </p:txBody>
      </p:sp>
      <p:sp>
        <p:nvSpPr>
          <p:cNvPr id="3" name="Content Placeholder 2">
            <a:extLst>
              <a:ext uri="{FF2B5EF4-FFF2-40B4-BE49-F238E27FC236}">
                <a16:creationId xmlns:a16="http://schemas.microsoft.com/office/drawing/2014/main" id="{C538D67F-6CF1-EE4D-BB14-1E7FB2FD3F3A}"/>
              </a:ext>
            </a:extLst>
          </p:cNvPr>
          <p:cNvSpPr>
            <a:spLocks noGrp="1"/>
          </p:cNvSpPr>
          <p:nvPr>
            <p:ph idx="1"/>
          </p:nvPr>
        </p:nvSpPr>
        <p:spPr>
          <a:xfrm>
            <a:off x="384176" y="1886507"/>
            <a:ext cx="8375650" cy="3084986"/>
          </a:xfrm>
        </p:spPr>
        <p:txBody>
          <a:bodyPr/>
          <a:lstStyle/>
          <a:p>
            <a:r>
              <a:rPr lang="en-US" sz="2400" dirty="0"/>
              <a:t>Minimum stages for 85% efficiency with:</a:t>
            </a:r>
          </a:p>
          <a:p>
            <a:endParaRPr lang="en-US" sz="2400" dirty="0"/>
          </a:p>
          <a:p>
            <a:endParaRPr lang="en-US" sz="2400" dirty="0"/>
          </a:p>
          <a:p>
            <a:endParaRPr lang="en-US" sz="2400" dirty="0"/>
          </a:p>
          <a:p>
            <a:pPr marL="0" indent="0">
              <a:buNone/>
            </a:pPr>
            <a:endParaRPr lang="en-US" sz="2400" dirty="0"/>
          </a:p>
          <a:p>
            <a:pPr marL="0" indent="0">
              <a:buNone/>
            </a:pPr>
            <a:endParaRPr lang="en-US" sz="1800" dirty="0"/>
          </a:p>
        </p:txBody>
      </p:sp>
      <p:sp>
        <p:nvSpPr>
          <p:cNvPr id="7" name="Slide Number Placeholder 6">
            <a:extLst>
              <a:ext uri="{FF2B5EF4-FFF2-40B4-BE49-F238E27FC236}">
                <a16:creationId xmlns:a16="http://schemas.microsoft.com/office/drawing/2014/main" id="{0EF4B721-68F0-1048-A324-2551BDE3BD56}"/>
              </a:ext>
            </a:extLst>
          </p:cNvPr>
          <p:cNvSpPr>
            <a:spLocks noGrp="1"/>
          </p:cNvSpPr>
          <p:nvPr>
            <p:ph type="sldNum" sz="quarter" idx="10"/>
          </p:nvPr>
        </p:nvSpPr>
        <p:spPr/>
        <p:txBody>
          <a:bodyPr/>
          <a:lstStyle/>
          <a:p>
            <a:r>
              <a:rPr lang="en-US" dirty="0"/>
              <a:t>9</a:t>
            </a:r>
          </a:p>
        </p:txBody>
      </p:sp>
      <p:graphicFrame>
        <p:nvGraphicFramePr>
          <p:cNvPr id="6" name="Table 5">
            <a:extLst>
              <a:ext uri="{FF2B5EF4-FFF2-40B4-BE49-F238E27FC236}">
                <a16:creationId xmlns:a16="http://schemas.microsoft.com/office/drawing/2014/main" id="{801B06A3-63DB-E74B-A63E-1F28CC594F98}"/>
              </a:ext>
            </a:extLst>
          </p:cNvPr>
          <p:cNvGraphicFramePr>
            <a:graphicFrameLocks noGrp="1"/>
          </p:cNvGraphicFramePr>
          <p:nvPr>
            <p:extLst>
              <p:ext uri="{D42A27DB-BD31-4B8C-83A1-F6EECF244321}">
                <p14:modId xmlns:p14="http://schemas.microsoft.com/office/powerpoint/2010/main" val="1679133768"/>
              </p:ext>
            </p:extLst>
          </p:nvPr>
        </p:nvGraphicFramePr>
        <p:xfrm>
          <a:off x="914401" y="2346374"/>
          <a:ext cx="8009976" cy="2171700"/>
        </p:xfrm>
        <a:graphic>
          <a:graphicData uri="http://schemas.openxmlformats.org/drawingml/2006/table">
            <a:tbl>
              <a:tblPr firstRow="1" bandRow="1">
                <a:tableStyleId>{F5AB1C69-6EDB-4FF4-983F-18BD219EF322}</a:tableStyleId>
              </a:tblPr>
              <a:tblGrid>
                <a:gridCol w="6313117">
                  <a:extLst>
                    <a:ext uri="{9D8B030D-6E8A-4147-A177-3AD203B41FA5}">
                      <a16:colId xmlns:a16="http://schemas.microsoft.com/office/drawing/2014/main" val="1298441687"/>
                    </a:ext>
                  </a:extLst>
                </a:gridCol>
                <a:gridCol w="1696859">
                  <a:extLst>
                    <a:ext uri="{9D8B030D-6E8A-4147-A177-3AD203B41FA5}">
                      <a16:colId xmlns:a16="http://schemas.microsoft.com/office/drawing/2014/main" val="1433621557"/>
                    </a:ext>
                  </a:extLst>
                </a:gridCol>
              </a:tblGrid>
              <a:tr h="0">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376995407"/>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No changes (</a:t>
                      </a:r>
                      <a:r>
                        <a:rPr lang="en-US" sz="2400" dirty="0" err="1"/>
                        <a:t>t</a:t>
                      </a:r>
                      <a:r>
                        <a:rPr lang="en-US" sz="2400" baseline="-25000" dirty="0" err="1"/>
                        <a:t>TE</a:t>
                      </a:r>
                      <a:r>
                        <a:rPr lang="en-US" sz="2400" dirty="0"/>
                        <a:t> = g = 0.3mm, p/</a:t>
                      </a:r>
                      <a:r>
                        <a:rPr lang="en-US" sz="2400" dirty="0" err="1"/>
                        <a:t>C</a:t>
                      </a:r>
                      <a:r>
                        <a:rPr lang="en-US" sz="2400" baseline="-25000" dirty="0" err="1"/>
                        <a:t>x</a:t>
                      </a:r>
                      <a:r>
                        <a:rPr lang="en-US" sz="2400" dirty="0"/>
                        <a:t> = 1.1)</a:t>
                      </a:r>
                      <a:endParaRPr lang="en-GB" sz="2400" dirty="0"/>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GB" sz="2400" dirty="0"/>
                        <a:t>19</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509589"/>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Shroud gap halved to 0.15mm</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a:t>12</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6615108"/>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Stator shroud loss cut by 70%</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a:t>13</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01301695"/>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endParaRPr lang="en-US"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2400" dirty="0"/>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30408963"/>
                  </a:ext>
                </a:extLst>
              </a:tr>
            </a:tbl>
          </a:graphicData>
        </a:graphic>
      </p:graphicFrame>
    </p:spTree>
    <p:extLst>
      <p:ext uri="{BB962C8B-B14F-4D97-AF65-F5344CB8AC3E}">
        <p14:creationId xmlns:p14="http://schemas.microsoft.com/office/powerpoint/2010/main" val="3396757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DC66-E455-984C-8C33-C3AC76010BB7}"/>
              </a:ext>
            </a:extLst>
          </p:cNvPr>
          <p:cNvSpPr>
            <a:spLocks noGrp="1"/>
          </p:cNvSpPr>
          <p:nvPr>
            <p:ph type="title"/>
          </p:nvPr>
        </p:nvSpPr>
        <p:spPr>
          <a:xfrm>
            <a:off x="384176" y="264589"/>
            <a:ext cx="8375650" cy="792491"/>
          </a:xfrm>
        </p:spPr>
        <p:txBody>
          <a:bodyPr/>
          <a:lstStyle/>
          <a:p>
            <a:r>
              <a:rPr lang="en-US" dirty="0"/>
              <a:t>Number of stages can be reduced with tighter tolerances and improved blade and shroud design</a:t>
            </a:r>
          </a:p>
        </p:txBody>
      </p:sp>
      <p:sp>
        <p:nvSpPr>
          <p:cNvPr id="3" name="Content Placeholder 2">
            <a:extLst>
              <a:ext uri="{FF2B5EF4-FFF2-40B4-BE49-F238E27FC236}">
                <a16:creationId xmlns:a16="http://schemas.microsoft.com/office/drawing/2014/main" id="{C538D67F-6CF1-EE4D-BB14-1E7FB2FD3F3A}"/>
              </a:ext>
            </a:extLst>
          </p:cNvPr>
          <p:cNvSpPr>
            <a:spLocks noGrp="1"/>
          </p:cNvSpPr>
          <p:nvPr>
            <p:ph idx="1"/>
          </p:nvPr>
        </p:nvSpPr>
        <p:spPr>
          <a:xfrm>
            <a:off x="384176" y="1886507"/>
            <a:ext cx="8375650" cy="3084986"/>
          </a:xfrm>
        </p:spPr>
        <p:txBody>
          <a:bodyPr/>
          <a:lstStyle/>
          <a:p>
            <a:r>
              <a:rPr lang="en-US" sz="2400" dirty="0"/>
              <a:t>Minimum stages for 85% efficiency with:</a:t>
            </a:r>
          </a:p>
          <a:p>
            <a:endParaRPr lang="en-US" sz="2400" dirty="0"/>
          </a:p>
          <a:p>
            <a:endParaRPr lang="en-US" sz="2400" dirty="0"/>
          </a:p>
          <a:p>
            <a:endParaRPr lang="en-US" sz="2400" dirty="0"/>
          </a:p>
          <a:p>
            <a:pPr marL="0" indent="0">
              <a:buNone/>
            </a:pPr>
            <a:endParaRPr lang="en-US" sz="2400" dirty="0"/>
          </a:p>
          <a:p>
            <a:pPr marL="0" indent="0">
              <a:buNone/>
            </a:pPr>
            <a:endParaRPr lang="en-US" sz="1800" dirty="0"/>
          </a:p>
        </p:txBody>
      </p:sp>
      <p:sp>
        <p:nvSpPr>
          <p:cNvPr id="7" name="Slide Number Placeholder 6">
            <a:extLst>
              <a:ext uri="{FF2B5EF4-FFF2-40B4-BE49-F238E27FC236}">
                <a16:creationId xmlns:a16="http://schemas.microsoft.com/office/drawing/2014/main" id="{0EF4B721-68F0-1048-A324-2551BDE3BD56}"/>
              </a:ext>
            </a:extLst>
          </p:cNvPr>
          <p:cNvSpPr>
            <a:spLocks noGrp="1"/>
          </p:cNvSpPr>
          <p:nvPr>
            <p:ph type="sldNum" sz="quarter" idx="10"/>
          </p:nvPr>
        </p:nvSpPr>
        <p:spPr/>
        <p:txBody>
          <a:bodyPr/>
          <a:lstStyle/>
          <a:p>
            <a:r>
              <a:rPr lang="en-US" dirty="0"/>
              <a:t>9</a:t>
            </a:r>
          </a:p>
        </p:txBody>
      </p:sp>
      <p:graphicFrame>
        <p:nvGraphicFramePr>
          <p:cNvPr id="4" name="Table 3">
            <a:extLst>
              <a:ext uri="{FF2B5EF4-FFF2-40B4-BE49-F238E27FC236}">
                <a16:creationId xmlns:a16="http://schemas.microsoft.com/office/drawing/2014/main" id="{04DF683E-3FE5-7A49-A296-16B61A3E358D}"/>
              </a:ext>
            </a:extLst>
          </p:cNvPr>
          <p:cNvGraphicFramePr>
            <a:graphicFrameLocks noGrp="1"/>
          </p:cNvGraphicFramePr>
          <p:nvPr>
            <p:extLst>
              <p:ext uri="{D42A27DB-BD31-4B8C-83A1-F6EECF244321}">
                <p14:modId xmlns:p14="http://schemas.microsoft.com/office/powerpoint/2010/main" val="3717478257"/>
              </p:ext>
            </p:extLst>
          </p:nvPr>
        </p:nvGraphicFramePr>
        <p:xfrm>
          <a:off x="914401" y="2346374"/>
          <a:ext cx="8009976" cy="2537460"/>
        </p:xfrm>
        <a:graphic>
          <a:graphicData uri="http://schemas.openxmlformats.org/drawingml/2006/table">
            <a:tbl>
              <a:tblPr firstRow="1" bandRow="1">
                <a:tableStyleId>{F5AB1C69-6EDB-4FF4-983F-18BD219EF322}</a:tableStyleId>
              </a:tblPr>
              <a:tblGrid>
                <a:gridCol w="6313117">
                  <a:extLst>
                    <a:ext uri="{9D8B030D-6E8A-4147-A177-3AD203B41FA5}">
                      <a16:colId xmlns:a16="http://schemas.microsoft.com/office/drawing/2014/main" val="1298441687"/>
                    </a:ext>
                  </a:extLst>
                </a:gridCol>
                <a:gridCol w="1696859">
                  <a:extLst>
                    <a:ext uri="{9D8B030D-6E8A-4147-A177-3AD203B41FA5}">
                      <a16:colId xmlns:a16="http://schemas.microsoft.com/office/drawing/2014/main" val="1433621557"/>
                    </a:ext>
                  </a:extLst>
                </a:gridCol>
              </a:tblGrid>
              <a:tr h="0">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GB" sz="2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376995407"/>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No changes (</a:t>
                      </a:r>
                      <a:r>
                        <a:rPr lang="en-US" sz="2400" dirty="0" err="1"/>
                        <a:t>t</a:t>
                      </a:r>
                      <a:r>
                        <a:rPr lang="en-US" sz="2400" baseline="-25000" dirty="0" err="1"/>
                        <a:t>TE</a:t>
                      </a:r>
                      <a:r>
                        <a:rPr lang="en-US" sz="2400" dirty="0"/>
                        <a:t> = g = 0.3mm, p/</a:t>
                      </a:r>
                      <a:r>
                        <a:rPr lang="en-US" sz="2400" dirty="0" err="1"/>
                        <a:t>C</a:t>
                      </a:r>
                      <a:r>
                        <a:rPr lang="en-US" sz="2400" baseline="-25000" dirty="0" err="1"/>
                        <a:t>x</a:t>
                      </a:r>
                      <a:r>
                        <a:rPr lang="en-US" sz="2400" dirty="0"/>
                        <a:t> = 1.1)</a:t>
                      </a:r>
                      <a:endParaRPr lang="en-GB" sz="2400" dirty="0"/>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GB" sz="2400" dirty="0"/>
                        <a:t>19</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509589"/>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Shroud gap halved to 0.15mm</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a:t>12</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6615108"/>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Stator shroud loss cut by 70%</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a:t>13</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01301695"/>
                  </a:ext>
                </a:extLst>
              </a:tr>
              <a:tr h="278130">
                <a:tc>
                  <a:txBody>
                    <a:bodyPr/>
                    <a:lstStyle/>
                    <a:p>
                      <a:pPr marL="342900" marR="0" lvl="0" indent="-342900" algn="l" defTabSz="457200" rtl="0" eaLnBrk="1" fontAlgn="auto" latinLnBrk="0" hangingPunct="1">
                        <a:lnSpc>
                          <a:spcPct val="100000"/>
                        </a:lnSpc>
                        <a:spcBef>
                          <a:spcPts val="0"/>
                        </a:spcBef>
                        <a:spcAft>
                          <a:spcPts val="0"/>
                        </a:spcAft>
                        <a:buClrTx/>
                        <a:buSzTx/>
                        <a:buFont typeface="System Font Regular"/>
                        <a:buChar char="-"/>
                        <a:tabLst/>
                        <a:defRPr/>
                      </a:pPr>
                      <a:r>
                        <a:rPr lang="en-US" sz="2400" dirty="0"/>
                        <a:t>All of the above + </a:t>
                      </a:r>
                      <a:r>
                        <a:rPr lang="en-US" sz="2400" dirty="0" err="1"/>
                        <a:t>t</a:t>
                      </a:r>
                      <a:r>
                        <a:rPr lang="en-US" sz="2400" baseline="-25000" dirty="0" err="1"/>
                        <a:t>TE</a:t>
                      </a:r>
                      <a:r>
                        <a:rPr lang="en-US" sz="2400" baseline="0" dirty="0"/>
                        <a:t>=0.15mm               and </a:t>
                      </a:r>
                      <a:r>
                        <a:rPr lang="en-US" sz="2400" dirty="0"/>
                        <a:t>p/</a:t>
                      </a:r>
                      <a:r>
                        <a:rPr lang="en-US" sz="2400" dirty="0" err="1"/>
                        <a:t>C</a:t>
                      </a:r>
                      <a:r>
                        <a:rPr lang="en-US" sz="2400" baseline="-25000" dirty="0" err="1"/>
                        <a:t>x</a:t>
                      </a:r>
                      <a:r>
                        <a:rPr lang="en-US" sz="2400" dirty="0"/>
                        <a:t> = 1.5</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a:t>7</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30408963"/>
                  </a:ext>
                </a:extLst>
              </a:tr>
            </a:tbl>
          </a:graphicData>
        </a:graphic>
      </p:graphicFrame>
    </p:spTree>
    <p:extLst>
      <p:ext uri="{BB962C8B-B14F-4D97-AF65-F5344CB8AC3E}">
        <p14:creationId xmlns:p14="http://schemas.microsoft.com/office/powerpoint/2010/main" val="2441845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8CD17-4D9C-044A-95D2-C49691767B4A}"/>
              </a:ext>
            </a:extLst>
          </p:cNvPr>
          <p:cNvSpPr>
            <a:spLocks noGrp="1"/>
          </p:cNvSpPr>
          <p:nvPr>
            <p:ph type="title"/>
          </p:nvPr>
        </p:nvSpPr>
        <p:spPr>
          <a:xfrm>
            <a:off x="384175" y="260677"/>
            <a:ext cx="8375650" cy="423862"/>
          </a:xfrm>
        </p:spPr>
        <p:txBody>
          <a:bodyPr/>
          <a:lstStyle/>
          <a:p>
            <a:r>
              <a:rPr lang="en-GB" dirty="0"/>
              <a:t>Shroud gap transients estimated using stress and heat transfer models</a:t>
            </a:r>
          </a:p>
        </p:txBody>
      </p:sp>
      <p:sp>
        <p:nvSpPr>
          <p:cNvPr id="3" name="Content Placeholder 2">
            <a:extLst>
              <a:ext uri="{FF2B5EF4-FFF2-40B4-BE49-F238E27FC236}">
                <a16:creationId xmlns:a16="http://schemas.microsoft.com/office/drawing/2014/main" id="{099CF5FF-B185-0144-A63D-5B7BD8CFC1F2}"/>
              </a:ext>
            </a:extLst>
          </p:cNvPr>
          <p:cNvSpPr>
            <a:spLocks noGrp="1"/>
          </p:cNvSpPr>
          <p:nvPr>
            <p:ph idx="1"/>
          </p:nvPr>
        </p:nvSpPr>
        <p:spPr>
          <a:xfrm>
            <a:off x="384175" y="1740163"/>
            <a:ext cx="3974068" cy="4067175"/>
          </a:xfrm>
        </p:spPr>
        <p:txBody>
          <a:bodyPr/>
          <a:lstStyle/>
          <a:p>
            <a:r>
              <a:rPr lang="en-GB" dirty="0"/>
              <a:t>Turbine constructed with blade rings, with discs at each end to connect to the shaft and the casing acting as a pressure vessel</a:t>
            </a:r>
          </a:p>
          <a:p>
            <a:r>
              <a:rPr lang="en-GB" dirty="0"/>
              <a:t>Stress limits used to size the rings, taking the varying strength of Inconel with temperature into account</a:t>
            </a:r>
          </a:p>
          <a:p>
            <a:r>
              <a:rPr lang="en-GB" dirty="0"/>
              <a:t>Lumped heat capacity model used for transient thermomechanical analysis</a:t>
            </a:r>
          </a:p>
        </p:txBody>
      </p:sp>
      <p:sp>
        <p:nvSpPr>
          <p:cNvPr id="4" name="Slide Number Placeholder 3">
            <a:extLst>
              <a:ext uri="{FF2B5EF4-FFF2-40B4-BE49-F238E27FC236}">
                <a16:creationId xmlns:a16="http://schemas.microsoft.com/office/drawing/2014/main" id="{1D71D266-6117-2749-B2B9-484302532154}"/>
              </a:ext>
            </a:extLst>
          </p:cNvPr>
          <p:cNvSpPr>
            <a:spLocks noGrp="1"/>
          </p:cNvSpPr>
          <p:nvPr>
            <p:ph type="sldNum" sz="quarter" idx="10"/>
          </p:nvPr>
        </p:nvSpPr>
        <p:spPr/>
        <p:txBody>
          <a:bodyPr/>
          <a:lstStyle/>
          <a:p>
            <a:r>
              <a:rPr lang="en-US" dirty="0"/>
              <a:t>10</a:t>
            </a:r>
          </a:p>
        </p:txBody>
      </p:sp>
      <p:pic>
        <p:nvPicPr>
          <p:cNvPr id="6" name="Picture 5">
            <a:extLst>
              <a:ext uri="{FF2B5EF4-FFF2-40B4-BE49-F238E27FC236}">
                <a16:creationId xmlns:a16="http://schemas.microsoft.com/office/drawing/2014/main" id="{4461FDDE-CCFD-B24B-B60A-CD53939DD403}"/>
              </a:ext>
            </a:extLst>
          </p:cNvPr>
          <p:cNvPicPr>
            <a:picLocks noChangeAspect="1"/>
          </p:cNvPicPr>
          <p:nvPr/>
        </p:nvPicPr>
        <p:blipFill>
          <a:blip r:embed="rId3"/>
          <a:stretch>
            <a:fillRect/>
          </a:stretch>
        </p:blipFill>
        <p:spPr>
          <a:xfrm>
            <a:off x="4571206" y="1693863"/>
            <a:ext cx="3606800" cy="4419600"/>
          </a:xfrm>
          <a:prstGeom prst="rect">
            <a:avLst/>
          </a:prstGeom>
        </p:spPr>
      </p:pic>
    </p:spTree>
    <p:extLst>
      <p:ext uri="{BB962C8B-B14F-4D97-AF65-F5344CB8AC3E}">
        <p14:creationId xmlns:p14="http://schemas.microsoft.com/office/powerpoint/2010/main" val="4015287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6FE4265-03E9-B742-8A80-2DEA2E6660EB}"/>
              </a:ext>
            </a:extLst>
          </p:cNvPr>
          <p:cNvGrpSpPr/>
          <p:nvPr/>
        </p:nvGrpSpPr>
        <p:grpSpPr>
          <a:xfrm>
            <a:off x="1977081" y="1779373"/>
            <a:ext cx="5066687" cy="3583459"/>
            <a:chOff x="1977081" y="1779373"/>
            <a:chExt cx="5066687" cy="3583459"/>
          </a:xfrm>
        </p:grpSpPr>
        <p:pic>
          <p:nvPicPr>
            <p:cNvPr id="6" name="Picture 5">
              <a:extLst>
                <a:ext uri="{FF2B5EF4-FFF2-40B4-BE49-F238E27FC236}">
                  <a16:creationId xmlns:a16="http://schemas.microsoft.com/office/drawing/2014/main" id="{C27B83AF-3F42-ED46-A761-42A6F086706A}"/>
                </a:ext>
              </a:extLst>
            </p:cNvPr>
            <p:cNvPicPr>
              <a:picLocks noChangeAspect="1"/>
            </p:cNvPicPr>
            <p:nvPr/>
          </p:nvPicPr>
          <p:blipFill rotWithShape="1">
            <a:blip r:embed="rId3"/>
            <a:srcRect l="18777" t="2589" r="28642" b="18505"/>
            <a:stretch/>
          </p:blipFill>
          <p:spPr>
            <a:xfrm>
              <a:off x="1977081" y="1779373"/>
              <a:ext cx="3810261" cy="3583459"/>
            </a:xfrm>
            <a:prstGeom prst="rect">
              <a:avLst/>
            </a:prstGeom>
          </p:spPr>
        </p:pic>
        <p:pic>
          <p:nvPicPr>
            <p:cNvPr id="15" name="Picture 14">
              <a:extLst>
                <a:ext uri="{FF2B5EF4-FFF2-40B4-BE49-F238E27FC236}">
                  <a16:creationId xmlns:a16="http://schemas.microsoft.com/office/drawing/2014/main" id="{B6506DAD-FF89-8D4E-B758-7FFA514F3359}"/>
                </a:ext>
              </a:extLst>
            </p:cNvPr>
            <p:cNvPicPr>
              <a:picLocks noChangeAspect="1"/>
            </p:cNvPicPr>
            <p:nvPr/>
          </p:nvPicPr>
          <p:blipFill rotWithShape="1">
            <a:blip r:embed="rId3"/>
            <a:srcRect l="79538" t="70318" r="3125" b="18505"/>
            <a:stretch/>
          </p:blipFill>
          <p:spPr>
            <a:xfrm>
              <a:off x="5787446" y="4852284"/>
              <a:ext cx="1256322" cy="507619"/>
            </a:xfrm>
            <a:prstGeom prst="rect">
              <a:avLst/>
            </a:prstGeom>
          </p:spPr>
        </p:pic>
      </p:grpSp>
      <p:sp>
        <p:nvSpPr>
          <p:cNvPr id="2" name="Title 1">
            <a:extLst>
              <a:ext uri="{FF2B5EF4-FFF2-40B4-BE49-F238E27FC236}">
                <a16:creationId xmlns:a16="http://schemas.microsoft.com/office/drawing/2014/main" id="{F1D13043-9CF0-4B4F-8DFD-477FD328D1FE}"/>
              </a:ext>
            </a:extLst>
          </p:cNvPr>
          <p:cNvSpPr>
            <a:spLocks noGrp="1"/>
          </p:cNvSpPr>
          <p:nvPr>
            <p:ph type="title"/>
          </p:nvPr>
        </p:nvSpPr>
        <p:spPr/>
        <p:txBody>
          <a:bodyPr/>
          <a:lstStyle/>
          <a:p>
            <a:r>
              <a:rPr lang="en-GB" dirty="0"/>
              <a:t>Transient expansion opens large shroud gaps</a:t>
            </a:r>
          </a:p>
        </p:txBody>
      </p:sp>
      <p:sp>
        <p:nvSpPr>
          <p:cNvPr id="4" name="Slide Number Placeholder 3">
            <a:extLst>
              <a:ext uri="{FF2B5EF4-FFF2-40B4-BE49-F238E27FC236}">
                <a16:creationId xmlns:a16="http://schemas.microsoft.com/office/drawing/2014/main" id="{FF309A09-7119-A44D-918E-E5C55151C365}"/>
              </a:ext>
            </a:extLst>
          </p:cNvPr>
          <p:cNvSpPr>
            <a:spLocks noGrp="1"/>
          </p:cNvSpPr>
          <p:nvPr>
            <p:ph type="sldNum" sz="quarter" idx="10"/>
          </p:nvPr>
        </p:nvSpPr>
        <p:spPr/>
        <p:txBody>
          <a:bodyPr/>
          <a:lstStyle/>
          <a:p>
            <a:r>
              <a:rPr lang="en-US" dirty="0"/>
              <a:t>11</a:t>
            </a:r>
          </a:p>
        </p:txBody>
      </p:sp>
      <p:sp>
        <p:nvSpPr>
          <p:cNvPr id="7" name="Rectangle 6">
            <a:extLst>
              <a:ext uri="{FF2B5EF4-FFF2-40B4-BE49-F238E27FC236}">
                <a16:creationId xmlns:a16="http://schemas.microsoft.com/office/drawing/2014/main" id="{D4379838-C54B-C34C-BEF4-D4238A0DCB6B}"/>
              </a:ext>
            </a:extLst>
          </p:cNvPr>
          <p:cNvSpPr/>
          <p:nvPr/>
        </p:nvSpPr>
        <p:spPr bwMode="auto">
          <a:xfrm>
            <a:off x="2100649" y="1735971"/>
            <a:ext cx="5412259" cy="3626861"/>
          </a:xfrm>
          <a:prstGeom prst="rect">
            <a:avLst/>
          </a:prstGeom>
          <a:solidFill>
            <a:schemeClr val="bg1"/>
          </a:solidFill>
          <a:ln w="9525" cap="flat" cmpd="sng" algn="ctr">
            <a:solidFill>
              <a:schemeClr val="bg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Arial" charset="0"/>
            </a:endParaRPr>
          </a:p>
        </p:txBody>
      </p:sp>
      <p:pic>
        <p:nvPicPr>
          <p:cNvPr id="12" name="Picture 11">
            <a:extLst>
              <a:ext uri="{FF2B5EF4-FFF2-40B4-BE49-F238E27FC236}">
                <a16:creationId xmlns:a16="http://schemas.microsoft.com/office/drawing/2014/main" id="{A92DF61C-D6EB-1F40-88D1-1F0F86BB7033}"/>
              </a:ext>
            </a:extLst>
          </p:cNvPr>
          <p:cNvPicPr>
            <a:picLocks noChangeAspect="1"/>
          </p:cNvPicPr>
          <p:nvPr/>
        </p:nvPicPr>
        <p:blipFill rotWithShape="1">
          <a:blip r:embed="rId3"/>
          <a:srcRect l="65075" t="2267" r="3549" b="71144"/>
          <a:stretch/>
        </p:blipFill>
        <p:spPr>
          <a:xfrm>
            <a:off x="5362833" y="1825642"/>
            <a:ext cx="2273643" cy="1207547"/>
          </a:xfrm>
          <a:prstGeom prst="rect">
            <a:avLst/>
          </a:prstGeom>
        </p:spPr>
      </p:pic>
      <p:pic>
        <p:nvPicPr>
          <p:cNvPr id="14" name="Picture 13">
            <a:extLst>
              <a:ext uri="{FF2B5EF4-FFF2-40B4-BE49-F238E27FC236}">
                <a16:creationId xmlns:a16="http://schemas.microsoft.com/office/drawing/2014/main" id="{E6EDF516-C7ED-114A-8BBA-4886A21380CF}"/>
              </a:ext>
            </a:extLst>
          </p:cNvPr>
          <p:cNvPicPr>
            <a:picLocks noChangeAspect="1"/>
          </p:cNvPicPr>
          <p:nvPr/>
        </p:nvPicPr>
        <p:blipFill>
          <a:blip r:embed="rId4"/>
          <a:stretch>
            <a:fillRect/>
          </a:stretch>
        </p:blipFill>
        <p:spPr>
          <a:xfrm>
            <a:off x="627991" y="1660084"/>
            <a:ext cx="7249259" cy="4734836"/>
          </a:xfrm>
          <a:prstGeom prst="rect">
            <a:avLst/>
          </a:prstGeom>
        </p:spPr>
      </p:pic>
    </p:spTree>
    <p:extLst>
      <p:ext uri="{BB962C8B-B14F-4D97-AF65-F5344CB8AC3E}">
        <p14:creationId xmlns:p14="http://schemas.microsoft.com/office/powerpoint/2010/main" val="306921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0" nodeType="clickEffect">
                                  <p:stCondLst>
                                    <p:cond delay="0"/>
                                  </p:stCondLst>
                                  <p:childTnLst>
                                    <p:animMotion origin="layout" path="M -4.44444E-6 -2.59259E-6 L 0.60139 -2.59259E-6 " pathEditMode="relative" rAng="0" ptsTypes="AA">
                                      <p:cBhvr>
                                        <p:cTn id="6" dur="40000" fill="hold"/>
                                        <p:tgtEl>
                                          <p:spTgt spid="7"/>
                                        </p:tgtEl>
                                        <p:attrNameLst>
                                          <p:attrName>ppt_x</p:attrName>
                                          <p:attrName>ppt_y</p:attrName>
                                        </p:attrNameLst>
                                      </p:cBhvr>
                                      <p:rCtr x="3006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5F835-CE7C-E548-BC83-2669DF783EB7}"/>
              </a:ext>
            </a:extLst>
          </p:cNvPr>
          <p:cNvSpPr>
            <a:spLocks noGrp="1"/>
          </p:cNvSpPr>
          <p:nvPr>
            <p:ph type="title"/>
          </p:nvPr>
        </p:nvSpPr>
        <p:spPr/>
        <p:txBody>
          <a:bodyPr/>
          <a:lstStyle/>
          <a:p>
            <a:r>
              <a:rPr lang="en-GB" dirty="0"/>
              <a:t>Transient behaviour can be minimised with a thicker case</a:t>
            </a:r>
          </a:p>
        </p:txBody>
      </p:sp>
      <p:sp>
        <p:nvSpPr>
          <p:cNvPr id="3" name="Content Placeholder 2">
            <a:extLst>
              <a:ext uri="{FF2B5EF4-FFF2-40B4-BE49-F238E27FC236}">
                <a16:creationId xmlns:a16="http://schemas.microsoft.com/office/drawing/2014/main" id="{F8C07F12-DD63-4F43-AE2A-E3A47018EEA0}"/>
              </a:ext>
            </a:extLst>
          </p:cNvPr>
          <p:cNvSpPr>
            <a:spLocks noGrp="1"/>
          </p:cNvSpPr>
          <p:nvPr>
            <p:ph idx="1"/>
          </p:nvPr>
        </p:nvSpPr>
        <p:spPr>
          <a:xfrm>
            <a:off x="269721" y="2041032"/>
            <a:ext cx="3595076" cy="3828428"/>
          </a:xfrm>
        </p:spPr>
        <p:txBody>
          <a:bodyPr/>
          <a:lstStyle/>
          <a:p>
            <a:r>
              <a:rPr lang="en-GB" dirty="0"/>
              <a:t>Stiffness and thermal mass of end discs results in large gaps during transient and operating conditions</a:t>
            </a:r>
          </a:p>
          <a:p>
            <a:endParaRPr lang="en-GB" dirty="0"/>
          </a:p>
          <a:p>
            <a:endParaRPr lang="en-GB" dirty="0"/>
          </a:p>
        </p:txBody>
      </p:sp>
      <p:sp>
        <p:nvSpPr>
          <p:cNvPr id="4" name="Slide Number Placeholder 3">
            <a:extLst>
              <a:ext uri="{FF2B5EF4-FFF2-40B4-BE49-F238E27FC236}">
                <a16:creationId xmlns:a16="http://schemas.microsoft.com/office/drawing/2014/main" id="{6FF06C75-88B4-4C4F-B284-897C1CE5674E}"/>
              </a:ext>
            </a:extLst>
          </p:cNvPr>
          <p:cNvSpPr>
            <a:spLocks noGrp="1"/>
          </p:cNvSpPr>
          <p:nvPr>
            <p:ph type="sldNum" sz="quarter" idx="10"/>
          </p:nvPr>
        </p:nvSpPr>
        <p:spPr/>
        <p:txBody>
          <a:bodyPr/>
          <a:lstStyle/>
          <a:p>
            <a:r>
              <a:rPr lang="en-US" dirty="0"/>
              <a:t>12</a:t>
            </a:r>
          </a:p>
        </p:txBody>
      </p:sp>
      <p:pic>
        <p:nvPicPr>
          <p:cNvPr id="10" name="Picture 9">
            <a:extLst>
              <a:ext uri="{FF2B5EF4-FFF2-40B4-BE49-F238E27FC236}">
                <a16:creationId xmlns:a16="http://schemas.microsoft.com/office/drawing/2014/main" id="{EF44B277-D06F-C947-B74A-110DAF19124B}"/>
              </a:ext>
            </a:extLst>
          </p:cNvPr>
          <p:cNvPicPr>
            <a:picLocks noChangeAspect="1"/>
          </p:cNvPicPr>
          <p:nvPr/>
        </p:nvPicPr>
        <p:blipFill rotWithShape="1">
          <a:blip r:embed="rId3"/>
          <a:srcRect r="26491"/>
          <a:stretch/>
        </p:blipFill>
        <p:spPr>
          <a:xfrm>
            <a:off x="3950719" y="1546700"/>
            <a:ext cx="3912169" cy="2451600"/>
          </a:xfrm>
          <a:prstGeom prst="rect">
            <a:avLst/>
          </a:prstGeom>
        </p:spPr>
      </p:pic>
      <p:pic>
        <p:nvPicPr>
          <p:cNvPr id="11" name="Picture 10">
            <a:extLst>
              <a:ext uri="{FF2B5EF4-FFF2-40B4-BE49-F238E27FC236}">
                <a16:creationId xmlns:a16="http://schemas.microsoft.com/office/drawing/2014/main" id="{F5964B81-9804-7D44-8E31-A722B647BBBF}"/>
              </a:ext>
            </a:extLst>
          </p:cNvPr>
          <p:cNvPicPr>
            <a:picLocks noChangeAspect="1"/>
          </p:cNvPicPr>
          <p:nvPr/>
        </p:nvPicPr>
        <p:blipFill rotWithShape="1">
          <a:blip r:embed="rId3"/>
          <a:srcRect l="72123" t="15381" b="42007"/>
          <a:stretch/>
        </p:blipFill>
        <p:spPr>
          <a:xfrm>
            <a:off x="7834357" y="3265988"/>
            <a:ext cx="1269217" cy="893694"/>
          </a:xfrm>
          <a:prstGeom prst="rect">
            <a:avLst/>
          </a:prstGeom>
        </p:spPr>
      </p:pic>
    </p:spTree>
    <p:extLst>
      <p:ext uri="{BB962C8B-B14F-4D97-AF65-F5344CB8AC3E}">
        <p14:creationId xmlns:p14="http://schemas.microsoft.com/office/powerpoint/2010/main" val="2604189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5F835-CE7C-E548-BC83-2669DF783EB7}"/>
              </a:ext>
            </a:extLst>
          </p:cNvPr>
          <p:cNvSpPr>
            <a:spLocks noGrp="1"/>
          </p:cNvSpPr>
          <p:nvPr>
            <p:ph type="title"/>
          </p:nvPr>
        </p:nvSpPr>
        <p:spPr/>
        <p:txBody>
          <a:bodyPr/>
          <a:lstStyle/>
          <a:p>
            <a:r>
              <a:rPr lang="en-GB" dirty="0"/>
              <a:t>Warm transient behaviour improved by thickening pressure vessel</a:t>
            </a:r>
          </a:p>
        </p:txBody>
      </p:sp>
      <p:sp>
        <p:nvSpPr>
          <p:cNvPr id="3" name="Content Placeholder 2">
            <a:extLst>
              <a:ext uri="{FF2B5EF4-FFF2-40B4-BE49-F238E27FC236}">
                <a16:creationId xmlns:a16="http://schemas.microsoft.com/office/drawing/2014/main" id="{F8C07F12-DD63-4F43-AE2A-E3A47018EEA0}"/>
              </a:ext>
            </a:extLst>
          </p:cNvPr>
          <p:cNvSpPr>
            <a:spLocks noGrp="1"/>
          </p:cNvSpPr>
          <p:nvPr>
            <p:ph idx="1"/>
          </p:nvPr>
        </p:nvSpPr>
        <p:spPr>
          <a:xfrm>
            <a:off x="269721" y="2041032"/>
            <a:ext cx="3595076" cy="3828428"/>
          </a:xfrm>
        </p:spPr>
        <p:txBody>
          <a:bodyPr/>
          <a:lstStyle/>
          <a:p>
            <a:r>
              <a:rPr lang="en-GB" dirty="0"/>
              <a:t>Stiffness and thermal mass of end discs results in large gaps during transient and operating conditions</a:t>
            </a:r>
          </a:p>
          <a:p>
            <a:endParaRPr lang="en-GB" dirty="0"/>
          </a:p>
          <a:p>
            <a:endParaRPr lang="en-GB" dirty="0"/>
          </a:p>
          <a:p>
            <a:r>
              <a:rPr lang="en-GB" dirty="0"/>
              <a:t>Doubling case safety factor thickens it, increasing stiffness and thermal mass</a:t>
            </a:r>
          </a:p>
          <a:p>
            <a:endParaRPr lang="en-GB" dirty="0"/>
          </a:p>
        </p:txBody>
      </p:sp>
      <p:sp>
        <p:nvSpPr>
          <p:cNvPr id="4" name="Slide Number Placeholder 3">
            <a:extLst>
              <a:ext uri="{FF2B5EF4-FFF2-40B4-BE49-F238E27FC236}">
                <a16:creationId xmlns:a16="http://schemas.microsoft.com/office/drawing/2014/main" id="{6FF06C75-88B4-4C4F-B284-897C1CE5674E}"/>
              </a:ext>
            </a:extLst>
          </p:cNvPr>
          <p:cNvSpPr>
            <a:spLocks noGrp="1"/>
          </p:cNvSpPr>
          <p:nvPr>
            <p:ph type="sldNum" sz="quarter" idx="10"/>
          </p:nvPr>
        </p:nvSpPr>
        <p:spPr/>
        <p:txBody>
          <a:bodyPr/>
          <a:lstStyle/>
          <a:p>
            <a:r>
              <a:rPr lang="en-US" dirty="0"/>
              <a:t>12</a:t>
            </a:r>
          </a:p>
        </p:txBody>
      </p:sp>
      <p:pic>
        <p:nvPicPr>
          <p:cNvPr id="8" name="Picture 7">
            <a:extLst>
              <a:ext uri="{FF2B5EF4-FFF2-40B4-BE49-F238E27FC236}">
                <a16:creationId xmlns:a16="http://schemas.microsoft.com/office/drawing/2014/main" id="{5A4C8C83-52D9-A84A-A968-EE0D4AD8623D}"/>
              </a:ext>
            </a:extLst>
          </p:cNvPr>
          <p:cNvPicPr>
            <a:picLocks noChangeAspect="1"/>
          </p:cNvPicPr>
          <p:nvPr/>
        </p:nvPicPr>
        <p:blipFill>
          <a:blip r:embed="rId3"/>
          <a:stretch>
            <a:fillRect/>
          </a:stretch>
        </p:blipFill>
        <p:spPr>
          <a:xfrm>
            <a:off x="3950719" y="4135339"/>
            <a:ext cx="3795451" cy="2452256"/>
          </a:xfrm>
          <a:prstGeom prst="rect">
            <a:avLst/>
          </a:prstGeom>
        </p:spPr>
      </p:pic>
      <p:pic>
        <p:nvPicPr>
          <p:cNvPr id="10" name="Picture 9">
            <a:extLst>
              <a:ext uri="{FF2B5EF4-FFF2-40B4-BE49-F238E27FC236}">
                <a16:creationId xmlns:a16="http://schemas.microsoft.com/office/drawing/2014/main" id="{EF44B277-D06F-C947-B74A-110DAF19124B}"/>
              </a:ext>
            </a:extLst>
          </p:cNvPr>
          <p:cNvPicPr>
            <a:picLocks noChangeAspect="1"/>
          </p:cNvPicPr>
          <p:nvPr/>
        </p:nvPicPr>
        <p:blipFill rotWithShape="1">
          <a:blip r:embed="rId4"/>
          <a:srcRect r="26491"/>
          <a:stretch/>
        </p:blipFill>
        <p:spPr>
          <a:xfrm>
            <a:off x="3950719" y="1546700"/>
            <a:ext cx="3912169" cy="2451600"/>
          </a:xfrm>
          <a:prstGeom prst="rect">
            <a:avLst/>
          </a:prstGeom>
        </p:spPr>
      </p:pic>
      <p:pic>
        <p:nvPicPr>
          <p:cNvPr id="11" name="Picture 10">
            <a:extLst>
              <a:ext uri="{FF2B5EF4-FFF2-40B4-BE49-F238E27FC236}">
                <a16:creationId xmlns:a16="http://schemas.microsoft.com/office/drawing/2014/main" id="{F5964B81-9804-7D44-8E31-A722B647BBBF}"/>
              </a:ext>
            </a:extLst>
          </p:cNvPr>
          <p:cNvPicPr>
            <a:picLocks noChangeAspect="1"/>
          </p:cNvPicPr>
          <p:nvPr/>
        </p:nvPicPr>
        <p:blipFill rotWithShape="1">
          <a:blip r:embed="rId4"/>
          <a:srcRect l="72123" t="15381" b="42007"/>
          <a:stretch/>
        </p:blipFill>
        <p:spPr>
          <a:xfrm>
            <a:off x="7834357" y="3265988"/>
            <a:ext cx="1269217" cy="893694"/>
          </a:xfrm>
          <a:prstGeom prst="rect">
            <a:avLst/>
          </a:prstGeom>
        </p:spPr>
      </p:pic>
    </p:spTree>
    <p:extLst>
      <p:ext uri="{BB962C8B-B14F-4D97-AF65-F5344CB8AC3E}">
        <p14:creationId xmlns:p14="http://schemas.microsoft.com/office/powerpoint/2010/main" val="860900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D7DF-A219-7F48-AA98-BFE68F7D7129}"/>
              </a:ext>
            </a:extLst>
          </p:cNvPr>
          <p:cNvSpPr>
            <a:spLocks noGrp="1"/>
          </p:cNvSpPr>
          <p:nvPr>
            <p:ph type="title"/>
          </p:nvPr>
        </p:nvSpPr>
        <p:spPr/>
        <p:txBody>
          <a:bodyPr/>
          <a:lstStyle/>
          <a:p>
            <a:r>
              <a:rPr lang="en-GB" dirty="0"/>
              <a:t>Conclusions</a:t>
            </a:r>
          </a:p>
        </p:txBody>
      </p:sp>
      <p:sp>
        <p:nvSpPr>
          <p:cNvPr id="8" name="Slide Number Placeholder 7">
            <a:extLst>
              <a:ext uri="{FF2B5EF4-FFF2-40B4-BE49-F238E27FC236}">
                <a16:creationId xmlns:a16="http://schemas.microsoft.com/office/drawing/2014/main" id="{E055FF4E-0E26-DD43-8043-88B9E85CBDEC}"/>
              </a:ext>
            </a:extLst>
          </p:cNvPr>
          <p:cNvSpPr>
            <a:spLocks noGrp="1"/>
          </p:cNvSpPr>
          <p:nvPr>
            <p:ph type="sldNum" sz="quarter" idx="10"/>
          </p:nvPr>
        </p:nvSpPr>
        <p:spPr/>
        <p:txBody>
          <a:bodyPr/>
          <a:lstStyle/>
          <a:p>
            <a:r>
              <a:rPr lang="en-US" dirty="0"/>
              <a:t>13</a:t>
            </a:r>
          </a:p>
        </p:txBody>
      </p:sp>
      <p:sp>
        <p:nvSpPr>
          <p:cNvPr id="14" name="Content Placeholder 2">
            <a:extLst>
              <a:ext uri="{FF2B5EF4-FFF2-40B4-BE49-F238E27FC236}">
                <a16:creationId xmlns:a16="http://schemas.microsoft.com/office/drawing/2014/main" id="{2B64BFAE-F2DA-5846-8A52-976399A74085}"/>
              </a:ext>
            </a:extLst>
          </p:cNvPr>
          <p:cNvSpPr>
            <a:spLocks noGrp="1"/>
          </p:cNvSpPr>
          <p:nvPr>
            <p:ph idx="1"/>
          </p:nvPr>
        </p:nvSpPr>
        <p:spPr>
          <a:xfrm>
            <a:off x="382588" y="1890286"/>
            <a:ext cx="8374063" cy="3398240"/>
          </a:xfrm>
        </p:spPr>
        <p:txBody>
          <a:bodyPr/>
          <a:lstStyle/>
          <a:p>
            <a:pPr marL="457200" indent="-457200">
              <a:buFont typeface="+mj-lt"/>
              <a:buAutoNum type="arabicPeriod"/>
            </a:pPr>
            <a:r>
              <a:rPr lang="en-GB" sz="2400" dirty="0"/>
              <a:t>Constraints imposed by other cycle components force the turbine into a biased design space dominated by shroud loss</a:t>
            </a:r>
          </a:p>
          <a:p>
            <a:pPr marL="457200" indent="-457200">
              <a:buFont typeface="+mj-lt"/>
              <a:buAutoNum type="arabicPeriod"/>
            </a:pPr>
            <a:r>
              <a:rPr lang="en-GB" sz="2400" dirty="0"/>
              <a:t>Optimal performance is achieved through designs that reduce geometric tolerance driven loss sources</a:t>
            </a:r>
          </a:p>
          <a:p>
            <a:pPr marL="457200" indent="-457200">
              <a:buFont typeface="+mj-lt"/>
              <a:buAutoNum type="arabicPeriod"/>
            </a:pPr>
            <a:r>
              <a:rPr lang="en-GB" sz="2400" dirty="0"/>
              <a:t>Constraints also cause the machine to have shroud gap variations of up to 25% of span during thermal transients. This is particularly bad for performance due to the sensitivity on shroud leakage.</a:t>
            </a:r>
          </a:p>
        </p:txBody>
      </p:sp>
    </p:spTree>
    <p:extLst>
      <p:ext uri="{BB962C8B-B14F-4D97-AF65-F5344CB8AC3E}">
        <p14:creationId xmlns:p14="http://schemas.microsoft.com/office/powerpoint/2010/main" val="2331950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F50D66B6-0383-7440-BC6F-1AAE47BD0657}"/>
                  </a:ext>
                </a:extLst>
              </p:cNvPr>
              <p:cNvSpPr>
                <a:spLocks noGrp="1"/>
              </p:cNvSpPr>
              <p:nvPr>
                <p:ph type="title"/>
              </p:nvPr>
            </p:nvSpPr>
            <p:spPr>
              <a:xfrm>
                <a:off x="384175" y="385937"/>
                <a:ext cx="8375650" cy="423862"/>
              </a:xfrm>
            </p:spPr>
            <p:txBody>
              <a:bodyPr/>
              <a:lstStyle/>
              <a:p>
                <a:r>
                  <a:rPr lang="en-GB" dirty="0"/>
                  <a:t>Core cycle imposes RPM and </a:t>
                </a:r>
                <a14:m>
                  <m:oMath xmlns:m="http://schemas.openxmlformats.org/officeDocument/2006/math">
                    <m:acc>
                      <m:accPr>
                        <m:chr m:val="̇"/>
                        <m:ctrlPr>
                          <a:rPr lang="en-GB" i="1">
                            <a:latin typeface="Cambria Math" panose="02040503050406030204" pitchFamily="18" charset="0"/>
                          </a:rPr>
                        </m:ctrlPr>
                      </m:accPr>
                      <m:e>
                        <m:r>
                          <a:rPr lang="en-GB">
                            <a:latin typeface="Cambria Math" panose="02040503050406030204" pitchFamily="18" charset="0"/>
                          </a:rPr>
                          <m:t>𝐐</m:t>
                        </m:r>
                      </m:e>
                    </m:acc>
                  </m:oMath>
                </a14:m>
                <a:r>
                  <a:rPr lang="en-GB" dirty="0"/>
                  <a:t> constraint on design</a:t>
                </a:r>
                <a:endParaRPr lang="en-US" dirty="0"/>
              </a:p>
            </p:txBody>
          </p:sp>
        </mc:Choice>
        <mc:Fallback>
          <p:sp>
            <p:nvSpPr>
              <p:cNvPr id="2" name="Title 1">
                <a:extLst>
                  <a:ext uri="{FF2B5EF4-FFF2-40B4-BE49-F238E27FC236}">
                    <a16:creationId xmlns:a16="http://schemas.microsoft.com/office/drawing/2014/main" id="{F50D66B6-0383-7440-BC6F-1AAE47BD0657}"/>
                  </a:ext>
                </a:extLst>
              </p:cNvPr>
              <p:cNvSpPr>
                <a:spLocks noGrp="1" noRot="1" noChangeAspect="1" noMove="1" noResize="1" noEditPoints="1" noAdjustHandles="1" noChangeArrowheads="1" noChangeShapeType="1" noTextEdit="1"/>
              </p:cNvSpPr>
              <p:nvPr>
                <p:ph type="title"/>
              </p:nvPr>
            </p:nvSpPr>
            <p:spPr>
              <a:xfrm>
                <a:off x="384175" y="385937"/>
                <a:ext cx="8375650" cy="423862"/>
              </a:xfrm>
              <a:blipFill>
                <a:blip r:embed="rId3"/>
                <a:stretch>
                  <a:fillRect l="-1664" t="-14286" b="-8571"/>
                </a:stretch>
              </a:blipFill>
            </p:spPr>
            <p:txBody>
              <a:bodyPr/>
              <a:lstStyle/>
              <a:p>
                <a:r>
                  <a:rPr lang="en-GB">
                    <a:noFill/>
                  </a:rPr>
                  <a:t> </a:t>
                </a:r>
              </a:p>
            </p:txBody>
          </p:sp>
        </mc:Fallback>
      </mc:AlternateContent>
      <p:graphicFrame>
        <p:nvGraphicFramePr>
          <p:cNvPr id="5" name="Content Placeholder 4">
            <a:extLst>
              <a:ext uri="{FF2B5EF4-FFF2-40B4-BE49-F238E27FC236}">
                <a16:creationId xmlns:a16="http://schemas.microsoft.com/office/drawing/2014/main" id="{D78DEC3D-5030-5943-BAB7-0DEC0CD1A083}"/>
              </a:ext>
            </a:extLst>
          </p:cNvPr>
          <p:cNvGraphicFramePr>
            <a:graphicFrameLocks noGrp="1"/>
          </p:cNvGraphicFramePr>
          <p:nvPr>
            <p:ph idx="1"/>
            <p:extLst>
              <p:ext uri="{D42A27DB-BD31-4B8C-83A1-F6EECF244321}">
                <p14:modId xmlns:p14="http://schemas.microsoft.com/office/powerpoint/2010/main" val="2496062245"/>
              </p:ext>
            </p:extLst>
          </p:nvPr>
        </p:nvGraphicFramePr>
        <p:xfrm>
          <a:off x="384175" y="1412556"/>
          <a:ext cx="8375649" cy="4716780"/>
        </p:xfrm>
        <a:graphic>
          <a:graphicData uri="http://schemas.openxmlformats.org/drawingml/2006/table">
            <a:tbl>
              <a:tblPr firstRow="1" bandRow="1">
                <a:tableStyleId>{F5AB1C69-6EDB-4FF4-983F-18BD219EF322}</a:tableStyleId>
              </a:tblPr>
              <a:tblGrid>
                <a:gridCol w="5436762">
                  <a:extLst>
                    <a:ext uri="{9D8B030D-6E8A-4147-A177-3AD203B41FA5}">
                      <a16:colId xmlns:a16="http://schemas.microsoft.com/office/drawing/2014/main" val="1084385657"/>
                    </a:ext>
                  </a:extLst>
                </a:gridCol>
                <a:gridCol w="1641519">
                  <a:extLst>
                    <a:ext uri="{9D8B030D-6E8A-4147-A177-3AD203B41FA5}">
                      <a16:colId xmlns:a16="http://schemas.microsoft.com/office/drawing/2014/main" val="28038746"/>
                    </a:ext>
                  </a:extLst>
                </a:gridCol>
                <a:gridCol w="1297368">
                  <a:extLst>
                    <a:ext uri="{9D8B030D-6E8A-4147-A177-3AD203B41FA5}">
                      <a16:colId xmlns:a16="http://schemas.microsoft.com/office/drawing/2014/main" val="1419763712"/>
                    </a:ext>
                  </a:extLst>
                </a:gridCol>
              </a:tblGrid>
              <a:tr h="186281">
                <a:tc gridSpan="2">
                  <a:txBody>
                    <a:bodyPr/>
                    <a:lstStyle/>
                    <a:p>
                      <a:endParaRPr lang="en-US" sz="2000" dirty="0"/>
                    </a:p>
                  </a:txBody>
                  <a:tcPr marL="68580" marR="68580" marT="34290" marB="34290"/>
                </a:tc>
                <a:tc hMerge="1">
                  <a:txBody>
                    <a:bodyPr/>
                    <a:lstStyle/>
                    <a:p>
                      <a:endParaRPr lang="en-US" sz="700" dirty="0"/>
                    </a:p>
                  </a:txBody>
                  <a:tcPr marL="68580" marR="68580" marT="34290" marB="34290"/>
                </a:tc>
                <a:tc>
                  <a:txBody>
                    <a:bodyPr/>
                    <a:lstStyle/>
                    <a:p>
                      <a:pPr algn="ctr"/>
                      <a:endParaRPr lang="en-US" sz="2000" dirty="0"/>
                    </a:p>
                  </a:txBody>
                  <a:tcPr marL="68580" marR="68580" marT="34290" marB="34290"/>
                </a:tc>
                <a:extLst>
                  <a:ext uri="{0D108BD9-81ED-4DB2-BD59-A6C34878D82A}">
                    <a16:rowId xmlns:a16="http://schemas.microsoft.com/office/drawing/2014/main" val="2342786644"/>
                  </a:ext>
                </a:extLst>
              </a:tr>
              <a:tr h="574064">
                <a:tc gridSpan="3">
                  <a:txBody>
                    <a:bodyPr/>
                    <a:lstStyle/>
                    <a:p>
                      <a:pPr marL="285750" indent="-285750">
                        <a:buFont typeface="Arial" panose="020B0604020202020204" pitchFamily="34" charset="0"/>
                        <a:buChar char="•"/>
                      </a:pPr>
                      <a:r>
                        <a:rPr lang="en-US" sz="2000" dirty="0"/>
                        <a:t>Limits placed on the turbine by air </a:t>
                      </a:r>
                      <a:r>
                        <a:rPr lang="en-US" sz="2000" dirty="0" err="1"/>
                        <a:t>precooler</a:t>
                      </a:r>
                      <a:r>
                        <a:rPr lang="en-US" sz="2000" dirty="0"/>
                        <a:t> and compressor specifications</a:t>
                      </a:r>
                    </a:p>
                    <a:p>
                      <a:pPr marL="285750" indent="-285750">
                        <a:buFont typeface="Arial" panose="020B0604020202020204" pitchFamily="34" charset="0"/>
                        <a:buChar char="•"/>
                      </a:pPr>
                      <a:endParaRPr lang="en-US" sz="2000" dirty="0"/>
                    </a:p>
                  </a:txBody>
                  <a:tcPr marL="68580" marR="68580" marT="34290" marB="34290"/>
                </a:tc>
                <a:tc hMerge="1">
                  <a:txBody>
                    <a:bodyPr/>
                    <a:lstStyle/>
                    <a:p>
                      <a:endParaRPr lang="en-US"/>
                    </a:p>
                  </a:txBody>
                  <a:tcPr/>
                </a:tc>
                <a:tc hMerge="1">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1600" dirty="0"/>
                    </a:p>
                  </a:txBody>
                  <a:tcPr marL="68580" marR="68580" marT="34290" marB="34290"/>
                </a:tc>
                <a:extLst>
                  <a:ext uri="{0D108BD9-81ED-4DB2-BD59-A6C34878D82A}">
                    <a16:rowId xmlns:a16="http://schemas.microsoft.com/office/drawing/2014/main" val="1034345413"/>
                  </a:ext>
                </a:extLst>
              </a:tr>
              <a:tr h="363693">
                <a:tc>
                  <a:txBody>
                    <a:bodyPr/>
                    <a:lstStyle/>
                    <a:p>
                      <a:pPr marL="800100" lvl="1" indent="-342900">
                        <a:buFont typeface="System Font Regular"/>
                        <a:buChar char="-"/>
                      </a:pPr>
                      <a:r>
                        <a:rPr lang="en-US" sz="2000" dirty="0"/>
                        <a:t>Inlet stagnation pressure</a:t>
                      </a:r>
                    </a:p>
                  </a:txBody>
                  <a:tcPr marL="68580" marR="68580" marT="34290" marB="34290"/>
                </a:tc>
                <a:tc gridSpan="2">
                  <a:txBody>
                    <a:bodyPr/>
                    <a:lstStyle/>
                    <a:p>
                      <a:pPr marL="0" indent="0">
                        <a:buFont typeface="Arial" panose="020B0604020202020204" pitchFamily="34" charset="0"/>
                        <a:buNone/>
                      </a:pPr>
                      <a:r>
                        <a:rPr lang="en-US" sz="2000" dirty="0"/>
                        <a:t>145 bar</a:t>
                      </a:r>
                    </a:p>
                  </a:txBody>
                  <a:tcPr marL="68580" marR="68580" marT="34290" marB="34290"/>
                </a:tc>
                <a:tc hMerge="1">
                  <a:txBody>
                    <a:bodyPr/>
                    <a:lstStyle/>
                    <a:p>
                      <a:pPr algn="r"/>
                      <a:r>
                        <a:rPr lang="en-US" sz="1800" dirty="0"/>
                        <a:t>145 bar</a:t>
                      </a:r>
                    </a:p>
                  </a:txBody>
                  <a:tcPr marL="68580" marR="68580" marT="34290" marB="34290"/>
                </a:tc>
                <a:extLst>
                  <a:ext uri="{0D108BD9-81ED-4DB2-BD59-A6C34878D82A}">
                    <a16:rowId xmlns:a16="http://schemas.microsoft.com/office/drawing/2014/main" val="2624208193"/>
                  </a:ext>
                </a:extLst>
              </a:tr>
              <a:tr h="363693">
                <a:tc>
                  <a:txBody>
                    <a:bodyPr/>
                    <a:lstStyle/>
                    <a:p>
                      <a:pPr marL="800100" lvl="1" indent="-342900">
                        <a:buFont typeface="System Font Regular"/>
                        <a:buChar char="-"/>
                      </a:pPr>
                      <a:r>
                        <a:rPr lang="en-US" sz="2000" dirty="0"/>
                        <a:t>Inlet stagnation temperature</a:t>
                      </a:r>
                    </a:p>
                  </a:txBody>
                  <a:tcPr marL="68580" marR="68580" marT="34290" marB="34290"/>
                </a:tc>
                <a:tc gridSpan="2">
                  <a:txBody>
                    <a:bodyPr/>
                    <a:lstStyle/>
                    <a:p>
                      <a:pPr marL="0" indent="0">
                        <a:buFont typeface="Arial" panose="020B0604020202020204" pitchFamily="34" charset="0"/>
                        <a:buNone/>
                      </a:pPr>
                      <a:r>
                        <a:rPr lang="en-US" sz="2000" dirty="0"/>
                        <a:t>950 K</a:t>
                      </a:r>
                    </a:p>
                  </a:txBody>
                  <a:tcPr marL="68580" marR="68580" marT="34290" marB="34290"/>
                </a:tc>
                <a:tc hMerge="1">
                  <a:txBody>
                    <a:bodyPr/>
                    <a:lstStyle/>
                    <a:p>
                      <a:pPr algn="r"/>
                      <a:r>
                        <a:rPr lang="en-US" sz="1800" dirty="0"/>
                        <a:t>950 K</a:t>
                      </a:r>
                    </a:p>
                  </a:txBody>
                  <a:tcPr marL="68580" marR="68580" marT="34290" marB="34290"/>
                </a:tc>
                <a:extLst>
                  <a:ext uri="{0D108BD9-81ED-4DB2-BD59-A6C34878D82A}">
                    <a16:rowId xmlns:a16="http://schemas.microsoft.com/office/drawing/2014/main" val="485966994"/>
                  </a:ext>
                </a:extLst>
              </a:tr>
              <a:tr h="363693">
                <a:tc>
                  <a:txBody>
                    <a:bodyPr/>
                    <a:lstStyle/>
                    <a:p>
                      <a:pPr marL="800100" lvl="1" indent="-342900">
                        <a:buFont typeface="System Font Regular"/>
                        <a:buChar char="-"/>
                      </a:pPr>
                      <a:r>
                        <a:rPr lang="en-US" sz="2000" dirty="0"/>
                        <a:t>Inlet stagnation density</a:t>
                      </a:r>
                    </a:p>
                  </a:txBody>
                  <a:tcPr marL="68580" marR="68580" marT="34290" marB="34290"/>
                </a:tc>
                <a:tc gridSpan="2">
                  <a:txBody>
                    <a:bodyPr/>
                    <a:lstStyle/>
                    <a:p>
                      <a:pPr marL="0" indent="0">
                        <a:buFont typeface="Arial" panose="020B0604020202020204" pitchFamily="34" charset="0"/>
                        <a:buNone/>
                      </a:pPr>
                      <a:r>
                        <a:rPr lang="en-US" sz="2000" dirty="0"/>
                        <a:t>7.38 kg m</a:t>
                      </a:r>
                      <a:r>
                        <a:rPr lang="en-US" sz="2000" baseline="30000" dirty="0"/>
                        <a:t>-3</a:t>
                      </a:r>
                      <a:endParaRPr lang="en-US" sz="2000" dirty="0"/>
                    </a:p>
                  </a:txBody>
                  <a:tcPr marL="68580" marR="68580" marT="34290" marB="34290"/>
                </a:tc>
                <a:tc hMerge="1">
                  <a:txBody>
                    <a:bodyPr/>
                    <a:lstStyle/>
                    <a:p>
                      <a:endParaRPr lang="en-US"/>
                    </a:p>
                  </a:txBody>
                  <a:tcPr/>
                </a:tc>
                <a:extLst>
                  <a:ext uri="{0D108BD9-81ED-4DB2-BD59-A6C34878D82A}">
                    <a16:rowId xmlns:a16="http://schemas.microsoft.com/office/drawing/2014/main" val="3375445433"/>
                  </a:ext>
                </a:extLst>
              </a:tr>
              <a:tr h="363693">
                <a:tc>
                  <a:txBody>
                    <a:bodyPr/>
                    <a:lstStyle/>
                    <a:p>
                      <a:pPr marL="800100" lvl="1" indent="-342900">
                        <a:buFont typeface="System Font Regular"/>
                        <a:buChar char="-"/>
                      </a:pPr>
                      <a:r>
                        <a:rPr lang="en-US" sz="2000" dirty="0"/>
                        <a:t>Mass flow rate of He</a:t>
                      </a:r>
                    </a:p>
                  </a:txBody>
                  <a:tcPr marL="68580" marR="68580" marT="34290" marB="34290"/>
                </a:tc>
                <a:tc gridSpan="2">
                  <a:txBody>
                    <a:bodyPr/>
                    <a:lstStyle/>
                    <a:p>
                      <a:pPr marL="0" indent="0">
                        <a:buFont typeface="Arial" panose="020B0604020202020204" pitchFamily="34" charset="0"/>
                        <a:buNone/>
                      </a:pPr>
                      <a:r>
                        <a:rPr lang="en-US" sz="2000" dirty="0"/>
                        <a:t>16 kg s</a:t>
                      </a:r>
                      <a:r>
                        <a:rPr lang="en-US" sz="2000" baseline="30000" dirty="0"/>
                        <a:t>-1</a:t>
                      </a:r>
                      <a:endParaRPr lang="en-US" sz="2000" dirty="0"/>
                    </a:p>
                  </a:txBody>
                  <a:tcPr marL="68580" marR="68580" marT="34290" marB="34290"/>
                </a:tc>
                <a:tc hMerge="1">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800" dirty="0"/>
                        <a:t>16 kg s</a:t>
                      </a:r>
                      <a:r>
                        <a:rPr lang="en-US" sz="1800" baseline="30000" dirty="0"/>
                        <a:t>-1</a:t>
                      </a:r>
                      <a:endParaRPr lang="en-US" sz="1800" dirty="0"/>
                    </a:p>
                  </a:txBody>
                  <a:tcPr marL="68580" marR="68580" marT="34290" marB="34290"/>
                </a:tc>
                <a:extLst>
                  <a:ext uri="{0D108BD9-81ED-4DB2-BD59-A6C34878D82A}">
                    <a16:rowId xmlns:a16="http://schemas.microsoft.com/office/drawing/2014/main" val="203066971"/>
                  </a:ext>
                </a:extLst>
              </a:tr>
              <a:tr h="363693">
                <a:tc>
                  <a:txBody>
                    <a:bodyPr/>
                    <a:lstStyle/>
                    <a:p>
                      <a:pPr marL="800100" lvl="1" indent="-342900">
                        <a:buFont typeface="System Font Regular"/>
                        <a:buChar char="-"/>
                      </a:pPr>
                      <a:r>
                        <a:rPr lang="en-US" sz="2000" dirty="0"/>
                        <a:t>Inlet volumetric flow rate of He</a:t>
                      </a:r>
                    </a:p>
                  </a:txBody>
                  <a:tcPr marL="68580" marR="68580" marT="34290" marB="34290"/>
                </a:tc>
                <a:tc gridSpan="2">
                  <a:txBody>
                    <a:bodyPr/>
                    <a:lstStyle/>
                    <a:p>
                      <a:pPr marL="0" indent="0">
                        <a:buFont typeface="Arial" panose="020B0604020202020204" pitchFamily="34" charset="0"/>
                        <a:buNone/>
                      </a:pPr>
                      <a:r>
                        <a:rPr lang="en-US" sz="2000" dirty="0"/>
                        <a:t>2.17 m</a:t>
                      </a:r>
                      <a:r>
                        <a:rPr lang="en-US" sz="2000" baseline="30000" dirty="0"/>
                        <a:t>3</a:t>
                      </a:r>
                      <a:r>
                        <a:rPr lang="en-US" sz="2000" baseline="0" dirty="0"/>
                        <a:t> s</a:t>
                      </a:r>
                      <a:r>
                        <a:rPr lang="en-US" sz="2000" baseline="30000" dirty="0"/>
                        <a:t>-1</a:t>
                      </a:r>
                      <a:endParaRPr lang="en-US" sz="2000" dirty="0"/>
                    </a:p>
                  </a:txBody>
                  <a:tcPr marL="68580" marR="68580" marT="34290" marB="34290"/>
                </a:tc>
                <a:tc hMerge="1">
                  <a:txBody>
                    <a:bodyPr/>
                    <a:lstStyle/>
                    <a:p>
                      <a:endParaRPr lang="en-US"/>
                    </a:p>
                  </a:txBody>
                  <a:tcPr/>
                </a:tc>
                <a:extLst>
                  <a:ext uri="{0D108BD9-81ED-4DB2-BD59-A6C34878D82A}">
                    <a16:rowId xmlns:a16="http://schemas.microsoft.com/office/drawing/2014/main" val="696127130"/>
                  </a:ext>
                </a:extLst>
              </a:tr>
              <a:tr h="363693">
                <a:tc>
                  <a:txBody>
                    <a:bodyPr/>
                    <a:lstStyle/>
                    <a:p>
                      <a:pPr marL="800100" lvl="1" indent="-342900">
                        <a:buFont typeface="System Font Regular"/>
                        <a:buChar char="-"/>
                      </a:pPr>
                      <a:r>
                        <a:rPr lang="en-US" sz="2000" dirty="0"/>
                        <a:t>Power output</a:t>
                      </a:r>
                    </a:p>
                  </a:txBody>
                  <a:tcPr marL="68580" marR="68580" marT="34290" marB="34290"/>
                </a:tc>
                <a:tc gridSpan="2">
                  <a:txBody>
                    <a:bodyPr/>
                    <a:lstStyle/>
                    <a:p>
                      <a:pPr marL="0" indent="0">
                        <a:buFont typeface="Arial" panose="020B0604020202020204" pitchFamily="34" charset="0"/>
                        <a:buNone/>
                      </a:pPr>
                      <a:r>
                        <a:rPr lang="en-US" sz="2000" dirty="0"/>
                        <a:t>17 MW</a:t>
                      </a:r>
                    </a:p>
                  </a:txBody>
                  <a:tcPr marL="68580" marR="68580" marT="34290" marB="34290"/>
                </a:tc>
                <a:tc hMerge="1">
                  <a:txBody>
                    <a:bodyPr/>
                    <a:lstStyle/>
                    <a:p>
                      <a:pPr algn="r"/>
                      <a:r>
                        <a:rPr lang="en-US" sz="1800" dirty="0"/>
                        <a:t>17 MW</a:t>
                      </a:r>
                    </a:p>
                  </a:txBody>
                  <a:tcPr marL="68580" marR="68580" marT="34290" marB="34290"/>
                </a:tc>
                <a:extLst>
                  <a:ext uri="{0D108BD9-81ED-4DB2-BD59-A6C34878D82A}">
                    <a16:rowId xmlns:a16="http://schemas.microsoft.com/office/drawing/2014/main" val="679114274"/>
                  </a:ext>
                </a:extLst>
              </a:tr>
              <a:tr h="363693">
                <a:tc>
                  <a:txBody>
                    <a:bodyPr/>
                    <a:lstStyle/>
                    <a:p>
                      <a:pPr marL="800100" lvl="1" indent="-342900">
                        <a:buFont typeface="System Font Regular"/>
                        <a:buChar char="-"/>
                      </a:pPr>
                      <a:r>
                        <a:rPr lang="en-US" sz="2000" dirty="0"/>
                        <a:t>Pressure ratio</a:t>
                      </a:r>
                    </a:p>
                  </a:txBody>
                  <a:tcPr marL="68580" marR="68580" marT="34290" marB="34290"/>
                </a:tc>
                <a:tc gridSpan="2">
                  <a:txBody>
                    <a:bodyPr/>
                    <a:lstStyle/>
                    <a:p>
                      <a:pPr marL="0" indent="0">
                        <a:buFont typeface="Arial" panose="020B0604020202020204" pitchFamily="34" charset="0"/>
                        <a:buNone/>
                      </a:pPr>
                      <a:r>
                        <a:rPr lang="en-US" sz="2000" dirty="0"/>
                        <a:t>2</a:t>
                      </a:r>
                    </a:p>
                  </a:txBody>
                  <a:tcPr marL="68580" marR="68580" marT="34290" marB="34290"/>
                </a:tc>
                <a:tc hMerge="1">
                  <a:txBody>
                    <a:bodyPr/>
                    <a:lstStyle/>
                    <a:p>
                      <a:endParaRPr lang="en-US"/>
                    </a:p>
                  </a:txBody>
                  <a:tcPr/>
                </a:tc>
                <a:extLst>
                  <a:ext uri="{0D108BD9-81ED-4DB2-BD59-A6C34878D82A}">
                    <a16:rowId xmlns:a16="http://schemas.microsoft.com/office/drawing/2014/main" val="3475748730"/>
                  </a:ext>
                </a:extLst>
              </a:tr>
              <a:tr h="363693">
                <a:tc>
                  <a:txBody>
                    <a:bodyPr/>
                    <a:lstStyle/>
                    <a:p>
                      <a:pPr marL="800100" lvl="1" indent="-342900">
                        <a:buFont typeface="System Font Regular"/>
                        <a:buChar char="-"/>
                      </a:pPr>
                      <a:r>
                        <a:rPr lang="en-US" sz="2000" dirty="0"/>
                        <a:t>Rotational speed</a:t>
                      </a:r>
                    </a:p>
                  </a:txBody>
                  <a:tcPr marL="68580" marR="68580" marT="34290" marB="34290"/>
                </a:tc>
                <a:tc gridSpan="2">
                  <a:txBody>
                    <a:bodyPr/>
                    <a:lstStyle/>
                    <a:p>
                      <a:pPr marL="0" indent="0">
                        <a:buFont typeface="Arial" panose="020B0604020202020204" pitchFamily="34" charset="0"/>
                        <a:buNone/>
                      </a:pPr>
                      <a:r>
                        <a:rPr lang="en-US" sz="2000" dirty="0"/>
                        <a:t>6782 RPM</a:t>
                      </a:r>
                    </a:p>
                  </a:txBody>
                  <a:tcPr marL="68580" marR="68580" marT="34290" marB="34290"/>
                </a:tc>
                <a:tc hMerge="1">
                  <a:txBody>
                    <a:bodyPr/>
                    <a:lstStyle/>
                    <a:p>
                      <a:pPr algn="r"/>
                      <a:r>
                        <a:rPr lang="en-US" sz="1800" dirty="0"/>
                        <a:t>6782 RPM</a:t>
                      </a:r>
                    </a:p>
                  </a:txBody>
                  <a:tcPr marL="68580" marR="68580" marT="34290" marB="34290"/>
                </a:tc>
                <a:extLst>
                  <a:ext uri="{0D108BD9-81ED-4DB2-BD59-A6C34878D82A}">
                    <a16:rowId xmlns:a16="http://schemas.microsoft.com/office/drawing/2014/main" val="361962967"/>
                  </a:ext>
                </a:extLst>
              </a:tr>
              <a:tr h="322418">
                <a:tc>
                  <a:txBody>
                    <a:bodyPr/>
                    <a:lstStyle/>
                    <a:p>
                      <a:pPr marL="342900" indent="-342900">
                        <a:buFont typeface="System Font Regular"/>
                        <a:buChar char="-"/>
                      </a:pPr>
                      <a:endParaRPr lang="en-US" sz="2000" dirty="0"/>
                    </a:p>
                  </a:txBody>
                  <a:tcPr marL="68580" marR="68580" marT="34290" marB="34290"/>
                </a:tc>
                <a:tc gridSpan="2">
                  <a:txBody>
                    <a:bodyPr/>
                    <a:lstStyle/>
                    <a:p>
                      <a:pPr marL="285750" indent="-285750">
                        <a:buFont typeface="Arial" panose="020B0604020202020204" pitchFamily="34" charset="0"/>
                        <a:buChar char="•"/>
                      </a:pPr>
                      <a:endParaRPr lang="en-US" sz="2000" dirty="0"/>
                    </a:p>
                  </a:txBody>
                  <a:tcPr marL="68580" marR="68580" marT="34290" marB="34290"/>
                </a:tc>
                <a:tc hMerge="1">
                  <a:txBody>
                    <a:bodyPr/>
                    <a:lstStyle/>
                    <a:p>
                      <a:pPr algn="r"/>
                      <a:endParaRPr lang="en-US" sz="1800" dirty="0"/>
                    </a:p>
                  </a:txBody>
                  <a:tcPr marL="68580" marR="68580" marT="34290" marB="34290"/>
                </a:tc>
                <a:extLst>
                  <a:ext uri="{0D108BD9-81ED-4DB2-BD59-A6C34878D82A}">
                    <a16:rowId xmlns:a16="http://schemas.microsoft.com/office/drawing/2014/main" val="574057477"/>
                  </a:ext>
                </a:extLst>
              </a:tr>
            </a:tbl>
          </a:graphicData>
        </a:graphic>
      </p:graphicFrame>
      <p:sp>
        <p:nvSpPr>
          <p:cNvPr id="4" name="Slide Number Placeholder 3">
            <a:extLst>
              <a:ext uri="{FF2B5EF4-FFF2-40B4-BE49-F238E27FC236}">
                <a16:creationId xmlns:a16="http://schemas.microsoft.com/office/drawing/2014/main" id="{65B9E093-EC20-5840-8665-499D0F0F5FD8}"/>
              </a:ext>
            </a:extLst>
          </p:cNvPr>
          <p:cNvSpPr>
            <a:spLocks noGrp="1"/>
          </p:cNvSpPr>
          <p:nvPr>
            <p:ph type="sldNum" sz="quarter" idx="10"/>
          </p:nvPr>
        </p:nvSpPr>
        <p:spPr/>
        <p:txBody>
          <a:bodyPr/>
          <a:lstStyle/>
          <a:p>
            <a:r>
              <a:rPr lang="en-US" dirty="0"/>
              <a:t>14</a:t>
            </a:r>
          </a:p>
        </p:txBody>
      </p:sp>
    </p:spTree>
    <p:extLst>
      <p:ext uri="{BB962C8B-B14F-4D97-AF65-F5344CB8AC3E}">
        <p14:creationId xmlns:p14="http://schemas.microsoft.com/office/powerpoint/2010/main" val="1266255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AAC-29A6-A84E-B19E-681E84D43FF5}"/>
              </a:ext>
            </a:extLst>
          </p:cNvPr>
          <p:cNvSpPr>
            <a:spLocks noGrp="1"/>
          </p:cNvSpPr>
          <p:nvPr>
            <p:ph type="title"/>
          </p:nvPr>
        </p:nvSpPr>
        <p:spPr/>
        <p:txBody>
          <a:bodyPr/>
          <a:lstStyle/>
          <a:p>
            <a:r>
              <a:rPr lang="en-US" dirty="0"/>
              <a:t>More stages means more blades to machine</a:t>
            </a:r>
            <a:endParaRPr lang="en-US" i="1" dirty="0"/>
          </a:p>
        </p:txBody>
      </p:sp>
      <p:sp>
        <p:nvSpPr>
          <p:cNvPr id="6" name="Content Placeholder 2">
            <a:extLst>
              <a:ext uri="{FF2B5EF4-FFF2-40B4-BE49-F238E27FC236}">
                <a16:creationId xmlns:a16="http://schemas.microsoft.com/office/drawing/2014/main" id="{A030BF94-ADCF-5E44-BA64-092A6F36136E}"/>
              </a:ext>
            </a:extLst>
          </p:cNvPr>
          <p:cNvSpPr>
            <a:spLocks noGrp="1"/>
          </p:cNvSpPr>
          <p:nvPr>
            <p:ph idx="1"/>
          </p:nvPr>
        </p:nvSpPr>
        <p:spPr>
          <a:xfrm>
            <a:off x="384175" y="2369707"/>
            <a:ext cx="2381327" cy="3376319"/>
          </a:xfrm>
        </p:spPr>
        <p:txBody>
          <a:bodyPr/>
          <a:lstStyle/>
          <a:p>
            <a:r>
              <a:rPr lang="en-US" dirty="0"/>
              <a:t>More stages results in more blades, increased machining time</a:t>
            </a:r>
          </a:p>
          <a:p>
            <a:r>
              <a:rPr lang="en-US" dirty="0"/>
              <a:t>Difference between 5 and 25 stages is only 30%, not 400% </a:t>
            </a:r>
          </a:p>
        </p:txBody>
      </p:sp>
      <p:sp>
        <p:nvSpPr>
          <p:cNvPr id="7" name="Slide Number Placeholder 6">
            <a:extLst>
              <a:ext uri="{FF2B5EF4-FFF2-40B4-BE49-F238E27FC236}">
                <a16:creationId xmlns:a16="http://schemas.microsoft.com/office/drawing/2014/main" id="{D0B2D188-4007-C844-81C5-918663F1ED66}"/>
              </a:ext>
            </a:extLst>
          </p:cNvPr>
          <p:cNvSpPr>
            <a:spLocks noGrp="1"/>
          </p:cNvSpPr>
          <p:nvPr>
            <p:ph type="sldNum" sz="quarter" idx="10"/>
          </p:nvPr>
        </p:nvSpPr>
        <p:spPr/>
        <p:txBody>
          <a:bodyPr/>
          <a:lstStyle/>
          <a:p>
            <a:r>
              <a:rPr lang="en-US" dirty="0"/>
              <a:t>15</a:t>
            </a:r>
          </a:p>
        </p:txBody>
      </p:sp>
      <p:pic>
        <p:nvPicPr>
          <p:cNvPr id="4" name="Picture 3">
            <a:extLst>
              <a:ext uri="{FF2B5EF4-FFF2-40B4-BE49-F238E27FC236}">
                <a16:creationId xmlns:a16="http://schemas.microsoft.com/office/drawing/2014/main" id="{966BE057-B1C9-4144-9300-2E61A59B5E25}"/>
              </a:ext>
            </a:extLst>
          </p:cNvPr>
          <p:cNvPicPr>
            <a:picLocks noChangeAspect="1"/>
          </p:cNvPicPr>
          <p:nvPr/>
        </p:nvPicPr>
        <p:blipFill>
          <a:blip r:embed="rId3"/>
          <a:stretch>
            <a:fillRect/>
          </a:stretch>
        </p:blipFill>
        <p:spPr>
          <a:xfrm>
            <a:off x="2885704" y="2190380"/>
            <a:ext cx="5874122" cy="3698522"/>
          </a:xfrm>
          <a:prstGeom prst="rect">
            <a:avLst/>
          </a:prstGeom>
        </p:spPr>
      </p:pic>
    </p:spTree>
    <p:extLst>
      <p:ext uri="{BB962C8B-B14F-4D97-AF65-F5344CB8AC3E}">
        <p14:creationId xmlns:p14="http://schemas.microsoft.com/office/powerpoint/2010/main" val="1323155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D315-20E4-2540-A90A-2A20BA579F79}"/>
              </a:ext>
            </a:extLst>
          </p:cNvPr>
          <p:cNvSpPr>
            <a:spLocks noGrp="1"/>
          </p:cNvSpPr>
          <p:nvPr>
            <p:ph type="title"/>
          </p:nvPr>
        </p:nvSpPr>
        <p:spPr>
          <a:xfrm>
            <a:off x="382589" y="261143"/>
            <a:ext cx="8375650" cy="633416"/>
          </a:xfrm>
        </p:spPr>
        <p:txBody>
          <a:bodyPr/>
          <a:lstStyle/>
          <a:p>
            <a:r>
              <a:rPr lang="en-US" dirty="0"/>
              <a:t>Reynolds essentially constant due to balance between blade size and velocity</a:t>
            </a:r>
          </a:p>
        </p:txBody>
      </p:sp>
      <p:sp>
        <p:nvSpPr>
          <p:cNvPr id="4" name="Slide Number Placeholder 3">
            <a:extLst>
              <a:ext uri="{FF2B5EF4-FFF2-40B4-BE49-F238E27FC236}">
                <a16:creationId xmlns:a16="http://schemas.microsoft.com/office/drawing/2014/main" id="{AD3B8E1F-0DF7-444D-96FE-6CE9AD7F9120}"/>
              </a:ext>
            </a:extLst>
          </p:cNvPr>
          <p:cNvSpPr>
            <a:spLocks noGrp="1"/>
          </p:cNvSpPr>
          <p:nvPr>
            <p:ph type="sldNum" sz="quarter" idx="10"/>
          </p:nvPr>
        </p:nvSpPr>
        <p:spPr/>
        <p:txBody>
          <a:bodyPr/>
          <a:lstStyle/>
          <a:p>
            <a:r>
              <a:rPr lang="en-US" dirty="0"/>
              <a:t>16</a:t>
            </a:r>
          </a:p>
        </p:txBody>
      </p:sp>
      <p:sp>
        <p:nvSpPr>
          <p:cNvPr id="7" name="Rectangle 6">
            <a:extLst>
              <a:ext uri="{FF2B5EF4-FFF2-40B4-BE49-F238E27FC236}">
                <a16:creationId xmlns:a16="http://schemas.microsoft.com/office/drawing/2014/main" id="{B98A6146-1741-E047-B6BA-D4BE89CCDF9C}"/>
              </a:ext>
            </a:extLst>
          </p:cNvPr>
          <p:cNvSpPr/>
          <p:nvPr/>
        </p:nvSpPr>
        <p:spPr>
          <a:xfrm>
            <a:off x="177377" y="1750091"/>
            <a:ext cx="2997623" cy="4401205"/>
          </a:xfrm>
          <a:prstGeom prst="rect">
            <a:avLst/>
          </a:prstGeom>
        </p:spPr>
        <p:txBody>
          <a:bodyPr wrap="square">
            <a:spAutoFit/>
          </a:bodyPr>
          <a:lstStyle/>
          <a:p>
            <a:pPr marL="285750" indent="-285750" algn="l">
              <a:buFont typeface="Arial" panose="020B0604020202020204" pitchFamily="34" charset="0"/>
              <a:buChar char="•"/>
            </a:pPr>
            <a:r>
              <a:rPr lang="en-US" sz="2000" dirty="0"/>
              <a:t>Reynolds based on exit conditions and suction surface length</a:t>
            </a:r>
          </a:p>
          <a:p>
            <a:pPr algn="l"/>
            <a:endParaRPr lang="en-US" sz="2000" dirty="0"/>
          </a:p>
          <a:p>
            <a:pPr marL="285750" indent="-285750" algn="l">
              <a:buFont typeface="Arial" panose="020B0604020202020204" pitchFamily="34" charset="0"/>
              <a:buChar char="•"/>
            </a:pPr>
            <a:r>
              <a:rPr lang="en-US" sz="2000" dirty="0"/>
              <a:t>Essentially constant as fewer stages with higher velocities also have smaller blades</a:t>
            </a:r>
          </a:p>
          <a:p>
            <a:pPr marL="285750" indent="-285750" algn="l">
              <a:buFont typeface="Arial" panose="020B0604020202020204" pitchFamily="34" charset="0"/>
              <a:buChar char="•"/>
            </a:pPr>
            <a:endParaRPr lang="en-US" sz="2000" dirty="0"/>
          </a:p>
          <a:p>
            <a:pPr marL="285750" indent="-285750" algn="l">
              <a:buFont typeface="Arial" panose="020B0604020202020204" pitchFamily="34" charset="0"/>
              <a:buChar char="•"/>
            </a:pPr>
            <a:r>
              <a:rPr lang="en-US" sz="2000" dirty="0"/>
              <a:t>Re used in correlation for profile loss to vary C</a:t>
            </a:r>
            <a:r>
              <a:rPr lang="en-US" sz="2000" baseline="-25000" dirty="0"/>
              <a:t>D</a:t>
            </a:r>
            <a:r>
              <a:rPr lang="en-US" sz="2000" dirty="0"/>
              <a:t>, which feeds into TE correlation with BL thickness</a:t>
            </a:r>
          </a:p>
        </p:txBody>
      </p:sp>
      <p:pic>
        <p:nvPicPr>
          <p:cNvPr id="6" name="Picture 5">
            <a:extLst>
              <a:ext uri="{FF2B5EF4-FFF2-40B4-BE49-F238E27FC236}">
                <a16:creationId xmlns:a16="http://schemas.microsoft.com/office/drawing/2014/main" id="{8AAA7CC5-CF93-8943-9F07-AF801165CBE3}"/>
              </a:ext>
            </a:extLst>
          </p:cNvPr>
          <p:cNvPicPr>
            <a:picLocks noChangeAspect="1"/>
          </p:cNvPicPr>
          <p:nvPr/>
        </p:nvPicPr>
        <p:blipFill>
          <a:blip r:embed="rId3"/>
          <a:stretch>
            <a:fillRect/>
          </a:stretch>
        </p:blipFill>
        <p:spPr>
          <a:xfrm>
            <a:off x="3003407" y="2182173"/>
            <a:ext cx="5754832" cy="3698122"/>
          </a:xfrm>
          <a:prstGeom prst="rect">
            <a:avLst/>
          </a:prstGeom>
        </p:spPr>
      </p:pic>
    </p:spTree>
    <p:extLst>
      <p:ext uri="{BB962C8B-B14F-4D97-AF65-F5344CB8AC3E}">
        <p14:creationId xmlns:p14="http://schemas.microsoft.com/office/powerpoint/2010/main" val="2754502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C1C9C-B2B4-E448-8DAC-AC2752DAD186}"/>
              </a:ext>
            </a:extLst>
          </p:cNvPr>
          <p:cNvSpPr>
            <a:spLocks noGrp="1"/>
          </p:cNvSpPr>
          <p:nvPr>
            <p:ph type="title"/>
          </p:nvPr>
        </p:nvSpPr>
        <p:spPr/>
        <p:txBody>
          <a:bodyPr/>
          <a:lstStyle/>
          <a:p>
            <a:r>
              <a:rPr lang="en-US" dirty="0"/>
              <a:t>Radial turbines would have high inlet Mach number</a:t>
            </a:r>
          </a:p>
        </p:txBody>
      </p:sp>
      <p:sp>
        <p:nvSpPr>
          <p:cNvPr id="3" name="Content Placeholder 2">
            <a:extLst>
              <a:ext uri="{FF2B5EF4-FFF2-40B4-BE49-F238E27FC236}">
                <a16:creationId xmlns:a16="http://schemas.microsoft.com/office/drawing/2014/main" id="{A9B6DC86-5246-FA44-A26B-EF471593CCAF}"/>
              </a:ext>
            </a:extLst>
          </p:cNvPr>
          <p:cNvSpPr>
            <a:spLocks noGrp="1"/>
          </p:cNvSpPr>
          <p:nvPr>
            <p:ph idx="1"/>
          </p:nvPr>
        </p:nvSpPr>
        <p:spPr/>
        <p:txBody>
          <a:bodyPr/>
          <a:lstStyle/>
          <a:p>
            <a:r>
              <a:rPr lang="en-US" dirty="0"/>
              <a:t>For a single stage radial/Pelton with axial exit flow:</a:t>
            </a: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2F552E2-427D-9941-ABBD-89B461862D44}"/>
              </a:ext>
            </a:extLst>
          </p:cNvPr>
          <p:cNvSpPr>
            <a:spLocks noGrp="1"/>
          </p:cNvSpPr>
          <p:nvPr>
            <p:ph type="sldNum" sz="quarter" idx="10"/>
          </p:nvPr>
        </p:nvSpPr>
        <p:spPr/>
        <p:txBody>
          <a:bodyPr/>
          <a:lstStyle/>
          <a:p>
            <a:r>
              <a:rPr lang="en-US" dirty="0"/>
              <a:t>17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04CD526-1A2F-0D4B-BB3C-E665A62C1D8D}"/>
                  </a:ext>
                </a:extLst>
              </p:cNvPr>
              <p:cNvSpPr txBox="1"/>
              <p:nvPr/>
            </p:nvSpPr>
            <p:spPr>
              <a:xfrm>
                <a:off x="3017929" y="2249631"/>
                <a:ext cx="3141053" cy="628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h</m:t>
                          </m:r>
                        </m:e>
                        <m:sub>
                          <m:r>
                            <a:rPr lang="en-GB" sz="2000" b="0" i="1" smtClean="0">
                              <a:latin typeface="Cambria Math" panose="02040503050406030204" pitchFamily="18" charset="0"/>
                              <a:ea typeface="Cambria Math" panose="02040503050406030204" pitchFamily="18" charset="0"/>
                            </a:rPr>
                            <m:t>0</m:t>
                          </m:r>
                        </m:sub>
                      </m:sSub>
                      <m:r>
                        <a:rPr lang="en-GB" sz="2000" b="0" i="1" smtClean="0">
                          <a:latin typeface="Cambria Math" panose="02040503050406030204" pitchFamily="18" charset="0"/>
                          <a:ea typeface="Cambria Math" panose="02040503050406030204" pitchFamily="18" charset="0"/>
                        </a:rPr>
                        <m:t>= </m:t>
                      </m:r>
                      <m:f>
                        <m:fPr>
                          <m:ctrlPr>
                            <a:rPr lang="en-GB" sz="2000" b="0" i="1" smtClean="0">
                              <a:latin typeface="Cambria Math" panose="02040503050406030204" pitchFamily="18" charset="0"/>
                              <a:ea typeface="Cambria Math" panose="02040503050406030204" pitchFamily="18" charset="0"/>
                            </a:rPr>
                          </m:ctrlPr>
                        </m:fPr>
                        <m:num>
                          <m:acc>
                            <m:accPr>
                              <m:chr m:val="̇"/>
                              <m:ctrlPr>
                                <a:rPr lang="en-GB" sz="2000" b="0" i="1" smtClean="0">
                                  <a:latin typeface="Cambria Math" panose="02040503050406030204" pitchFamily="18" charset="0"/>
                                  <a:ea typeface="Cambria Math" panose="02040503050406030204" pitchFamily="18" charset="0"/>
                                </a:rPr>
                              </m:ctrlPr>
                            </m:accPr>
                            <m:e>
                              <m:r>
                                <a:rPr lang="en-GB" sz="2000" b="0" i="1" smtClean="0">
                                  <a:latin typeface="Cambria Math" panose="02040503050406030204" pitchFamily="18" charset="0"/>
                                  <a:ea typeface="Cambria Math" panose="02040503050406030204" pitchFamily="18" charset="0"/>
                                </a:rPr>
                                <m:t>𝑊</m:t>
                              </m:r>
                            </m:e>
                          </m:acc>
                        </m:num>
                        <m:den>
                          <m:acc>
                            <m:accPr>
                              <m:chr m:val="̇"/>
                              <m:ctrlPr>
                                <a:rPr lang="en-GB" sz="2000" b="0" i="1" smtClean="0">
                                  <a:latin typeface="Cambria Math" panose="02040503050406030204" pitchFamily="18" charset="0"/>
                                  <a:ea typeface="Cambria Math" panose="02040503050406030204" pitchFamily="18" charset="0"/>
                                </a:rPr>
                              </m:ctrlPr>
                            </m:accPr>
                            <m:e>
                              <m:r>
                                <a:rPr lang="en-GB" sz="2000" b="0" i="1" smtClean="0">
                                  <a:latin typeface="Cambria Math" panose="02040503050406030204" pitchFamily="18" charset="0"/>
                                  <a:ea typeface="Cambria Math" panose="02040503050406030204" pitchFamily="18" charset="0"/>
                                </a:rPr>
                                <m:t>𝑚</m:t>
                              </m:r>
                            </m:e>
                          </m:acc>
                        </m:den>
                      </m:f>
                      <m:r>
                        <a:rPr lang="en-GB" sz="2000" b="0" i="1" smtClean="0">
                          <a:latin typeface="Cambria Math" panose="02040503050406030204" pitchFamily="18" charset="0"/>
                          <a:ea typeface="Cambria Math" panose="02040503050406030204" pitchFamily="18" charset="0"/>
                        </a:rPr>
                        <m:t>=</m:t>
                      </m:r>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𝑈</m:t>
                          </m:r>
                        </m:e>
                        <m:sub>
                          <m:r>
                            <a:rPr lang="en-GB" sz="2000" b="0" i="1" smtClean="0">
                              <a:latin typeface="Cambria Math" panose="02040503050406030204" pitchFamily="18" charset="0"/>
                              <a:ea typeface="Cambria Math" panose="02040503050406030204" pitchFamily="18" charset="0"/>
                            </a:rPr>
                            <m:t>1</m:t>
                          </m:r>
                        </m:sub>
                      </m:sSub>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𝑉</m:t>
                          </m:r>
                        </m:e>
                        <m:sub>
                          <m:r>
                            <a:rPr lang="en-GB" sz="2000" b="0" i="1" smtClean="0">
                              <a:latin typeface="Cambria Math" panose="02040503050406030204" pitchFamily="18" charset="0"/>
                              <a:ea typeface="Cambria Math" panose="02040503050406030204" pitchFamily="18" charset="0"/>
                            </a:rPr>
                            <m:t>𝜃</m:t>
                          </m:r>
                          <m:r>
                            <a:rPr lang="en-GB" sz="2000" b="0" i="1" smtClean="0">
                              <a:latin typeface="Cambria Math" panose="02040503050406030204" pitchFamily="18" charset="0"/>
                              <a:ea typeface="Cambria Math" panose="02040503050406030204" pitchFamily="18" charset="0"/>
                            </a:rPr>
                            <m:t>1</m:t>
                          </m:r>
                        </m:sub>
                      </m:sSub>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𝑅</m:t>
                      </m:r>
                      <m:r>
                        <m:rPr>
                          <m:sty m:val="p"/>
                        </m:rPr>
                        <a:rPr lang="el-GR" sz="2000" b="0" i="1" smtClean="0">
                          <a:latin typeface="Cambria Math" panose="02040503050406030204" pitchFamily="18" charset="0"/>
                          <a:ea typeface="Cambria Math" panose="02040503050406030204" pitchFamily="18" charset="0"/>
                        </a:rPr>
                        <m:t>Ω</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𝑉</m:t>
                          </m:r>
                        </m:e>
                        <m:sub>
                          <m:r>
                            <a:rPr lang="en-GB" sz="2000" i="1">
                              <a:latin typeface="Cambria Math" panose="02040503050406030204" pitchFamily="18" charset="0"/>
                              <a:ea typeface="Cambria Math" panose="02040503050406030204" pitchFamily="18" charset="0"/>
                            </a:rPr>
                            <m:t>𝜃</m:t>
                          </m:r>
                          <m:r>
                            <a:rPr lang="en-GB" sz="2000" i="1">
                              <a:latin typeface="Cambria Math" panose="02040503050406030204" pitchFamily="18" charset="0"/>
                              <a:ea typeface="Cambria Math" panose="02040503050406030204" pitchFamily="18" charset="0"/>
                            </a:rPr>
                            <m:t>1</m:t>
                          </m:r>
                        </m:sub>
                      </m:sSub>
                    </m:oMath>
                  </m:oMathPara>
                </a14:m>
                <a:endParaRPr lang="en-US" sz="2000" dirty="0"/>
              </a:p>
            </p:txBody>
          </p:sp>
        </mc:Choice>
        <mc:Fallback xmlns="">
          <p:sp>
            <p:nvSpPr>
              <p:cNvPr id="5" name="TextBox 4">
                <a:extLst>
                  <a:ext uri="{FF2B5EF4-FFF2-40B4-BE49-F238E27FC236}">
                    <a16:creationId xmlns:a16="http://schemas.microsoft.com/office/drawing/2014/main" id="{504CD526-1A2F-0D4B-BB3C-E665A62C1D8D}"/>
                  </a:ext>
                </a:extLst>
              </p:cNvPr>
              <p:cNvSpPr txBox="1">
                <a:spLocks noRot="1" noChangeAspect="1" noMove="1" noResize="1" noEditPoints="1" noAdjustHandles="1" noChangeArrowheads="1" noChangeShapeType="1" noTextEdit="1"/>
              </p:cNvSpPr>
              <p:nvPr/>
            </p:nvSpPr>
            <p:spPr>
              <a:xfrm>
                <a:off x="3017929" y="2249631"/>
                <a:ext cx="3141053" cy="628249"/>
              </a:xfrm>
              <a:prstGeom prst="rect">
                <a:avLst/>
              </a:prstGeom>
              <a:blipFill>
                <a:blip r:embed="rId3"/>
                <a:stretch>
                  <a:fillRect l="-2016" t="-5882"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ECEAC82-EE31-9F41-89E0-108984DF87FC}"/>
                  </a:ext>
                </a:extLst>
              </p:cNvPr>
              <p:cNvSpPr txBox="1"/>
              <p:nvPr/>
            </p:nvSpPr>
            <p:spPr>
              <a:xfrm>
                <a:off x="4148243" y="3638053"/>
                <a:ext cx="2377061" cy="617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17×</m:t>
                          </m:r>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10</m:t>
                              </m:r>
                            </m:e>
                            <m:sup>
                              <m:r>
                                <a:rPr lang="en-GB" sz="2000" b="0" i="1" smtClean="0">
                                  <a:latin typeface="Cambria Math" panose="02040503050406030204" pitchFamily="18" charset="0"/>
                                  <a:ea typeface="Cambria Math" panose="02040503050406030204" pitchFamily="18" charset="0"/>
                                </a:rPr>
                                <m:t>6</m:t>
                              </m:r>
                            </m:sup>
                          </m:sSup>
                          <m:r>
                            <a:rPr lang="en-GB" sz="2000" b="0" i="1" smtClean="0">
                              <a:latin typeface="Cambria Math" panose="02040503050406030204" pitchFamily="18" charset="0"/>
                              <a:ea typeface="Cambria Math" panose="02040503050406030204" pitchFamily="18" charset="0"/>
                            </a:rPr>
                            <m:t>×60</m:t>
                          </m:r>
                        </m:num>
                        <m:den>
                          <m:r>
                            <a:rPr lang="en-GB" sz="2000" b="0" i="1" smtClean="0">
                              <a:latin typeface="Cambria Math" panose="02040503050406030204" pitchFamily="18" charset="0"/>
                              <a:ea typeface="Cambria Math" panose="02040503050406030204" pitchFamily="18" charset="0"/>
                            </a:rPr>
                            <m:t>16×0.5×2</m:t>
                          </m:r>
                          <m:r>
                            <a:rPr lang="en-GB" sz="2000" b="0" i="1" smtClean="0">
                              <a:latin typeface="Cambria Math" panose="02040503050406030204" pitchFamily="18" charset="0"/>
                              <a:ea typeface="Cambria Math" panose="02040503050406030204" pitchFamily="18" charset="0"/>
                            </a:rPr>
                            <m:t>𝜋</m:t>
                          </m:r>
                          <m:r>
                            <a:rPr lang="en-GB" sz="2000" b="0" i="1" smtClean="0">
                              <a:latin typeface="Cambria Math" panose="02040503050406030204" pitchFamily="18" charset="0"/>
                              <a:ea typeface="Cambria Math" panose="02040503050406030204" pitchFamily="18" charset="0"/>
                            </a:rPr>
                            <m:t>×6782</m:t>
                          </m:r>
                        </m:den>
                      </m:f>
                    </m:oMath>
                  </m:oMathPara>
                </a14:m>
                <a:endParaRPr lang="en-US" sz="2000" dirty="0"/>
              </a:p>
            </p:txBody>
          </p:sp>
        </mc:Choice>
        <mc:Fallback xmlns="">
          <p:sp>
            <p:nvSpPr>
              <p:cNvPr id="6" name="TextBox 5">
                <a:extLst>
                  <a:ext uri="{FF2B5EF4-FFF2-40B4-BE49-F238E27FC236}">
                    <a16:creationId xmlns:a16="http://schemas.microsoft.com/office/drawing/2014/main" id="{5ECEAC82-EE31-9F41-89E0-108984DF87FC}"/>
                  </a:ext>
                </a:extLst>
              </p:cNvPr>
              <p:cNvSpPr txBox="1">
                <a:spLocks noRot="1" noChangeAspect="1" noMove="1" noResize="1" noEditPoints="1" noAdjustHandles="1" noChangeArrowheads="1" noChangeShapeType="1" noTextEdit="1"/>
              </p:cNvSpPr>
              <p:nvPr/>
            </p:nvSpPr>
            <p:spPr>
              <a:xfrm>
                <a:off x="4148243" y="3638053"/>
                <a:ext cx="2377061" cy="617605"/>
              </a:xfrm>
              <a:prstGeom prst="rect">
                <a:avLst/>
              </a:prstGeom>
              <a:blipFill>
                <a:blip r:embed="rId4"/>
                <a:stretch>
                  <a:fillRect l="-532" r="-1596" b="-1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1D9D11-42A4-E04B-9880-4F1E80A4CF33}"/>
                  </a:ext>
                </a:extLst>
              </p:cNvPr>
              <p:cNvSpPr txBox="1"/>
              <p:nvPr/>
            </p:nvSpPr>
            <p:spPr>
              <a:xfrm>
                <a:off x="3537263" y="2873297"/>
                <a:ext cx="1474763" cy="628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mbria Math" panose="02040503050406030204" pitchFamily="18" charset="0"/>
                            </a:rPr>
                          </m:ctrlPr>
                        </m:sSubPr>
                        <m:e>
                          <m:r>
                            <a:rPr lang="en-GB" sz="200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𝑉</m:t>
                          </m:r>
                        </m:e>
                        <m:sub>
                          <m:r>
                            <a:rPr lang="en-GB" sz="2000" i="1">
                              <a:latin typeface="Cambria Math" panose="02040503050406030204" pitchFamily="18" charset="0"/>
                              <a:ea typeface="Cambria Math" panose="02040503050406030204" pitchFamily="18" charset="0"/>
                            </a:rPr>
                            <m:t>𝜃</m:t>
                          </m:r>
                          <m:r>
                            <a:rPr lang="en-GB" sz="2000" i="1">
                              <a:latin typeface="Cambria Math" panose="02040503050406030204" pitchFamily="18" charset="0"/>
                              <a:ea typeface="Cambria Math" panose="02040503050406030204" pitchFamily="18" charset="0"/>
                            </a:rPr>
                            <m:t>1</m:t>
                          </m:r>
                        </m:sub>
                      </m:sSub>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acc>
                            <m:accPr>
                              <m:chr m:val="̇"/>
                              <m:ctrlPr>
                                <a:rPr lang="en-GB" sz="2000" i="1">
                                  <a:latin typeface="Cambria Math" panose="02040503050406030204" pitchFamily="18" charset="0"/>
                                  <a:ea typeface="Cambria Math" panose="02040503050406030204" pitchFamily="18" charset="0"/>
                                </a:rPr>
                              </m:ctrlPr>
                            </m:accPr>
                            <m:e>
                              <m:r>
                                <a:rPr lang="en-GB" sz="2000" i="1">
                                  <a:latin typeface="Cambria Math" panose="02040503050406030204" pitchFamily="18" charset="0"/>
                                  <a:ea typeface="Cambria Math" panose="02040503050406030204" pitchFamily="18" charset="0"/>
                                </a:rPr>
                                <m:t>𝑊</m:t>
                              </m:r>
                            </m:e>
                          </m:acc>
                        </m:num>
                        <m:den>
                          <m:acc>
                            <m:accPr>
                              <m:chr m:val="̇"/>
                              <m:ctrlPr>
                                <a:rPr lang="en-GB" sz="2000" b="0" i="1" smtClean="0">
                                  <a:latin typeface="Cambria Math" panose="02040503050406030204" pitchFamily="18" charset="0"/>
                                  <a:ea typeface="Cambria Math" panose="02040503050406030204" pitchFamily="18" charset="0"/>
                                </a:rPr>
                              </m:ctrlPr>
                            </m:accPr>
                            <m:e>
                              <m:r>
                                <a:rPr lang="en-GB" sz="2000" b="0" i="1" smtClean="0">
                                  <a:latin typeface="Cambria Math" panose="02040503050406030204" pitchFamily="18" charset="0"/>
                                  <a:ea typeface="Cambria Math" panose="02040503050406030204" pitchFamily="18" charset="0"/>
                                </a:rPr>
                                <m:t>𝑚</m:t>
                              </m:r>
                            </m:e>
                          </m:acc>
                          <m:r>
                            <a:rPr lang="en-GB" sz="2000" b="0" i="1" smtClean="0">
                              <a:latin typeface="Cambria Math" panose="02040503050406030204" pitchFamily="18" charset="0"/>
                              <a:ea typeface="Cambria Math" panose="02040503050406030204" pitchFamily="18" charset="0"/>
                            </a:rPr>
                            <m:t>𝑅</m:t>
                          </m:r>
                          <m:r>
                            <m:rPr>
                              <m:sty m:val="p"/>
                            </m:rPr>
                            <a:rPr lang="el-GR" sz="2000" i="1">
                              <a:latin typeface="Cambria Math" panose="02040503050406030204" pitchFamily="18" charset="0"/>
                              <a:ea typeface="Cambria Math" panose="02040503050406030204" pitchFamily="18" charset="0"/>
                            </a:rPr>
                            <m:t>Ω</m:t>
                          </m:r>
                        </m:den>
                      </m:f>
                    </m:oMath>
                  </m:oMathPara>
                </a14:m>
                <a:endParaRPr lang="en-US" sz="2000" dirty="0"/>
              </a:p>
            </p:txBody>
          </p:sp>
        </mc:Choice>
        <mc:Fallback xmlns="">
          <p:sp>
            <p:nvSpPr>
              <p:cNvPr id="7" name="TextBox 6">
                <a:extLst>
                  <a:ext uri="{FF2B5EF4-FFF2-40B4-BE49-F238E27FC236}">
                    <a16:creationId xmlns:a16="http://schemas.microsoft.com/office/drawing/2014/main" id="{311D9D11-42A4-E04B-9880-4F1E80A4CF33}"/>
                  </a:ext>
                </a:extLst>
              </p:cNvPr>
              <p:cNvSpPr txBox="1">
                <a:spLocks noRot="1" noChangeAspect="1" noMove="1" noResize="1" noEditPoints="1" noAdjustHandles="1" noChangeArrowheads="1" noChangeShapeType="1" noTextEdit="1"/>
              </p:cNvSpPr>
              <p:nvPr/>
            </p:nvSpPr>
            <p:spPr>
              <a:xfrm>
                <a:off x="3537263" y="2873297"/>
                <a:ext cx="1474763" cy="628249"/>
              </a:xfrm>
              <a:prstGeom prst="rect">
                <a:avLst/>
              </a:prstGeom>
              <a:blipFill>
                <a:blip r:embed="rId5"/>
                <a:stretch>
                  <a:fillRect l="-3419" t="-3922" r="-855" b="-980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26233CA-73C7-B148-AD5F-789A1F6D5FEF}"/>
                  </a:ext>
                </a:extLst>
              </p:cNvPr>
              <p:cNvSpPr txBox="1"/>
              <p:nvPr/>
            </p:nvSpPr>
            <p:spPr>
              <a:xfrm>
                <a:off x="4174629" y="4480626"/>
                <a:ext cx="1638525" cy="6692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2992</m:t>
                      </m:r>
                      <m:r>
                        <a:rPr lang="en-GB" sz="2000" i="1">
                          <a:latin typeface="Cambria Math" panose="02040503050406030204" pitchFamily="18" charset="0"/>
                          <a:ea typeface="Cambria Math" panose="02040503050406030204" pitchFamily="18" charset="0"/>
                        </a:rPr>
                        <m:t> </m:t>
                      </m:r>
                      <m:r>
                        <m:rPr>
                          <m:nor/>
                        </m:rPr>
                        <a:rPr lang="en-GB" sz="2000">
                          <a:latin typeface="Cambria Math" panose="02040503050406030204" pitchFamily="18" charset="0"/>
                          <a:ea typeface="Cambria Math" panose="02040503050406030204" pitchFamily="18" charset="0"/>
                        </a:rPr>
                        <m:t>m</m:t>
                      </m:r>
                      <m:sSup>
                        <m:sSupPr>
                          <m:ctrlPr>
                            <a:rPr lang="en-GB" sz="2000" i="1">
                              <a:latin typeface="Cambria Math" panose="02040503050406030204" pitchFamily="18" charset="0"/>
                              <a:ea typeface="Cambria Math" panose="02040503050406030204" pitchFamily="18" charset="0"/>
                            </a:rPr>
                          </m:ctrlPr>
                        </m:sSupPr>
                        <m:e>
                          <m:r>
                            <m:rPr>
                              <m:nor/>
                            </m:rPr>
                            <a:rPr lang="en-GB" sz="2000">
                              <a:latin typeface="Cambria Math" panose="02040503050406030204" pitchFamily="18" charset="0"/>
                              <a:ea typeface="Cambria Math" panose="02040503050406030204" pitchFamily="18" charset="0"/>
                            </a:rPr>
                            <m:t>s</m:t>
                          </m:r>
                        </m:e>
                        <m:sup>
                          <m:r>
                            <m:rPr>
                              <m:nor/>
                            </m:rPr>
                            <a:rPr lang="en-GB" sz="2000">
                              <a:latin typeface="Cambria Math" panose="02040503050406030204" pitchFamily="18" charset="0"/>
                              <a:ea typeface="Cambria Math" panose="02040503050406030204" pitchFamily="18" charset="0"/>
                            </a:rPr>
                            <m:t>−1</m:t>
                          </m:r>
                        </m:sup>
                      </m:sSup>
                    </m:oMath>
                  </m:oMathPara>
                </a14:m>
                <a:endParaRPr lang="en-US" sz="2000" dirty="0"/>
              </a:p>
              <a:p>
                <a:endParaRPr lang="en-US" sz="2000" dirty="0"/>
              </a:p>
            </p:txBody>
          </p:sp>
        </mc:Choice>
        <mc:Fallback>
          <p:sp>
            <p:nvSpPr>
              <p:cNvPr id="8" name="TextBox 7">
                <a:extLst>
                  <a:ext uri="{FF2B5EF4-FFF2-40B4-BE49-F238E27FC236}">
                    <a16:creationId xmlns:a16="http://schemas.microsoft.com/office/drawing/2014/main" id="{A26233CA-73C7-B148-AD5F-789A1F6D5FEF}"/>
                  </a:ext>
                </a:extLst>
              </p:cNvPr>
              <p:cNvSpPr txBox="1">
                <a:spLocks noRot="1" noChangeAspect="1" noMove="1" noResize="1" noEditPoints="1" noAdjustHandles="1" noChangeArrowheads="1" noChangeShapeType="1" noTextEdit="1"/>
              </p:cNvSpPr>
              <p:nvPr/>
            </p:nvSpPr>
            <p:spPr>
              <a:xfrm>
                <a:off x="4174629" y="4480626"/>
                <a:ext cx="1638525" cy="669222"/>
              </a:xfrm>
              <a:prstGeom prst="rect">
                <a:avLst/>
              </a:prstGeom>
              <a:blipFill>
                <a:blip r:embed="rId6"/>
                <a:stretch>
                  <a:fillRect l="-769" r="-153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1BE07C8-9CD5-7747-ABE2-3E3B706FADE9}"/>
                  </a:ext>
                </a:extLst>
              </p:cNvPr>
              <p:cNvSpPr txBox="1"/>
              <p:nvPr/>
            </p:nvSpPr>
            <p:spPr>
              <a:xfrm>
                <a:off x="1331569" y="5127191"/>
                <a:ext cx="6513771" cy="7805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rPr>
                              </m:ctrlPr>
                            </m:sSubPr>
                            <m:e>
                              <m:r>
                                <a:rPr lang="en-GB" sz="2000" b="0" i="1" smtClean="0">
                                  <a:latin typeface="Cambria Math" panose="02040503050406030204" pitchFamily="18" charset="0"/>
                                </a:rPr>
                                <m:t>𝑉</m:t>
                              </m:r>
                            </m:e>
                            <m:sub>
                              <m:r>
                                <a:rPr lang="en-GB" sz="2000" b="0" i="1" smtClean="0">
                                  <a:latin typeface="Cambria Math" panose="02040503050406030204" pitchFamily="18" charset="0"/>
                                </a:rPr>
                                <m:t>𝜃</m:t>
                              </m:r>
                              <m:r>
                                <a:rPr lang="en-GB" sz="2000" b="0" i="1" smtClean="0">
                                  <a:latin typeface="Cambria Math" panose="02040503050406030204" pitchFamily="18" charset="0"/>
                                </a:rPr>
                                <m:t>2</m:t>
                              </m:r>
                            </m:sub>
                          </m:sSub>
                        </m:num>
                        <m:den>
                          <m:rad>
                            <m:radPr>
                              <m:degHide m:val="on"/>
                              <m:ctrlPr>
                                <a:rPr lang="en-US" sz="2000" i="1" smtClean="0">
                                  <a:latin typeface="Cambria Math" panose="02040503050406030204" pitchFamily="18" charset="0"/>
                                </a:rPr>
                              </m:ctrlPr>
                            </m:radPr>
                            <m:deg/>
                            <m:e>
                              <m:sSub>
                                <m:sSubPr>
                                  <m:ctrlPr>
                                    <a:rPr lang="en-US" sz="2000" i="1" smtClean="0">
                                      <a:latin typeface="Cambria Math" panose="02040503050406030204" pitchFamily="18" charset="0"/>
                                    </a:rPr>
                                  </m:ctrlPr>
                                </m:sSubPr>
                                <m:e>
                                  <m:r>
                                    <a:rPr lang="en-GB" sz="2000" b="0" i="1" smtClean="0">
                                      <a:latin typeface="Cambria Math" panose="02040503050406030204" pitchFamily="18" charset="0"/>
                                    </a:rPr>
                                    <m:t>𝑐</m:t>
                                  </m:r>
                                </m:e>
                                <m:sub>
                                  <m:r>
                                    <a:rPr lang="en-GB" sz="2000" b="0" i="1" smtClean="0">
                                      <a:latin typeface="Cambria Math" panose="02040503050406030204" pitchFamily="18" charset="0"/>
                                    </a:rPr>
                                    <m:t>𝑝</m:t>
                                  </m:r>
                                </m:sub>
                              </m:sSub>
                              <m:sSub>
                                <m:sSubPr>
                                  <m:ctrlPr>
                                    <a:rPr lang="en-US" sz="2000" i="1" smtClean="0">
                                      <a:latin typeface="Cambria Math" panose="02040503050406030204" pitchFamily="18" charset="0"/>
                                    </a:rPr>
                                  </m:ctrlPr>
                                </m:sSubPr>
                                <m:e>
                                  <m:r>
                                    <a:rPr lang="en-GB" sz="2000" b="0" i="1" smtClean="0">
                                      <a:latin typeface="Cambria Math" panose="02040503050406030204" pitchFamily="18" charset="0"/>
                                    </a:rPr>
                                    <m:t>𝑇</m:t>
                                  </m:r>
                                </m:e>
                                <m:sub>
                                  <m:r>
                                    <a:rPr lang="en-GB" sz="2000" b="0" i="1" smtClean="0">
                                      <a:latin typeface="Cambria Math" panose="02040503050406030204" pitchFamily="18" charset="0"/>
                                    </a:rPr>
                                    <m:t>02</m:t>
                                  </m:r>
                                </m:sub>
                              </m:sSub>
                            </m:e>
                          </m:rad>
                        </m:den>
                      </m:f>
                      <m:r>
                        <a:rPr lang="en-GB" sz="2000" b="0" i="1" smtClean="0">
                          <a:latin typeface="Cambria Math" panose="02040503050406030204" pitchFamily="18" charset="0"/>
                        </a:rPr>
                        <m:t>=</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𝛾</m:t>
                          </m:r>
                          <m:r>
                            <a:rPr lang="en-GB" sz="2000" b="0" i="1" smtClean="0">
                              <a:latin typeface="Cambria Math" panose="02040503050406030204" pitchFamily="18" charset="0"/>
                            </a:rPr>
                            <m:t>−1</m:t>
                          </m:r>
                        </m:e>
                      </m:rad>
                      <m:sSub>
                        <m:sSubPr>
                          <m:ctrlPr>
                            <a:rPr lang="en-US" sz="2000" i="1">
                              <a:latin typeface="Cambria Math" panose="02040503050406030204" pitchFamily="18" charset="0"/>
                            </a:rPr>
                          </m:ctrlPr>
                        </m:sSubPr>
                        <m:e>
                          <m:r>
                            <a:rPr lang="en-GB" sz="2000" b="0" i="1" smtClean="0">
                              <a:latin typeface="Cambria Math" panose="02040503050406030204" pitchFamily="18" charset="0"/>
                            </a:rPr>
                            <m:t>𝑀</m:t>
                          </m:r>
                        </m:e>
                        <m:sub>
                          <m:r>
                            <a:rPr lang="en-GB" sz="2000" i="1">
                              <a:latin typeface="Cambria Math" panose="02040503050406030204" pitchFamily="18" charset="0"/>
                            </a:rPr>
                            <m:t>𝜃</m:t>
                          </m:r>
                          <m:r>
                            <a:rPr lang="en-GB" sz="2000" i="1">
                              <a:latin typeface="Cambria Math" panose="02040503050406030204" pitchFamily="18" charset="0"/>
                            </a:rPr>
                            <m:t>2</m:t>
                          </m:r>
                        </m:sub>
                      </m:sSub>
                      <m:sSup>
                        <m:sSupPr>
                          <m:ctrlPr>
                            <a:rPr lang="en-GB" sz="2000" i="1" smtClean="0">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1+</m:t>
                              </m:r>
                              <m:f>
                                <m:fPr>
                                  <m:ctrlPr>
                                    <a:rPr lang="en-GB" sz="2000" i="1">
                                      <a:latin typeface="Cambria Math" panose="02040503050406030204" pitchFamily="18" charset="0"/>
                                    </a:rPr>
                                  </m:ctrlPr>
                                </m:fPr>
                                <m:num>
                                  <m:r>
                                    <a:rPr lang="en-GB" sz="2000" i="1">
                                      <a:latin typeface="Cambria Math" panose="02040503050406030204" pitchFamily="18" charset="0"/>
                                    </a:rPr>
                                    <m:t>𝛾</m:t>
                                  </m:r>
                                  <m:r>
                                    <a:rPr lang="en-GB" sz="2000" i="1">
                                      <a:latin typeface="Cambria Math" panose="02040503050406030204" pitchFamily="18" charset="0"/>
                                    </a:rPr>
                                    <m:t>−1</m:t>
                                  </m:r>
                                </m:num>
                                <m:den>
                                  <m:r>
                                    <a:rPr lang="en-GB" sz="2000" i="1">
                                      <a:latin typeface="Cambria Math" panose="02040503050406030204" pitchFamily="18" charset="0"/>
                                    </a:rPr>
                                    <m:t>2</m:t>
                                  </m:r>
                                </m:den>
                              </m:f>
                              <m:sSup>
                                <m:sSupPr>
                                  <m:ctrlPr>
                                    <a:rPr lang="en-GB" sz="2000" i="1">
                                      <a:latin typeface="Cambria Math" panose="02040503050406030204" pitchFamily="18" charset="0"/>
                                    </a:rPr>
                                  </m:ctrlPr>
                                </m:sSupPr>
                                <m:e>
                                  <m:sSub>
                                    <m:sSubPr>
                                      <m:ctrlPr>
                                        <a:rPr lang="en-US" sz="2000" i="1">
                                          <a:latin typeface="Cambria Math" panose="02040503050406030204" pitchFamily="18" charset="0"/>
                                        </a:rPr>
                                      </m:ctrlPr>
                                    </m:sSubPr>
                                    <m:e>
                                      <m:r>
                                        <a:rPr lang="en-GB" sz="2000" i="1">
                                          <a:latin typeface="Cambria Math" panose="02040503050406030204" pitchFamily="18" charset="0"/>
                                        </a:rPr>
                                        <m:t>𝑀</m:t>
                                      </m:r>
                                    </m:e>
                                    <m:sub>
                                      <m:r>
                                        <a:rPr lang="en-GB" sz="2000" i="1">
                                          <a:latin typeface="Cambria Math" panose="02040503050406030204" pitchFamily="18" charset="0"/>
                                        </a:rPr>
                                        <m:t>𝜃</m:t>
                                      </m:r>
                                      <m:r>
                                        <a:rPr lang="en-GB" sz="2000" i="1">
                                          <a:latin typeface="Cambria Math" panose="02040503050406030204" pitchFamily="18" charset="0"/>
                                        </a:rPr>
                                        <m:t>2</m:t>
                                      </m:r>
                                    </m:sub>
                                  </m:sSub>
                                </m:e>
                                <m:sup>
                                  <m:r>
                                    <a:rPr lang="en-GB" sz="2000" i="1">
                                      <a:latin typeface="Cambria Math" panose="02040503050406030204" pitchFamily="18" charset="0"/>
                                    </a:rPr>
                                    <m:t>2</m:t>
                                  </m:r>
                                </m:sup>
                              </m:sSup>
                            </m:e>
                          </m:d>
                        </m:e>
                        <m:sup>
                          <m:r>
                            <a:rPr lang="en-GB" sz="2000" b="0" i="1" smtClean="0">
                              <a:latin typeface="Cambria Math" panose="02040503050406030204" pitchFamily="18" charset="0"/>
                            </a:rPr>
                            <m:t>−1/2</m:t>
                          </m:r>
                        </m:sup>
                      </m:sSup>
                      <m:r>
                        <a:rPr lang="en-GB"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GB" sz="2000" i="1">
                              <a:latin typeface="Cambria Math" panose="02040503050406030204" pitchFamily="18" charset="0"/>
                            </a:rPr>
                            <m:t>𝑀</m:t>
                          </m:r>
                        </m:e>
                        <m:sub>
                          <m:r>
                            <a:rPr lang="en-GB" sz="2000" i="1">
                              <a:latin typeface="Cambria Math" panose="02040503050406030204" pitchFamily="18" charset="0"/>
                            </a:rPr>
                            <m:t>𝜃</m:t>
                          </m:r>
                          <m:r>
                            <a:rPr lang="en-GB" sz="2000" i="1">
                              <a:latin typeface="Cambria Math" panose="02040503050406030204" pitchFamily="18" charset="0"/>
                            </a:rPr>
                            <m:t>2</m:t>
                          </m:r>
                        </m:sub>
                      </m:sSub>
                      <m:r>
                        <a:rPr lang="en-GB" sz="2000" b="0" i="1" smtClean="0">
                          <a:latin typeface="Cambria Math" panose="02040503050406030204" pitchFamily="18" charset="0"/>
                        </a:rPr>
                        <m:t>=5.47</m:t>
                      </m:r>
                    </m:oMath>
                  </m:oMathPara>
                </a14:m>
                <a:endParaRPr lang="en-US" sz="2000" dirty="0"/>
              </a:p>
            </p:txBody>
          </p:sp>
        </mc:Choice>
        <mc:Fallback>
          <p:sp>
            <p:nvSpPr>
              <p:cNvPr id="9" name="TextBox 8">
                <a:extLst>
                  <a:ext uri="{FF2B5EF4-FFF2-40B4-BE49-F238E27FC236}">
                    <a16:creationId xmlns:a16="http://schemas.microsoft.com/office/drawing/2014/main" id="{91BE07C8-9CD5-7747-ABE2-3E3B706FADE9}"/>
                  </a:ext>
                </a:extLst>
              </p:cNvPr>
              <p:cNvSpPr txBox="1">
                <a:spLocks noRot="1" noChangeAspect="1" noMove="1" noResize="1" noEditPoints="1" noAdjustHandles="1" noChangeArrowheads="1" noChangeShapeType="1" noTextEdit="1"/>
              </p:cNvSpPr>
              <p:nvPr/>
            </p:nvSpPr>
            <p:spPr>
              <a:xfrm>
                <a:off x="1331569" y="5127191"/>
                <a:ext cx="6513771" cy="780598"/>
              </a:xfrm>
              <a:prstGeom prst="rect">
                <a:avLst/>
              </a:prstGeom>
              <a:blipFill>
                <a:blip r:embed="rId7"/>
                <a:stretch>
                  <a:fillRect b="-4839"/>
                </a:stretch>
              </a:blipFill>
            </p:spPr>
            <p:txBody>
              <a:bodyPr/>
              <a:lstStyle/>
              <a:p>
                <a:r>
                  <a:rPr lang="en-GB">
                    <a:noFill/>
                  </a:rPr>
                  <a:t> </a:t>
                </a:r>
              </a:p>
            </p:txBody>
          </p:sp>
        </mc:Fallback>
      </mc:AlternateContent>
    </p:spTree>
    <p:extLst>
      <p:ext uri="{BB962C8B-B14F-4D97-AF65-F5344CB8AC3E}">
        <p14:creationId xmlns:p14="http://schemas.microsoft.com/office/powerpoint/2010/main" val="1611264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6FE3D-AE20-1140-90A6-831E5C8913B4}"/>
              </a:ext>
            </a:extLst>
          </p:cNvPr>
          <p:cNvSpPr>
            <a:spLocks noGrp="1"/>
          </p:cNvSpPr>
          <p:nvPr>
            <p:ph type="title"/>
          </p:nvPr>
        </p:nvSpPr>
        <p:spPr/>
        <p:txBody>
          <a:bodyPr/>
          <a:lstStyle/>
          <a:p>
            <a:r>
              <a:rPr lang="en-US" dirty="0"/>
              <a:t>Non-repeating stage angles</a:t>
            </a:r>
          </a:p>
        </p:txBody>
      </p:sp>
      <p:sp>
        <p:nvSpPr>
          <p:cNvPr id="4" name="Slide Number Placeholder 3">
            <a:extLst>
              <a:ext uri="{FF2B5EF4-FFF2-40B4-BE49-F238E27FC236}">
                <a16:creationId xmlns:a16="http://schemas.microsoft.com/office/drawing/2014/main" id="{6EDC7308-606A-6545-90B8-4135CBD3AE29}"/>
              </a:ext>
            </a:extLst>
          </p:cNvPr>
          <p:cNvSpPr>
            <a:spLocks noGrp="1"/>
          </p:cNvSpPr>
          <p:nvPr>
            <p:ph type="sldNum" sz="quarter" idx="10"/>
          </p:nvPr>
        </p:nvSpPr>
        <p:spPr/>
        <p:txBody>
          <a:bodyPr/>
          <a:lstStyle/>
          <a:p>
            <a:r>
              <a:rPr lang="en-US" dirty="0"/>
              <a:t>18</a:t>
            </a:r>
          </a:p>
        </p:txBody>
      </p: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A137A999-2E31-EC47-BD4E-89950985DC57}"/>
                  </a:ext>
                </a:extLst>
              </p:cNvPr>
              <p:cNvSpPr/>
              <p:nvPr/>
            </p:nvSpPr>
            <p:spPr>
              <a:xfrm>
                <a:off x="545752" y="1626950"/>
                <a:ext cx="8375650" cy="4466479"/>
              </a:xfrm>
              <a:prstGeom prst="rect">
                <a:avLst/>
              </a:prstGeom>
            </p:spPr>
            <p:txBody>
              <a:bodyPr wrap="square">
                <a:spAutoFit/>
              </a:bodyPr>
              <a:lstStyle/>
              <a:p>
                <a:pPr algn="ct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GB" b="0" i="1" smtClean="0">
                            <a:latin typeface="Cambria Math" panose="02040503050406030204" pitchFamily="18" charset="0"/>
                            <a:ea typeface="Cambria Math" panose="02040503050406030204" pitchFamily="18" charset="0"/>
                          </a:rPr>
                          <m:t>𝑖𝑛</m:t>
                        </m:r>
                      </m:sub>
                    </m:sSub>
                    <m:r>
                      <a:rPr lang="en-GB" i="1">
                        <a:latin typeface="Cambria Math" panose="02040503050406030204" pitchFamily="18" charset="0"/>
                        <a:ea typeface="Cambria Math" panose="02040503050406030204" pitchFamily="18" charset="0"/>
                      </a:rPr>
                      <m:t>=0</m:t>
                    </m:r>
                  </m:oMath>
                </a14:m>
                <a:r>
                  <a:rPr lang="en-US" dirty="0"/>
                  <a:t>º</a:t>
                </a:r>
              </a:p>
              <a:p>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b>
                      </m:sSub>
                      <m:r>
                        <a:rPr lang="en-GB" i="1">
                          <a:latin typeface="Cambria Math" panose="02040503050406030204" pitchFamily="18" charset="0"/>
                          <a:ea typeface="Cambria Math" panose="02040503050406030204" pitchFamily="18" charset="0"/>
                        </a:rPr>
                        <m:t>= </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3,</m:t>
                          </m:r>
                          <m:r>
                            <a:rPr lang="en-GB" i="1">
                              <a:latin typeface="Cambria Math" panose="02040503050406030204" pitchFamily="18" charset="0"/>
                              <a:ea typeface="Cambria Math" panose="02040503050406030204" pitchFamily="18" charset="0"/>
                            </a:rPr>
                            <m:t>𝑛</m:t>
                          </m:r>
                          <m:r>
                            <a:rPr lang="en-GB" i="1">
                              <a:latin typeface="Cambria Math" panose="02040503050406030204" pitchFamily="18" charset="0"/>
                              <a:ea typeface="Cambria Math" panose="02040503050406030204" pitchFamily="18" charset="0"/>
                            </a:rPr>
                            <m:t>−1</m:t>
                          </m:r>
                        </m:sub>
                      </m:sSub>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rPr>
                            <m:t>3</m:t>
                          </m:r>
                        </m:sub>
                      </m:sSub>
                      <m:r>
                        <a:rPr lang="en-GB" i="1">
                          <a:latin typeface="Cambria Math" panose="02040503050406030204" pitchFamily="18" charset="0"/>
                        </a:rPr>
                        <m:t>= </m:t>
                      </m:r>
                      <m:func>
                        <m:funcPr>
                          <m:ctrlPr>
                            <a:rPr lang="en-GB" i="1">
                              <a:latin typeface="Cambria Math" panose="02040503050406030204" pitchFamily="18" charset="0"/>
                            </a:rPr>
                          </m:ctrlPr>
                        </m:funcPr>
                        <m:fName>
                          <m:sSup>
                            <m:sSupPr>
                              <m:ctrlPr>
                                <a:rPr lang="en-GB" i="1">
                                  <a:latin typeface="Cambria Math" panose="02040503050406030204" pitchFamily="18" charset="0"/>
                                </a:rPr>
                              </m:ctrlPr>
                            </m:sSupPr>
                            <m:e>
                              <m:r>
                                <m:rPr>
                                  <m:sty m:val="p"/>
                                </m:rPr>
                                <a:rPr lang="en-GB">
                                  <a:latin typeface="Cambria Math" panose="02040503050406030204" pitchFamily="18" charset="0"/>
                                </a:rPr>
                                <m:t>tan</m:t>
                              </m:r>
                            </m:e>
                            <m:sup>
                              <m:r>
                                <a:rPr lang="en-GB" i="1">
                                  <a:latin typeface="Cambria Math" panose="02040503050406030204" pitchFamily="18" charset="0"/>
                                </a:rPr>
                                <m:t>−1</m:t>
                              </m:r>
                            </m:sup>
                          </m:sSup>
                        </m:fName>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−2</m:t>
                                  </m:r>
                                  <m:r>
                                    <a:rPr lang="en-GB" i="1">
                                      <a:latin typeface="Cambria Math" panose="02040503050406030204" pitchFamily="18" charset="0"/>
                                      <a:ea typeface="Cambria Math" panose="02040503050406030204" pitchFamily="18" charset="0"/>
                                    </a:rPr>
                                    <m:t>𝜓</m:t>
                                  </m:r>
                                  <m:r>
                                    <a:rPr lang="en-GB" b="0" i="1" smtClean="0">
                                      <a:latin typeface="Cambria Math" panose="02040503050406030204" pitchFamily="18" charset="0"/>
                                      <a:ea typeface="Cambria Math" panose="02040503050406030204" pitchFamily="18" charset="0"/>
                                    </a:rPr>
                                    <m:t>+</m:t>
                                  </m:r>
                                  <m:rad>
                                    <m:radPr>
                                      <m:degHide m:val="on"/>
                                      <m:ctrlPr>
                                        <a:rPr lang="en-GB" i="1">
                                          <a:latin typeface="Cambria Math" panose="02040503050406030204" pitchFamily="18" charset="0"/>
                                          <a:ea typeface="Cambria Math" panose="02040503050406030204" pitchFamily="18" charset="0"/>
                                        </a:rPr>
                                      </m:ctrlPr>
                                    </m:radPr>
                                    <m:deg/>
                                    <m:e>
                                      <m:r>
                                        <a:rPr lang="en-GB" i="1">
                                          <a:latin typeface="Cambria Math" panose="02040503050406030204" pitchFamily="18" charset="0"/>
                                          <a:ea typeface="Cambria Math" panose="02040503050406030204" pitchFamily="18" charset="0"/>
                                        </a:rPr>
                                        <m:t>4</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𝜓</m:t>
                                          </m:r>
                                        </m:e>
                                        <m:sup>
                                          <m:r>
                                            <a:rPr lang="en-GB" i="1">
                                              <a:latin typeface="Cambria Math" panose="02040503050406030204" pitchFamily="18" charset="0"/>
                                              <a:ea typeface="Cambria Math" panose="02040503050406030204" pitchFamily="18" charset="0"/>
                                            </a:rPr>
                                            <m:t>2</m:t>
                                          </m:r>
                                        </m:sup>
                                      </m:sSup>
                                      <m:r>
                                        <a:rPr lang="en-GB" i="1">
                                          <a:latin typeface="Cambria Math" panose="02040503050406030204" pitchFamily="18" charset="0"/>
                                          <a:ea typeface="Cambria Math" panose="02040503050406030204" pitchFamily="18" charset="0"/>
                                        </a:rPr>
                                        <m:t>−4</m:t>
                                      </m:r>
                                      <m:r>
                                        <m:rPr>
                                          <m:sty m:val="p"/>
                                        </m:rPr>
                                        <a:rPr lang="el-GR" i="1">
                                          <a:latin typeface="Cambria Math" panose="02040503050406030204" pitchFamily="18" charset="0"/>
                                          <a:ea typeface="Cambria Math" panose="02040503050406030204" pitchFamily="18" charset="0"/>
                                        </a:rPr>
                                        <m:t>Λ</m:t>
                                      </m:r>
                                      <m:r>
                                        <a:rPr lang="en-GB" i="1">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𝜓</m:t>
                                      </m:r>
                                      <m:r>
                                        <m:rPr>
                                          <m:sty m:val="p"/>
                                        </m:rPr>
                                        <a:rPr lang="el-GR" i="1">
                                          <a:latin typeface="Cambria Math" panose="02040503050406030204" pitchFamily="18" charset="0"/>
                                          <a:ea typeface="Cambria Math" panose="02040503050406030204" pitchFamily="18" charset="0"/>
                                        </a:rPr>
                                        <m:t>Λ</m:t>
                                      </m:r>
                                      <m: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𝜙</m:t>
                                          </m:r>
                                        </m:e>
                                        <m:sup>
                                          <m:r>
                                            <a:rPr lang="en-GB" i="1">
                                              <a:latin typeface="Cambria Math" panose="02040503050406030204" pitchFamily="18" charset="0"/>
                                              <a:ea typeface="Cambria Math" panose="02040503050406030204" pitchFamily="18" charset="0"/>
                                            </a:rPr>
                                            <m:t>2</m:t>
                                          </m:r>
                                        </m:sup>
                                      </m:sSup>
                                      <m:r>
                                        <m:rPr>
                                          <m:sty m:val="p"/>
                                        </m:rPr>
                                        <a:rPr lang="el-GR" i="1">
                                          <a:latin typeface="Cambria Math" panose="02040503050406030204" pitchFamily="18" charset="0"/>
                                          <a:ea typeface="Cambria Math" panose="02040503050406030204" pitchFamily="18" charset="0"/>
                                        </a:rPr>
                                        <m:t>Λ</m:t>
                                      </m:r>
                                      <m:func>
                                        <m:funcPr>
                                          <m:ctrlPr>
                                            <a:rPr lang="en-GB" i="1">
                                              <a:latin typeface="Cambria Math" panose="02040503050406030204" pitchFamily="18" charset="0"/>
                                              <a:ea typeface="Cambria Math" panose="02040503050406030204" pitchFamily="18" charset="0"/>
                                            </a:rPr>
                                          </m:ctrlPr>
                                        </m:funcPr>
                                        <m:fName>
                                          <m:sSup>
                                            <m:sSupPr>
                                              <m:ctrlPr>
                                                <a:rPr lang="en-GB" i="1">
                                                  <a:latin typeface="Cambria Math" panose="02040503050406030204" pitchFamily="18" charset="0"/>
                                                  <a:ea typeface="Cambria Math" panose="02040503050406030204" pitchFamily="18" charset="0"/>
                                                </a:rPr>
                                              </m:ctrlPr>
                                            </m:sSupPr>
                                            <m:e>
                                              <m:r>
                                                <m:rPr>
                                                  <m:sty m:val="p"/>
                                                </m:rPr>
                                                <a:rPr lang="en-GB">
                                                  <a:latin typeface="Cambria Math" panose="02040503050406030204" pitchFamily="18" charset="0"/>
                                                  <a:ea typeface="Cambria Math" panose="02040503050406030204" pitchFamily="18" charset="0"/>
                                                </a:rPr>
                                                <m:t>tan</m:t>
                                              </m:r>
                                            </m:e>
                                            <m:sup>
                                              <m:r>
                                                <a:rPr lang="en-GB" i="1">
                                                  <a:latin typeface="Cambria Math" panose="02040503050406030204" pitchFamily="18" charset="0"/>
                                                  <a:ea typeface="Cambria Math" panose="02040503050406030204" pitchFamily="18" charset="0"/>
                                                </a:rPr>
                                                <m:t>2</m:t>
                                              </m:r>
                                            </m:sup>
                                          </m:sSup>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𝜓</m:t>
                                          </m:r>
                                          <m: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𝜓</m:t>
                                              </m:r>
                                            </m:e>
                                            <m:sup>
                                              <m:r>
                                                <a:rPr lang="en-GB" i="1">
                                                  <a:latin typeface="Cambria Math" panose="02040503050406030204" pitchFamily="18" charset="0"/>
                                                  <a:ea typeface="Cambria Math" panose="02040503050406030204" pitchFamily="18" charset="0"/>
                                                </a:rPr>
                                                <m:t>2</m:t>
                                              </m:r>
                                            </m:sup>
                                          </m:sSup>
                                          <m:r>
                                            <a:rPr lang="en-GB" i="1">
                                              <a:latin typeface="Cambria Math" panose="02040503050406030204" pitchFamily="18" charset="0"/>
                                              <a:ea typeface="Cambria Math" panose="02040503050406030204" pitchFamily="18" charset="0"/>
                                            </a:rPr>
                                            <m:t>)</m:t>
                                          </m:r>
                                        </m:e>
                                      </m:func>
                                    </m:e>
                                  </m:rad>
                                </m:num>
                                <m:den>
                                  <m:r>
                                    <a:rPr lang="en-GB" i="1">
                                      <a:latin typeface="Cambria Math" panose="02040503050406030204" pitchFamily="18" charset="0"/>
                                    </a:rPr>
                                    <m:t>2</m:t>
                                  </m:r>
                                  <m:r>
                                    <a:rPr lang="en-GB" i="1">
                                      <a:latin typeface="Cambria Math" panose="02040503050406030204" pitchFamily="18" charset="0"/>
                                      <a:ea typeface="Cambria Math" panose="02040503050406030204" pitchFamily="18" charset="0"/>
                                    </a:rPr>
                                    <m:t>𝜙</m:t>
                                  </m:r>
                                  <m:r>
                                    <m:rPr>
                                      <m:sty m:val="p"/>
                                    </m:rPr>
                                    <a:rPr lang="el-GR" i="1">
                                      <a:latin typeface="Cambria Math" panose="02040503050406030204" pitchFamily="18" charset="0"/>
                                      <a:ea typeface="Cambria Math" panose="02040503050406030204" pitchFamily="18" charset="0"/>
                                    </a:rPr>
                                    <m:t>Λ</m:t>
                                  </m:r>
                                </m:den>
                              </m:f>
                            </m:e>
                          </m:d>
                        </m:e>
                      </m:func>
                    </m:oMath>
                  </m:oMathPara>
                </a14:m>
                <a:endParaRPr lang="en-GB" dirty="0"/>
              </a:p>
              <a:p>
                <a:pPr algn="ctr"/>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m:t>
                      </m:r>
                      <m:func>
                        <m:funcPr>
                          <m:ctrlPr>
                            <a:rPr lang="en-GB" i="1">
                              <a:latin typeface="Cambria Math" panose="02040503050406030204" pitchFamily="18" charset="0"/>
                              <a:ea typeface="Cambria Math" panose="02040503050406030204" pitchFamily="18" charset="0"/>
                            </a:rPr>
                          </m:ctrlPr>
                        </m:funcPr>
                        <m:fName>
                          <m:sSup>
                            <m:sSupPr>
                              <m:ctrlPr>
                                <a:rPr lang="en-GB" i="1">
                                  <a:latin typeface="Cambria Math" panose="02040503050406030204" pitchFamily="18" charset="0"/>
                                  <a:ea typeface="Cambria Math" panose="02040503050406030204" pitchFamily="18" charset="0"/>
                                </a:rPr>
                              </m:ctrlPr>
                            </m:sSupPr>
                            <m:e>
                              <m:r>
                                <m:rPr>
                                  <m:sty m:val="p"/>
                                </m:rPr>
                                <a:rPr lang="en-GB">
                                  <a:latin typeface="Cambria Math" panose="02040503050406030204" pitchFamily="18" charset="0"/>
                                  <a:ea typeface="Cambria Math" panose="02040503050406030204" pitchFamily="18" charset="0"/>
                                </a:rPr>
                                <m:t>tan</m:t>
                              </m:r>
                            </m:e>
                            <m:sup>
                              <m:r>
                                <a:rPr lang="en-GB" i="1">
                                  <a:latin typeface="Cambria Math" panose="02040503050406030204" pitchFamily="18" charset="0"/>
                                  <a:ea typeface="Cambria Math" panose="02040503050406030204" pitchFamily="18" charset="0"/>
                                </a:rPr>
                                <m:t>−1</m:t>
                              </m:r>
                            </m:sup>
                          </m:sSup>
                        </m:fName>
                        <m:e>
                          <m:d>
                            <m:dPr>
                              <m:ctrlPr>
                                <a:rPr lang="en-GB" i="1">
                                  <a:latin typeface="Cambria Math" panose="02040503050406030204" pitchFamily="18" charset="0"/>
                                  <a:ea typeface="Cambria Math" panose="02040503050406030204" pitchFamily="18" charset="0"/>
                                </a:rPr>
                              </m:ctrlPr>
                            </m:dPr>
                            <m:e>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tan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3</m:t>
                                      </m:r>
                                    </m:sub>
                                  </m:sSub>
                                  <m:r>
                                    <a:rPr lang="en-GB" i="1">
                                      <a:latin typeface="Cambria Math" panose="02040503050406030204" pitchFamily="18" charset="0"/>
                                      <a:ea typeface="Cambria Math" panose="02040503050406030204" pitchFamily="18" charset="0"/>
                                    </a:rPr>
                                    <m:t>+ </m:t>
                                  </m:r>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𝜓</m:t>
                                      </m:r>
                                    </m:num>
                                    <m:den>
                                      <m:r>
                                        <a:rPr lang="en-GB" i="1">
                                          <a:latin typeface="Cambria Math" panose="02040503050406030204" pitchFamily="18" charset="0"/>
                                          <a:ea typeface="Cambria Math" panose="02040503050406030204" pitchFamily="18" charset="0"/>
                                        </a:rPr>
                                        <m:t>𝜙</m:t>
                                      </m:r>
                                    </m:den>
                                  </m:f>
                                </m:e>
                              </m:func>
                            </m:e>
                          </m:d>
                        </m:e>
                      </m:func>
                    </m:oMath>
                  </m:oMathPara>
                </a14:m>
                <a:endParaRPr lang="en-GB" dirty="0">
                  <a:ea typeface="Cambria Math" panose="02040503050406030204" pitchFamily="18" charset="0"/>
                </a:endParaRPr>
              </a:p>
              <a:p>
                <a:endParaRPr lang="en-GB"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GB" i="1">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m:t>
                      </m:r>
                      <m:func>
                        <m:funcPr>
                          <m:ctrlPr>
                            <a:rPr lang="en-GB" i="1">
                              <a:latin typeface="Cambria Math" panose="02040503050406030204" pitchFamily="18" charset="0"/>
                              <a:ea typeface="Cambria Math" panose="02040503050406030204" pitchFamily="18" charset="0"/>
                            </a:rPr>
                          </m:ctrlPr>
                        </m:funcPr>
                        <m:fName>
                          <m:sSup>
                            <m:sSupPr>
                              <m:ctrlPr>
                                <a:rPr lang="en-GB" i="1">
                                  <a:latin typeface="Cambria Math" panose="02040503050406030204" pitchFamily="18" charset="0"/>
                                  <a:ea typeface="Cambria Math" panose="02040503050406030204" pitchFamily="18" charset="0"/>
                                </a:rPr>
                              </m:ctrlPr>
                            </m:sSupPr>
                            <m:e>
                              <m:r>
                                <m:rPr>
                                  <m:sty m:val="p"/>
                                </m:rPr>
                                <a:rPr lang="en-GB">
                                  <a:latin typeface="Cambria Math" panose="02040503050406030204" pitchFamily="18" charset="0"/>
                                  <a:ea typeface="Cambria Math" panose="02040503050406030204" pitchFamily="18" charset="0"/>
                                </a:rPr>
                                <m:t>tan</m:t>
                              </m:r>
                            </m:e>
                            <m:sup>
                              <m:r>
                                <a:rPr lang="en-GB" i="1">
                                  <a:latin typeface="Cambria Math" panose="02040503050406030204" pitchFamily="18" charset="0"/>
                                  <a:ea typeface="Cambria Math" panose="02040503050406030204" pitchFamily="18" charset="0"/>
                                </a:rPr>
                                <m:t>−1</m:t>
                              </m:r>
                            </m:sup>
                          </m:sSup>
                        </m:fName>
                        <m:e>
                          <m:d>
                            <m:dPr>
                              <m:ctrlPr>
                                <a:rPr lang="en-GB" i="1">
                                  <a:latin typeface="Cambria Math" panose="02040503050406030204" pitchFamily="18" charset="0"/>
                                  <a:ea typeface="Cambria Math" panose="02040503050406030204" pitchFamily="18" charset="0"/>
                                </a:rPr>
                              </m:ctrlPr>
                            </m:dPr>
                            <m:e>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tan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 </m:t>
                                  </m:r>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1</m:t>
                                      </m:r>
                                    </m:num>
                                    <m:den>
                                      <m:r>
                                        <a:rPr lang="en-GB" i="1">
                                          <a:latin typeface="Cambria Math" panose="02040503050406030204" pitchFamily="18" charset="0"/>
                                          <a:ea typeface="Cambria Math" panose="02040503050406030204" pitchFamily="18" charset="0"/>
                                        </a:rPr>
                                        <m:t>𝜙</m:t>
                                      </m:r>
                                    </m:den>
                                  </m:f>
                                </m:e>
                              </m:func>
                            </m:e>
                          </m:d>
                        </m:e>
                      </m:func>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GB" i="1">
                              <a:latin typeface="Cambria Math" panose="02040503050406030204" pitchFamily="18" charset="0"/>
                              <a:ea typeface="Cambria Math" panose="02040503050406030204" pitchFamily="18" charset="0"/>
                            </a:rPr>
                            <m:t>3</m:t>
                          </m:r>
                        </m:sub>
                      </m:sSub>
                      <m:r>
                        <a:rPr lang="en-GB" i="1">
                          <a:latin typeface="Cambria Math" panose="02040503050406030204" pitchFamily="18" charset="0"/>
                          <a:ea typeface="Cambria Math" panose="02040503050406030204" pitchFamily="18" charset="0"/>
                        </a:rPr>
                        <m:t>=</m:t>
                      </m:r>
                      <m:func>
                        <m:funcPr>
                          <m:ctrlPr>
                            <a:rPr lang="en-GB" i="1">
                              <a:latin typeface="Cambria Math" panose="02040503050406030204" pitchFamily="18" charset="0"/>
                              <a:ea typeface="Cambria Math" panose="02040503050406030204" pitchFamily="18" charset="0"/>
                            </a:rPr>
                          </m:ctrlPr>
                        </m:funcPr>
                        <m:fName>
                          <m:sSup>
                            <m:sSupPr>
                              <m:ctrlPr>
                                <a:rPr lang="en-GB" i="1">
                                  <a:latin typeface="Cambria Math" panose="02040503050406030204" pitchFamily="18" charset="0"/>
                                  <a:ea typeface="Cambria Math" panose="02040503050406030204" pitchFamily="18" charset="0"/>
                                </a:rPr>
                              </m:ctrlPr>
                            </m:sSupPr>
                            <m:e>
                              <m:r>
                                <m:rPr>
                                  <m:sty m:val="p"/>
                                </m:rPr>
                                <a:rPr lang="en-GB">
                                  <a:latin typeface="Cambria Math" panose="02040503050406030204" pitchFamily="18" charset="0"/>
                                  <a:ea typeface="Cambria Math" panose="02040503050406030204" pitchFamily="18" charset="0"/>
                                </a:rPr>
                                <m:t>tan</m:t>
                              </m:r>
                            </m:e>
                            <m:sup>
                              <m:r>
                                <a:rPr lang="en-GB" i="1">
                                  <a:latin typeface="Cambria Math" panose="02040503050406030204" pitchFamily="18" charset="0"/>
                                  <a:ea typeface="Cambria Math" panose="02040503050406030204" pitchFamily="18" charset="0"/>
                                </a:rPr>
                                <m:t>−1</m:t>
                              </m:r>
                            </m:sup>
                          </m:sSup>
                        </m:fName>
                        <m:e>
                          <m:d>
                            <m:dPr>
                              <m:ctrlPr>
                                <a:rPr lang="en-GB" i="1">
                                  <a:latin typeface="Cambria Math" panose="02040503050406030204" pitchFamily="18" charset="0"/>
                                  <a:ea typeface="Cambria Math" panose="02040503050406030204" pitchFamily="18" charset="0"/>
                                </a:rPr>
                              </m:ctrlPr>
                            </m:dPr>
                            <m:e>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tan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3</m:t>
                                      </m:r>
                                    </m:sub>
                                  </m:sSub>
                                  <m:r>
                                    <a:rPr lang="en-GB" i="1">
                                      <a:latin typeface="Cambria Math" panose="02040503050406030204" pitchFamily="18" charset="0"/>
                                      <a:ea typeface="Cambria Math" panose="02040503050406030204" pitchFamily="18" charset="0"/>
                                    </a:rPr>
                                    <m:t>− </m:t>
                                  </m:r>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1</m:t>
                                      </m:r>
                                    </m:num>
                                    <m:den>
                                      <m:r>
                                        <a:rPr lang="en-GB" i="1">
                                          <a:latin typeface="Cambria Math" panose="02040503050406030204" pitchFamily="18" charset="0"/>
                                          <a:ea typeface="Cambria Math" panose="02040503050406030204" pitchFamily="18" charset="0"/>
                                        </a:rPr>
                                        <m:t>𝜙</m:t>
                                      </m:r>
                                    </m:den>
                                  </m:f>
                                </m:e>
                              </m:func>
                            </m:e>
                          </m:d>
                        </m:e>
                      </m:func>
                    </m:oMath>
                  </m:oMathPara>
                </a14:m>
                <a:endParaRPr lang="en-US" dirty="0"/>
              </a:p>
            </p:txBody>
          </p:sp>
        </mc:Choice>
        <mc:Fallback>
          <p:sp>
            <p:nvSpPr>
              <p:cNvPr id="5" name="Rectangle 4">
                <a:extLst>
                  <a:ext uri="{FF2B5EF4-FFF2-40B4-BE49-F238E27FC236}">
                    <a16:creationId xmlns:a16="http://schemas.microsoft.com/office/drawing/2014/main" id="{A137A999-2E31-EC47-BD4E-89950985DC57}"/>
                  </a:ext>
                </a:extLst>
              </p:cNvPr>
              <p:cNvSpPr>
                <a:spLocks noRot="1" noChangeAspect="1" noMove="1" noResize="1" noEditPoints="1" noAdjustHandles="1" noChangeArrowheads="1" noChangeShapeType="1" noTextEdit="1"/>
              </p:cNvSpPr>
              <p:nvPr/>
            </p:nvSpPr>
            <p:spPr>
              <a:xfrm>
                <a:off x="545752" y="1626950"/>
                <a:ext cx="8375650" cy="4466479"/>
              </a:xfrm>
              <a:prstGeom prst="rect">
                <a:avLst/>
              </a:prstGeom>
              <a:blipFill>
                <a:blip r:embed="rId3"/>
                <a:stretch>
                  <a:fillRect t="-567"/>
                </a:stretch>
              </a:blipFill>
            </p:spPr>
            <p:txBody>
              <a:bodyPr/>
              <a:lstStyle/>
              <a:p>
                <a:r>
                  <a:rPr lang="en-GB">
                    <a:noFill/>
                  </a:rPr>
                  <a:t> </a:t>
                </a:r>
              </a:p>
            </p:txBody>
          </p:sp>
        </mc:Fallback>
      </mc:AlternateContent>
    </p:spTree>
    <p:extLst>
      <p:ext uri="{BB962C8B-B14F-4D97-AF65-F5344CB8AC3E}">
        <p14:creationId xmlns:p14="http://schemas.microsoft.com/office/powerpoint/2010/main" val="908595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6913C-19FA-544B-AF1D-E6B272169C81}"/>
              </a:ext>
            </a:extLst>
          </p:cNvPr>
          <p:cNvSpPr>
            <a:spLocks noGrp="1"/>
          </p:cNvSpPr>
          <p:nvPr>
            <p:ph type="title"/>
          </p:nvPr>
        </p:nvSpPr>
        <p:spPr/>
        <p:txBody>
          <a:bodyPr/>
          <a:lstStyle/>
          <a:p>
            <a:r>
              <a:rPr lang="en-US" dirty="0"/>
              <a:t>Loss correlations</a:t>
            </a:r>
          </a:p>
        </p:txBody>
      </p:sp>
      <p:sp>
        <p:nvSpPr>
          <p:cNvPr id="3" name="Content Placeholder 2">
            <a:extLst>
              <a:ext uri="{FF2B5EF4-FFF2-40B4-BE49-F238E27FC236}">
                <a16:creationId xmlns:a16="http://schemas.microsoft.com/office/drawing/2014/main" id="{E0AFCD65-79B2-E348-90E5-D8E199856BE7}"/>
              </a:ext>
            </a:extLst>
          </p:cNvPr>
          <p:cNvSpPr>
            <a:spLocks noGrp="1"/>
          </p:cNvSpPr>
          <p:nvPr>
            <p:ph idx="1"/>
          </p:nvPr>
        </p:nvSpPr>
        <p:spPr>
          <a:xfrm>
            <a:off x="384175" y="1467523"/>
            <a:ext cx="8374063" cy="4533438"/>
          </a:xfrm>
        </p:spPr>
        <p:txBody>
          <a:bodyPr/>
          <a:lstStyle/>
          <a:p>
            <a:r>
              <a:rPr lang="en-US" sz="1600" dirty="0"/>
              <a:t>Shroud leakage– Denton 1993</a:t>
            </a:r>
          </a:p>
          <a:p>
            <a:pPr marL="0" indent="0">
              <a:buNone/>
            </a:pPr>
            <a:endParaRPr lang="en-US" sz="1600" dirty="0"/>
          </a:p>
          <a:p>
            <a:pPr marL="0" indent="0">
              <a:buNone/>
            </a:pPr>
            <a:endParaRPr lang="en-US" sz="1600" dirty="0"/>
          </a:p>
          <a:p>
            <a:pPr marL="0" indent="0">
              <a:buNone/>
            </a:pPr>
            <a:endParaRPr lang="en-US" sz="1600" dirty="0"/>
          </a:p>
          <a:p>
            <a:r>
              <a:rPr lang="en-US" sz="1600" dirty="0"/>
              <a:t>Profile – Denton 1993</a:t>
            </a:r>
          </a:p>
          <a:p>
            <a:pPr marL="268288" lvl="1" indent="0">
              <a:lnSpc>
                <a:spcPct val="50000"/>
              </a:lnSpc>
              <a:buNone/>
            </a:pPr>
            <a:endParaRPr lang="en-US" sz="3000" dirty="0"/>
          </a:p>
          <a:p>
            <a:r>
              <a:rPr lang="en-US" sz="1600" dirty="0"/>
              <a:t>Trailing edge – Denton 1993</a:t>
            </a:r>
          </a:p>
          <a:p>
            <a:endParaRPr lang="en-US" sz="2500" dirty="0"/>
          </a:p>
          <a:p>
            <a:r>
              <a:rPr lang="en-US" sz="1600" dirty="0"/>
              <a:t>Secondary – Dunham &amp; Came 1970</a:t>
            </a:r>
          </a:p>
          <a:p>
            <a:pPr marL="0" indent="0">
              <a:buNone/>
            </a:pPr>
            <a:endParaRPr lang="en-US" sz="1600" dirty="0"/>
          </a:p>
        </p:txBody>
      </p:sp>
      <p:sp>
        <p:nvSpPr>
          <p:cNvPr id="4" name="Slide Number Placeholder 3">
            <a:extLst>
              <a:ext uri="{FF2B5EF4-FFF2-40B4-BE49-F238E27FC236}">
                <a16:creationId xmlns:a16="http://schemas.microsoft.com/office/drawing/2014/main" id="{A8E55D92-1679-E443-A59E-B656D6930B14}"/>
              </a:ext>
            </a:extLst>
          </p:cNvPr>
          <p:cNvSpPr>
            <a:spLocks noGrp="1"/>
          </p:cNvSpPr>
          <p:nvPr>
            <p:ph type="sldNum" sz="quarter" idx="10"/>
          </p:nvPr>
        </p:nvSpPr>
        <p:spPr/>
        <p:txBody>
          <a:bodyPr/>
          <a:lstStyle/>
          <a:p>
            <a:r>
              <a:rPr lang="en-US" dirty="0"/>
              <a:t>19</a:t>
            </a:r>
          </a:p>
        </p:txBody>
      </p:sp>
      <p:grpSp>
        <p:nvGrpSpPr>
          <p:cNvPr id="11" name="Group 10">
            <a:extLst>
              <a:ext uri="{FF2B5EF4-FFF2-40B4-BE49-F238E27FC236}">
                <a16:creationId xmlns:a16="http://schemas.microsoft.com/office/drawing/2014/main" id="{BCF17F7E-75A1-8A46-91AA-527210CA3A79}"/>
              </a:ext>
            </a:extLst>
          </p:cNvPr>
          <p:cNvGrpSpPr/>
          <p:nvPr/>
        </p:nvGrpSpPr>
        <p:grpSpPr>
          <a:xfrm>
            <a:off x="3250082" y="1803315"/>
            <a:ext cx="3105337" cy="1141371"/>
            <a:chOff x="5400266" y="1395412"/>
            <a:chExt cx="3105337" cy="1141371"/>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B12D035-86B1-524F-9697-01F266B87376}"/>
                    </a:ext>
                  </a:extLst>
                </p:cNvPr>
                <p:cNvSpPr txBox="1"/>
                <p:nvPr/>
              </p:nvSpPr>
              <p:spPr>
                <a:xfrm>
                  <a:off x="5587689" y="1395412"/>
                  <a:ext cx="2730491" cy="5041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sz="1600" i="1" smtClean="0">
                                <a:latin typeface="Cambria Math" panose="02040503050406030204" pitchFamily="18" charset="0"/>
                              </a:rPr>
                            </m:ctrlPr>
                          </m:fPr>
                          <m:num>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𝑚</m:t>
                                </m:r>
                              </m:e>
                              <m:sub>
                                <m:r>
                                  <a:rPr lang="en-GB" sz="1600" b="0" i="1" smtClean="0">
                                    <a:latin typeface="Cambria Math" panose="02040503050406030204" pitchFamily="18" charset="0"/>
                                  </a:rPr>
                                  <m:t>𝐿</m:t>
                                </m:r>
                              </m:sub>
                            </m:sSub>
                          </m:num>
                          <m:den>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𝑚</m:t>
                                </m:r>
                              </m:e>
                              <m:sub>
                                <m:r>
                                  <a:rPr lang="en-GB" sz="1600" b="0" i="1" smtClean="0">
                                    <a:latin typeface="Cambria Math" panose="02040503050406030204" pitchFamily="18" charset="0"/>
                                  </a:rPr>
                                  <m:t>𝑚</m:t>
                                </m:r>
                              </m:sub>
                            </m:sSub>
                          </m:den>
                        </m:f>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𝑔𝐶𝑐</m:t>
                            </m:r>
                            <m:r>
                              <a:rPr lang="en-GB" sz="1600" b="0" i="1" smtClean="0">
                                <a:latin typeface="Cambria Math" panose="02040503050406030204" pitchFamily="18" charset="0"/>
                              </a:rPr>
                              <m:t> </m:t>
                            </m:r>
                          </m:num>
                          <m:den>
                            <m:r>
                              <a:rPr lang="en-GB" sz="1600" b="0" i="1" smtClean="0">
                                <a:latin typeface="Cambria Math" panose="02040503050406030204" pitchFamily="18" charset="0"/>
                              </a:rPr>
                              <m:t>𝑏</m:t>
                            </m:r>
                          </m:den>
                        </m:f>
                        <m:rad>
                          <m:radPr>
                            <m:degHide m:val="on"/>
                            <m:ctrlPr>
                              <a:rPr lang="en-GB" sz="1600" b="0" i="1" smtClean="0">
                                <a:latin typeface="Cambria Math" panose="02040503050406030204" pitchFamily="18" charset="0"/>
                              </a:rPr>
                            </m:ctrlPr>
                          </m:radPr>
                          <m:deg/>
                          <m:e>
                            <m:func>
                              <m:funcPr>
                                <m:ctrlPr>
                                  <a:rPr lang="en-GB" sz="1600" b="0" i="1" smtClean="0">
                                    <a:latin typeface="Cambria Math" panose="02040503050406030204" pitchFamily="18" charset="0"/>
                                  </a:rPr>
                                </m:ctrlPr>
                              </m:funcPr>
                              <m:fName>
                                <m:sSup>
                                  <m:sSupPr>
                                    <m:ctrlPr>
                                      <a:rPr lang="en-GB" sz="1600" b="0" i="1" smtClean="0">
                                        <a:latin typeface="Cambria Math" panose="02040503050406030204" pitchFamily="18" charset="0"/>
                                      </a:rPr>
                                    </m:ctrlPr>
                                  </m:sSupPr>
                                  <m:e>
                                    <m:r>
                                      <m:rPr>
                                        <m:sty m:val="p"/>
                                      </m:rPr>
                                      <a:rPr lang="en-GB" sz="1600" b="0" i="0" smtClean="0">
                                        <a:latin typeface="Cambria Math" panose="02040503050406030204" pitchFamily="18" charset="0"/>
                                      </a:rPr>
                                      <m:t>sec</m:t>
                                    </m:r>
                                  </m:e>
                                  <m:sup>
                                    <m:r>
                                      <a:rPr lang="en-GB" sz="1600" b="0" i="1" smtClean="0">
                                        <a:latin typeface="Cambria Math" panose="02040503050406030204" pitchFamily="18" charset="0"/>
                                      </a:rPr>
                                      <m:t>2</m:t>
                                    </m:r>
                                  </m:sup>
                                </m:sSup>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2</m:t>
                                    </m:r>
                                  </m:sub>
                                </m:sSub>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sSup>
                                      <m:sSupPr>
                                        <m:ctrlPr>
                                          <a:rPr lang="en-GB" sz="1600" b="0" i="1" smtClean="0">
                                            <a:latin typeface="Cambria Math" panose="02040503050406030204" pitchFamily="18" charset="0"/>
                                          </a:rPr>
                                        </m:ctrlPr>
                                      </m:sSupPr>
                                      <m:e>
                                        <m:r>
                                          <m:rPr>
                                            <m:sty m:val="p"/>
                                          </m:rPr>
                                          <a:rPr lang="en-GB" sz="1600" b="0" i="0" smtClean="0">
                                            <a:latin typeface="Cambria Math" panose="02040503050406030204" pitchFamily="18" charset="0"/>
                                          </a:rPr>
                                          <m:t>tan</m:t>
                                        </m:r>
                                      </m:e>
                                      <m:sup>
                                        <m:r>
                                          <a:rPr lang="en-GB" sz="1600" b="0" i="1" smtClean="0">
                                            <a:latin typeface="Cambria Math" panose="02040503050406030204" pitchFamily="18" charset="0"/>
                                          </a:rPr>
                                          <m:t>2</m:t>
                                        </m:r>
                                      </m:sup>
                                    </m:sSup>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1</m:t>
                                        </m:r>
                                      </m:sub>
                                    </m:sSub>
                                  </m:e>
                                </m:func>
                              </m:e>
                            </m:func>
                          </m:e>
                        </m:rad>
                      </m:oMath>
                    </m:oMathPara>
                  </a14:m>
                  <a:endParaRPr lang="en-GB" sz="1600" dirty="0"/>
                </a:p>
              </p:txBody>
            </p:sp>
          </mc:Choice>
          <mc:Fallback>
            <p:sp>
              <p:nvSpPr>
                <p:cNvPr id="5" name="TextBox 4">
                  <a:extLst>
                    <a:ext uri="{FF2B5EF4-FFF2-40B4-BE49-F238E27FC236}">
                      <a16:creationId xmlns:a16="http://schemas.microsoft.com/office/drawing/2014/main" id="{1B12D035-86B1-524F-9697-01F266B87376}"/>
                    </a:ext>
                  </a:extLst>
                </p:cNvPr>
                <p:cNvSpPr txBox="1">
                  <a:spLocks noRot="1" noChangeAspect="1" noMove="1" noResize="1" noEditPoints="1" noAdjustHandles="1" noChangeArrowheads="1" noChangeShapeType="1" noTextEdit="1"/>
                </p:cNvSpPr>
                <p:nvPr/>
              </p:nvSpPr>
              <p:spPr>
                <a:xfrm>
                  <a:off x="5587689" y="1395412"/>
                  <a:ext cx="2730491" cy="504177"/>
                </a:xfrm>
                <a:prstGeom prst="rect">
                  <a:avLst/>
                </a:prstGeom>
                <a:blipFill>
                  <a:blip r:embed="rId3"/>
                  <a:stretch>
                    <a:fillRect l="-1389" t="-7317" b="-487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2F0F02F-133F-7146-9797-B3404CDA7351}"/>
                    </a:ext>
                  </a:extLst>
                </p:cNvPr>
                <p:cNvSpPr txBox="1"/>
                <p:nvPr/>
              </p:nvSpPr>
              <p:spPr>
                <a:xfrm>
                  <a:off x="5400266" y="1997276"/>
                  <a:ext cx="3105337" cy="539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GB" sz="1600" b="0" i="0" smtClean="0">
                            <a:latin typeface="Cambria Math" panose="02040503050406030204" pitchFamily="18" charset="0"/>
                          </a:rPr>
                          <m:t>Δ</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𝑠</m:t>
                            </m:r>
                          </m:e>
                          <m:sub>
                            <m:r>
                              <a:rPr lang="en-GB" sz="1600" b="0" i="1" smtClean="0">
                                <a:latin typeface="Cambria Math" panose="02040503050406030204" pitchFamily="18" charset="0"/>
                              </a:rPr>
                              <m:t>𝑇𝐶</m:t>
                            </m:r>
                          </m:sub>
                        </m:sSub>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𝑚</m:t>
                                </m:r>
                              </m:e>
                              <m:sub>
                                <m:r>
                                  <a:rPr lang="en-GB" sz="1600" b="0" i="1" smtClean="0">
                                    <a:latin typeface="Cambria Math" panose="02040503050406030204" pitchFamily="18" charset="0"/>
                                  </a:rPr>
                                  <m:t>𝑙</m:t>
                                </m:r>
                              </m:sub>
                            </m:sSub>
                            <m:r>
                              <a:rPr lang="en-GB" sz="1600" b="0" i="1" smtClean="0">
                                <a:latin typeface="Cambria Math" panose="02040503050406030204" pitchFamily="18" charset="0"/>
                              </a:rPr>
                              <m:t> </m:t>
                            </m:r>
                          </m:num>
                          <m:den>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𝑚</m:t>
                                </m:r>
                              </m:e>
                              <m:sub>
                                <m:r>
                                  <a:rPr lang="en-GB" sz="1600" b="0" i="1" smtClean="0">
                                    <a:latin typeface="Cambria Math" panose="02040503050406030204" pitchFamily="18" charset="0"/>
                                  </a:rPr>
                                  <m:t>𝑚</m:t>
                                </m:r>
                              </m:sub>
                            </m:sSub>
                          </m:den>
                        </m:f>
                        <m:f>
                          <m:fPr>
                            <m:ctrlPr>
                              <a:rPr lang="en-GB" sz="1600" b="0" i="1" smtClean="0">
                                <a:latin typeface="Cambria Math" panose="02040503050406030204" pitchFamily="18" charset="0"/>
                              </a:rPr>
                            </m:ctrlPr>
                          </m:fPr>
                          <m:num>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𝑉</m:t>
                                </m:r>
                              </m:e>
                              <m:sub>
                                <m:r>
                                  <a:rPr lang="en-GB" sz="1600" b="0" i="1" smtClean="0">
                                    <a:latin typeface="Cambria Math" panose="02040503050406030204" pitchFamily="18" charset="0"/>
                                  </a:rPr>
                                  <m:t>2</m:t>
                                </m:r>
                              </m:sub>
                              <m:sup>
                                <m:r>
                                  <a:rPr lang="en-GB" sz="1600" b="0" i="1" smtClean="0">
                                    <a:latin typeface="Cambria Math" panose="02040503050406030204" pitchFamily="18" charset="0"/>
                                  </a:rPr>
                                  <m:t>2</m:t>
                                </m:r>
                              </m:sup>
                            </m:sSubSup>
                          </m:num>
                          <m:den>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𝑇</m:t>
                                </m:r>
                              </m:e>
                              <m:sub>
                                <m:r>
                                  <a:rPr lang="en-GB" sz="1600" b="0" i="1" smtClean="0">
                                    <a:latin typeface="Cambria Math" panose="02040503050406030204" pitchFamily="18" charset="0"/>
                                  </a:rPr>
                                  <m:t>2</m:t>
                                </m:r>
                              </m:sub>
                            </m:sSub>
                          </m:den>
                        </m:f>
                        <m:d>
                          <m:dPr>
                            <m:ctrlPr>
                              <a:rPr lang="en-GB" sz="1600" b="0" i="1" smtClean="0">
                                <a:latin typeface="Cambria Math" panose="02040503050406030204" pitchFamily="18" charset="0"/>
                              </a:rPr>
                            </m:ctrlPr>
                          </m:dPr>
                          <m:e>
                            <m:r>
                              <a:rPr lang="en-GB" sz="1600" b="0" i="1" smtClean="0">
                                <a:latin typeface="Cambria Math" panose="02040503050406030204" pitchFamily="18" charset="0"/>
                              </a:rPr>
                              <m:t>1−</m:t>
                            </m:r>
                            <m:f>
                              <m:fPr>
                                <m:ctrlPr>
                                  <a:rPr lang="en-GB" sz="1600" b="0" i="1" smtClean="0">
                                    <a:latin typeface="Cambria Math" panose="02040503050406030204" pitchFamily="18" charset="0"/>
                                  </a:rPr>
                                </m:ctrlPr>
                              </m:fPr>
                              <m:num>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tan</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1</m:t>
                                        </m:r>
                                      </m:sub>
                                    </m:sSub>
                                  </m:e>
                                </m:func>
                              </m:num>
                              <m:den>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tan</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2</m:t>
                                        </m:r>
                                      </m:sub>
                                    </m:sSub>
                                  </m:e>
                                </m:func>
                              </m:den>
                            </m:f>
                            <m:func>
                              <m:funcPr>
                                <m:ctrlPr>
                                  <a:rPr lang="en-GB" sz="1600" b="0" i="1" smtClean="0">
                                    <a:latin typeface="Cambria Math" panose="02040503050406030204" pitchFamily="18" charset="0"/>
                                  </a:rPr>
                                </m:ctrlPr>
                              </m:funcPr>
                              <m:fName>
                                <m:sSup>
                                  <m:sSupPr>
                                    <m:ctrlPr>
                                      <a:rPr lang="en-GB" sz="1600" b="0" i="1" smtClean="0">
                                        <a:latin typeface="Cambria Math" panose="02040503050406030204" pitchFamily="18" charset="0"/>
                                      </a:rPr>
                                    </m:ctrlPr>
                                  </m:sSupPr>
                                  <m:e>
                                    <m:r>
                                      <m:rPr>
                                        <m:sty m:val="p"/>
                                      </m:rPr>
                                      <a:rPr lang="en-GB" sz="1600" b="0" i="0" smtClean="0">
                                        <a:latin typeface="Cambria Math" panose="02040503050406030204" pitchFamily="18" charset="0"/>
                                      </a:rPr>
                                      <m:t>sin</m:t>
                                    </m:r>
                                  </m:e>
                                  <m:sup>
                                    <m:r>
                                      <a:rPr lang="en-GB" sz="1600" b="0" i="1" smtClean="0">
                                        <a:latin typeface="Cambria Math" panose="02040503050406030204" pitchFamily="18" charset="0"/>
                                      </a:rPr>
                                      <m:t>2</m:t>
                                    </m:r>
                                  </m:sup>
                                </m:sSup>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2</m:t>
                                    </m:r>
                                  </m:sub>
                                </m:sSub>
                              </m:e>
                            </m:func>
                          </m:e>
                        </m:d>
                      </m:oMath>
                    </m:oMathPara>
                  </a14:m>
                  <a:endParaRPr lang="en-GB" sz="1600" dirty="0"/>
                </a:p>
              </p:txBody>
            </p:sp>
          </mc:Choice>
          <mc:Fallback>
            <p:sp>
              <p:nvSpPr>
                <p:cNvPr id="7" name="TextBox 6">
                  <a:extLst>
                    <a:ext uri="{FF2B5EF4-FFF2-40B4-BE49-F238E27FC236}">
                      <a16:creationId xmlns:a16="http://schemas.microsoft.com/office/drawing/2014/main" id="{F2F0F02F-133F-7146-9797-B3404CDA7351}"/>
                    </a:ext>
                  </a:extLst>
                </p:cNvPr>
                <p:cNvSpPr txBox="1">
                  <a:spLocks noRot="1" noChangeAspect="1" noMove="1" noResize="1" noEditPoints="1" noAdjustHandles="1" noChangeArrowheads="1" noChangeShapeType="1" noTextEdit="1"/>
                </p:cNvSpPr>
                <p:nvPr/>
              </p:nvSpPr>
              <p:spPr>
                <a:xfrm>
                  <a:off x="5400266" y="1997276"/>
                  <a:ext cx="3105337" cy="539507"/>
                </a:xfrm>
                <a:prstGeom prst="rect">
                  <a:avLst/>
                </a:prstGeom>
                <a:blipFill>
                  <a:blip r:embed="rId4"/>
                  <a:stretch>
                    <a:fillRect l="-1633" b="-6818"/>
                  </a:stretch>
                </a:blipFill>
              </p:spPr>
              <p:txBody>
                <a:bodyPr/>
                <a:lstStyle/>
                <a:p>
                  <a:r>
                    <a:rPr lang="en-GB">
                      <a:noFill/>
                    </a:rPr>
                    <a:t> </a:t>
                  </a:r>
                </a:p>
              </p:txBody>
            </p:sp>
          </mc:Fallback>
        </mc:AlternateContent>
      </p:gr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365D88A-3BF8-E540-8C86-2DAEC9EDEE10}"/>
                  </a:ext>
                </a:extLst>
              </p:cNvPr>
              <p:cNvSpPr txBox="1"/>
              <p:nvPr/>
            </p:nvSpPr>
            <p:spPr>
              <a:xfrm>
                <a:off x="2870775" y="3470558"/>
                <a:ext cx="4201855" cy="5620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GB" sz="1600">
                          <a:latin typeface="Cambria Math" panose="02040503050406030204" pitchFamily="18" charset="0"/>
                        </a:rPr>
                        <m:t>Δ</m:t>
                      </m:r>
                      <m:sSub>
                        <m:sSubPr>
                          <m:ctrlPr>
                            <a:rPr lang="en-GB" sz="1600" i="1">
                              <a:latin typeface="Cambria Math" panose="02040503050406030204" pitchFamily="18" charset="0"/>
                            </a:rPr>
                          </m:ctrlPr>
                        </m:sSubPr>
                        <m:e>
                          <m:r>
                            <a:rPr lang="en-GB" sz="1600" i="1">
                              <a:latin typeface="Cambria Math" panose="02040503050406030204" pitchFamily="18" charset="0"/>
                            </a:rPr>
                            <m:t>𝑠</m:t>
                          </m:r>
                        </m:e>
                        <m:sub>
                          <m:r>
                            <a:rPr lang="en-GB" sz="1600" i="1">
                              <a:latin typeface="Cambria Math" panose="02040503050406030204" pitchFamily="18" charset="0"/>
                            </a:rPr>
                            <m:t>𝑝𝑟𝑜</m:t>
                          </m:r>
                        </m:sub>
                      </m:sSub>
                      <m:r>
                        <a:rPr lang="en-GB" sz="1600" b="0" i="1" smtClean="0">
                          <a:latin typeface="Cambria Math" panose="02040503050406030204" pitchFamily="18" charset="0"/>
                        </a:rPr>
                        <m:t>=</m:t>
                      </m:r>
                      <m:sSub>
                        <m:sSubPr>
                          <m:ctrlPr>
                            <a:rPr lang="en-GB" sz="1600" b="0" i="1" smtClean="0">
                              <a:latin typeface="Cambria Math" panose="02040503050406030204" pitchFamily="18" charset="0"/>
                            </a:rPr>
                          </m:ctrlPr>
                        </m:sSubPr>
                        <m:e>
                          <m:f>
                            <m:fPr>
                              <m:ctrlPr>
                                <a:rPr lang="en-GB" sz="1600" i="1">
                                  <a:latin typeface="Cambria Math" panose="02040503050406030204" pitchFamily="18" charset="0"/>
                                </a:rPr>
                              </m:ctrlPr>
                            </m:fPr>
                            <m:num>
                              <m:sSubSup>
                                <m:sSubSupPr>
                                  <m:ctrlPr>
                                    <a:rPr lang="en-GB" sz="1600" i="1">
                                      <a:latin typeface="Cambria Math" panose="02040503050406030204" pitchFamily="18" charset="0"/>
                                    </a:rPr>
                                  </m:ctrlPr>
                                </m:sSubSupPr>
                                <m:e>
                                  <m:r>
                                    <a:rPr lang="en-GB" sz="1600" i="1">
                                      <a:latin typeface="Cambria Math" panose="02040503050406030204" pitchFamily="18" charset="0"/>
                                    </a:rPr>
                                    <m:t>𝑉</m:t>
                                  </m:r>
                                </m:e>
                                <m:sub>
                                  <m:r>
                                    <a:rPr lang="en-GB" sz="1600" i="1">
                                      <a:latin typeface="Cambria Math" panose="02040503050406030204" pitchFamily="18" charset="0"/>
                                    </a:rPr>
                                    <m:t>2</m:t>
                                  </m:r>
                                </m:sub>
                                <m:sup>
                                  <m:r>
                                    <a:rPr lang="en-GB" sz="1600" i="1">
                                      <a:latin typeface="Cambria Math" panose="02040503050406030204" pitchFamily="18" charset="0"/>
                                    </a:rPr>
                                    <m:t>2</m:t>
                                  </m:r>
                                </m:sup>
                              </m:sSubSup>
                            </m:num>
                            <m:den>
                              <m:r>
                                <a:rPr lang="en-GB" sz="1600" i="1">
                                  <a:latin typeface="Cambria Math" panose="02040503050406030204" pitchFamily="18" charset="0"/>
                                </a:rPr>
                                <m:t>2</m:t>
                              </m:r>
                              <m:sSub>
                                <m:sSubPr>
                                  <m:ctrlPr>
                                    <a:rPr lang="en-GB" sz="1600" i="1">
                                      <a:latin typeface="Cambria Math" panose="02040503050406030204" pitchFamily="18" charset="0"/>
                                    </a:rPr>
                                  </m:ctrlPr>
                                </m:sSubPr>
                                <m:e>
                                  <m:r>
                                    <a:rPr lang="en-GB" sz="1600" i="1">
                                      <a:latin typeface="Cambria Math" panose="02040503050406030204" pitchFamily="18" charset="0"/>
                                    </a:rPr>
                                    <m:t>𝑇</m:t>
                                  </m:r>
                                </m:e>
                                <m:sub>
                                  <m:r>
                                    <a:rPr lang="en-GB" sz="1600" i="1">
                                      <a:latin typeface="Cambria Math" panose="02040503050406030204" pitchFamily="18" charset="0"/>
                                    </a:rPr>
                                    <m:t>2</m:t>
                                  </m:r>
                                </m:sub>
                              </m:sSub>
                            </m:den>
                          </m:f>
                          <m:r>
                            <a:rPr lang="en-GB" sz="1600" b="0" i="1" smtClean="0">
                              <a:latin typeface="Cambria Math" panose="02040503050406030204" pitchFamily="18" charset="0"/>
                            </a:rPr>
                            <m:t>𝐶</m:t>
                          </m:r>
                        </m:e>
                        <m:sub>
                          <m:r>
                            <a:rPr lang="en-GB" sz="1600" b="0" i="1" smtClean="0">
                              <a:latin typeface="Cambria Math" panose="02040503050406030204" pitchFamily="18" charset="0"/>
                            </a:rPr>
                            <m:t>𝑑</m:t>
                          </m:r>
                        </m:sub>
                      </m:sSub>
                      <m:d>
                        <m:dPr>
                          <m:ctrlPr>
                            <a:rPr lang="en-GB" sz="1600" b="0" i="1" smtClean="0">
                              <a:latin typeface="Cambria Math" panose="02040503050406030204" pitchFamily="18" charset="0"/>
                            </a:rPr>
                          </m:ctrlPr>
                        </m:dPr>
                        <m:e>
                          <m:r>
                            <a:rPr lang="en-GB" sz="1600" b="0" i="1" smtClean="0">
                              <a:latin typeface="Cambria Math" panose="02040503050406030204" pitchFamily="18" charset="0"/>
                            </a:rPr>
                            <m:t>2</m:t>
                          </m:r>
                          <m:f>
                            <m:fPr>
                              <m:ctrlPr>
                                <a:rPr lang="en-GB" sz="1600" b="0" i="1" smtClean="0">
                                  <a:latin typeface="Cambria Math" panose="02040503050406030204" pitchFamily="18" charset="0"/>
                                </a:rPr>
                              </m:ctrlPr>
                            </m:fPr>
                            <m:num>
                              <m:acc>
                                <m:accPr>
                                  <m:chr m:val="̅"/>
                                  <m:ctrlPr>
                                    <a:rPr lang="en-GB" sz="1600" b="0" i="1" smtClean="0">
                                      <a:latin typeface="Cambria Math" panose="02040503050406030204" pitchFamily="18" charset="0"/>
                                    </a:rPr>
                                  </m:ctrlPr>
                                </m:accPr>
                                <m:e>
                                  <m:r>
                                    <a:rPr lang="en-GB" sz="1600" b="0" i="1" smtClean="0">
                                      <a:latin typeface="Cambria Math" panose="02040503050406030204" pitchFamily="18" charset="0"/>
                                    </a:rPr>
                                    <m:t>𝑉</m:t>
                                  </m:r>
                                </m:e>
                              </m:acc>
                            </m:num>
                            <m:den>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𝑉</m:t>
                              </m:r>
                            </m:den>
                          </m:f>
                          <m:r>
                            <a:rPr lang="en-GB" sz="1600" b="0" i="1" smtClean="0">
                              <a:latin typeface="Cambria Math" panose="02040503050406030204" pitchFamily="18" charset="0"/>
                            </a:rPr>
                            <m:t>+6</m:t>
                          </m:r>
                          <m:f>
                            <m:fPr>
                              <m:ctrlPr>
                                <a:rPr lang="en-GB" sz="1600" b="0" i="1" smtClean="0">
                                  <a:latin typeface="Cambria Math" panose="02040503050406030204" pitchFamily="18" charset="0"/>
                                </a:rPr>
                              </m:ctrlPr>
                            </m:fPr>
                            <m:num>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𝑉</m:t>
                              </m:r>
                            </m:num>
                            <m:den>
                              <m:acc>
                                <m:accPr>
                                  <m:chr m:val="̅"/>
                                  <m:ctrlPr>
                                    <a:rPr lang="en-GB" sz="1600" b="0" i="1" smtClean="0">
                                      <a:latin typeface="Cambria Math" panose="02040503050406030204" pitchFamily="18" charset="0"/>
                                    </a:rPr>
                                  </m:ctrlPr>
                                </m:accPr>
                                <m:e>
                                  <m:r>
                                    <a:rPr lang="en-GB" sz="1600" b="0" i="1" smtClean="0">
                                      <a:latin typeface="Cambria Math" panose="02040503050406030204" pitchFamily="18" charset="0"/>
                                    </a:rPr>
                                    <m:t> </m:t>
                                  </m:r>
                                  <m:r>
                                    <a:rPr lang="en-GB" sz="1600" b="0" i="1" smtClean="0">
                                      <a:latin typeface="Cambria Math" panose="02040503050406030204" pitchFamily="18" charset="0"/>
                                    </a:rPr>
                                    <m:t>𝑉</m:t>
                                  </m:r>
                                </m:e>
                              </m:acc>
                            </m:den>
                          </m:f>
                        </m:e>
                      </m:d>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tan</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2</m:t>
                              </m:r>
                            </m:sub>
                          </m:sSub>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tan</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1</m:t>
                                  </m:r>
                                </m:sub>
                              </m:sSub>
                              <m:r>
                                <a:rPr lang="en-GB" sz="1600" b="0" i="1" smtClean="0">
                                  <a:latin typeface="Cambria Math" panose="02040503050406030204" pitchFamily="18" charset="0"/>
                                </a:rPr>
                                <m:t>|</m:t>
                              </m:r>
                            </m:e>
                          </m:func>
                        </m:e>
                      </m:func>
                    </m:oMath>
                  </m:oMathPara>
                </a14:m>
                <a:endParaRPr lang="en-GB" sz="1600" dirty="0"/>
              </a:p>
            </p:txBody>
          </p:sp>
        </mc:Choice>
        <mc:Fallback>
          <p:sp>
            <p:nvSpPr>
              <p:cNvPr id="9" name="TextBox 8">
                <a:extLst>
                  <a:ext uri="{FF2B5EF4-FFF2-40B4-BE49-F238E27FC236}">
                    <a16:creationId xmlns:a16="http://schemas.microsoft.com/office/drawing/2014/main" id="{2365D88A-3BF8-E540-8C86-2DAEC9EDEE10}"/>
                  </a:ext>
                </a:extLst>
              </p:cNvPr>
              <p:cNvSpPr txBox="1">
                <a:spLocks noRot="1" noChangeAspect="1" noMove="1" noResize="1" noEditPoints="1" noAdjustHandles="1" noChangeArrowheads="1" noChangeShapeType="1" noTextEdit="1"/>
              </p:cNvSpPr>
              <p:nvPr/>
            </p:nvSpPr>
            <p:spPr>
              <a:xfrm>
                <a:off x="2870775" y="3470558"/>
                <a:ext cx="4201855" cy="562077"/>
              </a:xfrm>
              <a:prstGeom prst="rect">
                <a:avLst/>
              </a:prstGeom>
              <a:blipFill>
                <a:blip r:embed="rId5"/>
                <a:stretch>
                  <a:fillRect l="-1205" r="-301" b="-1304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4C3FF0FA-000B-4449-9374-6174EC00CD73}"/>
                  </a:ext>
                </a:extLst>
              </p:cNvPr>
              <p:cNvSpPr txBox="1"/>
              <p:nvPr/>
            </p:nvSpPr>
            <p:spPr>
              <a:xfrm>
                <a:off x="3412685" y="4450257"/>
                <a:ext cx="3118033" cy="6363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GB" sz="1600" smtClean="0">
                          <a:latin typeface="Cambria Math" panose="02040503050406030204" pitchFamily="18" charset="0"/>
                        </a:rPr>
                        <m:t>Δ</m:t>
                      </m:r>
                      <m:sSub>
                        <m:sSubPr>
                          <m:ctrlPr>
                            <a:rPr lang="en-GB" sz="1600" i="1" smtClean="0">
                              <a:latin typeface="Cambria Math" panose="02040503050406030204" pitchFamily="18" charset="0"/>
                            </a:rPr>
                          </m:ctrlPr>
                        </m:sSubPr>
                        <m:e>
                          <m:r>
                            <a:rPr lang="en-GB" sz="1600" i="1">
                              <a:latin typeface="Cambria Math" panose="02040503050406030204" pitchFamily="18" charset="0"/>
                            </a:rPr>
                            <m:t>𝑠</m:t>
                          </m:r>
                        </m:e>
                        <m:sub>
                          <m:r>
                            <a:rPr lang="en-GB" sz="1600" b="0" i="1" smtClean="0">
                              <a:latin typeface="Cambria Math" panose="02040503050406030204" pitchFamily="18" charset="0"/>
                            </a:rPr>
                            <m:t>𝑇𝐸</m:t>
                          </m:r>
                        </m:sub>
                      </m:sSub>
                      <m:r>
                        <a:rPr lang="en-GB" sz="1600" b="0" i="1" smtClean="0">
                          <a:latin typeface="Cambria Math" panose="02040503050406030204" pitchFamily="18" charset="0"/>
                        </a:rPr>
                        <m:t>=</m:t>
                      </m:r>
                      <m:f>
                        <m:fPr>
                          <m:ctrlPr>
                            <a:rPr lang="en-GB" sz="1600" i="1">
                              <a:latin typeface="Cambria Math" panose="02040503050406030204" pitchFamily="18" charset="0"/>
                            </a:rPr>
                          </m:ctrlPr>
                        </m:fPr>
                        <m:num>
                          <m:sSubSup>
                            <m:sSubSupPr>
                              <m:ctrlPr>
                                <a:rPr lang="en-GB" sz="1600" i="1">
                                  <a:latin typeface="Cambria Math" panose="02040503050406030204" pitchFamily="18" charset="0"/>
                                </a:rPr>
                              </m:ctrlPr>
                            </m:sSubSupPr>
                            <m:e>
                              <m:r>
                                <a:rPr lang="en-GB" sz="1600" i="1">
                                  <a:latin typeface="Cambria Math" panose="02040503050406030204" pitchFamily="18" charset="0"/>
                                </a:rPr>
                                <m:t>𝑉</m:t>
                              </m:r>
                            </m:e>
                            <m:sub>
                              <m:r>
                                <a:rPr lang="en-GB" sz="1600" i="1">
                                  <a:latin typeface="Cambria Math" panose="02040503050406030204" pitchFamily="18" charset="0"/>
                                </a:rPr>
                                <m:t>2</m:t>
                              </m:r>
                            </m:sub>
                            <m:sup>
                              <m:r>
                                <a:rPr lang="en-GB" sz="1600" i="1">
                                  <a:latin typeface="Cambria Math" panose="02040503050406030204" pitchFamily="18" charset="0"/>
                                </a:rPr>
                                <m:t>2</m:t>
                              </m:r>
                            </m:sup>
                          </m:sSubSup>
                        </m:num>
                        <m:den>
                          <m:r>
                            <a:rPr lang="en-GB" sz="1600" i="1">
                              <a:latin typeface="Cambria Math" panose="02040503050406030204" pitchFamily="18" charset="0"/>
                            </a:rPr>
                            <m:t>2</m:t>
                          </m:r>
                          <m:sSub>
                            <m:sSubPr>
                              <m:ctrlPr>
                                <a:rPr lang="en-GB" sz="1600" i="1">
                                  <a:latin typeface="Cambria Math" panose="02040503050406030204" pitchFamily="18" charset="0"/>
                                </a:rPr>
                              </m:ctrlPr>
                            </m:sSubPr>
                            <m:e>
                              <m:r>
                                <a:rPr lang="en-GB" sz="1600" i="1">
                                  <a:latin typeface="Cambria Math" panose="02040503050406030204" pitchFamily="18" charset="0"/>
                                </a:rPr>
                                <m:t>𝑇</m:t>
                              </m:r>
                            </m:e>
                            <m:sub>
                              <m:r>
                                <a:rPr lang="en-GB" sz="1600" i="1">
                                  <a:latin typeface="Cambria Math" panose="02040503050406030204" pitchFamily="18" charset="0"/>
                                </a:rPr>
                                <m:t>2</m:t>
                              </m:r>
                            </m:sub>
                          </m:sSub>
                        </m:den>
                      </m:f>
                      <m:d>
                        <m:dPr>
                          <m:ctrlPr>
                            <a:rPr lang="en-GB" sz="1600" b="0" i="1" smtClean="0">
                              <a:latin typeface="Cambria Math" panose="02040503050406030204" pitchFamily="18" charset="0"/>
                            </a:rPr>
                          </m:ctrlPr>
                        </m:dPr>
                        <m:e>
                          <m:d>
                            <m:dPr>
                              <m:ctrlPr>
                                <a:rPr lang="en-GB" sz="1600" b="0" i="1" smtClean="0">
                                  <a:latin typeface="Cambria Math" panose="02040503050406030204" pitchFamily="18" charset="0"/>
                                </a:rPr>
                              </m:ctrlPr>
                            </m:dPr>
                            <m:e>
                              <m:f>
                                <m:fPr>
                                  <m:ctrlPr>
                                    <a:rPr lang="en-GB" sz="1600" b="0" i="1" smtClean="0">
                                      <a:latin typeface="Cambria Math" panose="02040503050406030204" pitchFamily="18" charset="0"/>
                                    </a:rPr>
                                  </m:ctrlPr>
                                </m:fPr>
                                <m:num>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𝑡</m:t>
                                      </m:r>
                                    </m:e>
                                    <m:sub>
                                      <m:r>
                                        <a:rPr lang="en-GB" sz="1600" b="0" i="1" smtClean="0">
                                          <a:latin typeface="Cambria Math" panose="02040503050406030204" pitchFamily="18" charset="0"/>
                                        </a:rPr>
                                        <m:t>𝑇𝐸</m:t>
                                      </m:r>
                                    </m:sub>
                                  </m:sSub>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𝛿</m:t>
                                      </m:r>
                                    </m:e>
                                    <m:sup>
                                      <m:r>
                                        <a:rPr lang="en-GB" sz="1600" b="0" i="1" smtClean="0">
                                          <a:latin typeface="Cambria Math" panose="02040503050406030204" pitchFamily="18" charset="0"/>
                                        </a:rPr>
                                        <m:t>∗</m:t>
                                      </m:r>
                                    </m:sup>
                                  </m:sSup>
                                </m:num>
                                <m:den>
                                  <m:r>
                                    <a:rPr lang="en-GB" sz="1600" b="0" i="1" smtClean="0">
                                      <a:latin typeface="Cambria Math" panose="02040503050406030204" pitchFamily="18" charset="0"/>
                                    </a:rPr>
                                    <m:t>𝑤</m:t>
                                  </m:r>
                                </m:den>
                              </m:f>
                            </m:e>
                          </m:d>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𝐶</m:t>
                                  </m:r>
                                </m:e>
                                <m:sub>
                                  <m:r>
                                    <a:rPr lang="en-GB" sz="1600" b="0" i="1" smtClean="0">
                                      <a:latin typeface="Cambria Math" panose="02040503050406030204" pitchFamily="18" charset="0"/>
                                    </a:rPr>
                                    <m:t>𝑝𝑏</m:t>
                                  </m:r>
                                </m:sub>
                              </m:sSub>
                              <m:sSub>
                                <m:sSubPr>
                                  <m:ctrlPr>
                                    <a:rPr lang="en-GB" sz="1600" i="1">
                                      <a:latin typeface="Cambria Math" panose="02040503050406030204" pitchFamily="18" charset="0"/>
                                    </a:rPr>
                                  </m:ctrlPr>
                                </m:sSubPr>
                                <m:e>
                                  <m:r>
                                    <a:rPr lang="en-GB" sz="1600" i="1">
                                      <a:latin typeface="Cambria Math" panose="02040503050406030204" pitchFamily="18" charset="0"/>
                                    </a:rPr>
                                    <m:t>𝑡</m:t>
                                  </m:r>
                                </m:e>
                                <m:sub>
                                  <m:r>
                                    <a:rPr lang="en-GB" sz="1600" i="1">
                                      <a:latin typeface="Cambria Math" panose="02040503050406030204" pitchFamily="18" charset="0"/>
                                    </a:rPr>
                                    <m:t>𝑇𝐸</m:t>
                                  </m:r>
                                </m:sub>
                              </m:sSub>
                            </m:num>
                            <m:den>
                              <m:r>
                                <a:rPr lang="en-GB" sz="1600" b="0" i="1" smtClean="0">
                                  <a:latin typeface="Cambria Math" panose="02040503050406030204" pitchFamily="18" charset="0"/>
                                </a:rPr>
                                <m:t>𝑤</m:t>
                              </m:r>
                            </m:den>
                          </m:f>
                        </m:e>
                      </m:d>
                    </m:oMath>
                  </m:oMathPara>
                </a14:m>
                <a:endParaRPr lang="en-GB" sz="1600" dirty="0"/>
              </a:p>
            </p:txBody>
          </p:sp>
        </mc:Choice>
        <mc:Fallback>
          <p:sp>
            <p:nvSpPr>
              <p:cNvPr id="12" name="TextBox 11">
                <a:extLst>
                  <a:ext uri="{FF2B5EF4-FFF2-40B4-BE49-F238E27FC236}">
                    <a16:creationId xmlns:a16="http://schemas.microsoft.com/office/drawing/2014/main" id="{4C3FF0FA-000B-4449-9374-6174EC00CD73}"/>
                  </a:ext>
                </a:extLst>
              </p:cNvPr>
              <p:cNvSpPr txBox="1">
                <a:spLocks noRot="1" noChangeAspect="1" noMove="1" noResize="1" noEditPoints="1" noAdjustHandles="1" noChangeArrowheads="1" noChangeShapeType="1" noTextEdit="1"/>
              </p:cNvSpPr>
              <p:nvPr/>
            </p:nvSpPr>
            <p:spPr>
              <a:xfrm>
                <a:off x="3412685" y="4450257"/>
                <a:ext cx="3118033" cy="636393"/>
              </a:xfrm>
              <a:prstGeom prst="rect">
                <a:avLst/>
              </a:prstGeom>
              <a:blipFill>
                <a:blip r:embed="rId6"/>
                <a:stretch>
                  <a:fillRect l="-162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E41B80D-9CBE-CD4F-8803-FDA2AEC56566}"/>
                  </a:ext>
                </a:extLst>
              </p:cNvPr>
              <p:cNvSpPr txBox="1"/>
              <p:nvPr/>
            </p:nvSpPr>
            <p:spPr>
              <a:xfrm>
                <a:off x="2431935" y="5709899"/>
                <a:ext cx="5079532"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GB" sz="1600" smtClean="0">
                          <a:latin typeface="Cambria Math" panose="02040503050406030204" pitchFamily="18" charset="0"/>
                        </a:rPr>
                        <m:t>Δ</m:t>
                      </m:r>
                      <m:sSub>
                        <m:sSubPr>
                          <m:ctrlPr>
                            <a:rPr lang="en-GB" sz="1600" i="1" smtClean="0">
                              <a:latin typeface="Cambria Math" panose="02040503050406030204" pitchFamily="18" charset="0"/>
                            </a:rPr>
                          </m:ctrlPr>
                        </m:sSubPr>
                        <m:e>
                          <m:r>
                            <a:rPr lang="en-GB" sz="1600" i="1">
                              <a:latin typeface="Cambria Math" panose="02040503050406030204" pitchFamily="18" charset="0"/>
                            </a:rPr>
                            <m:t>𝑠</m:t>
                          </m:r>
                        </m:e>
                        <m:sub>
                          <m:r>
                            <a:rPr lang="en-GB" sz="1600" b="0" i="1" smtClean="0">
                              <a:latin typeface="Cambria Math" panose="02040503050406030204" pitchFamily="18" charset="0"/>
                            </a:rPr>
                            <m:t>𝑠𝑒𝑐</m:t>
                          </m:r>
                        </m:sub>
                      </m:sSub>
                      <m:r>
                        <a:rPr lang="en-GB" sz="1600" b="0" i="1" smtClean="0">
                          <a:latin typeface="Cambria Math" panose="02040503050406030204" pitchFamily="18" charset="0"/>
                        </a:rPr>
                        <m:t>=</m:t>
                      </m:r>
                      <m:f>
                        <m:fPr>
                          <m:ctrlPr>
                            <a:rPr lang="en-GB" sz="1600" i="1">
                              <a:latin typeface="Cambria Math" panose="02040503050406030204" pitchFamily="18" charset="0"/>
                            </a:rPr>
                          </m:ctrlPr>
                        </m:fPr>
                        <m:num>
                          <m:sSubSup>
                            <m:sSubSupPr>
                              <m:ctrlPr>
                                <a:rPr lang="en-GB" sz="1600" i="1">
                                  <a:latin typeface="Cambria Math" panose="02040503050406030204" pitchFamily="18" charset="0"/>
                                </a:rPr>
                              </m:ctrlPr>
                            </m:sSubSupPr>
                            <m:e>
                              <m:r>
                                <a:rPr lang="en-GB" sz="1600" i="1">
                                  <a:latin typeface="Cambria Math" panose="02040503050406030204" pitchFamily="18" charset="0"/>
                                </a:rPr>
                                <m:t>𝑉</m:t>
                              </m:r>
                            </m:e>
                            <m:sub>
                              <m:r>
                                <a:rPr lang="en-GB" sz="1600" i="1">
                                  <a:latin typeface="Cambria Math" panose="02040503050406030204" pitchFamily="18" charset="0"/>
                                </a:rPr>
                                <m:t>2</m:t>
                              </m:r>
                            </m:sub>
                            <m:sup>
                              <m:r>
                                <a:rPr lang="en-GB" sz="1600" i="1">
                                  <a:latin typeface="Cambria Math" panose="02040503050406030204" pitchFamily="18" charset="0"/>
                                </a:rPr>
                                <m:t>2</m:t>
                              </m:r>
                            </m:sup>
                          </m:sSubSup>
                        </m:num>
                        <m:den>
                          <m:r>
                            <a:rPr lang="en-GB" sz="1600" i="1">
                              <a:latin typeface="Cambria Math" panose="02040503050406030204" pitchFamily="18" charset="0"/>
                            </a:rPr>
                            <m:t>2</m:t>
                          </m:r>
                          <m:sSub>
                            <m:sSubPr>
                              <m:ctrlPr>
                                <a:rPr lang="en-GB" sz="1600" i="1">
                                  <a:latin typeface="Cambria Math" panose="02040503050406030204" pitchFamily="18" charset="0"/>
                                </a:rPr>
                              </m:ctrlPr>
                            </m:sSubPr>
                            <m:e>
                              <m:r>
                                <a:rPr lang="en-GB" sz="1600" i="1">
                                  <a:latin typeface="Cambria Math" panose="02040503050406030204" pitchFamily="18" charset="0"/>
                                </a:rPr>
                                <m:t>𝑇</m:t>
                              </m:r>
                            </m:e>
                            <m:sub>
                              <m:r>
                                <a:rPr lang="en-GB" sz="1600" i="1">
                                  <a:latin typeface="Cambria Math" panose="02040503050406030204" pitchFamily="18" charset="0"/>
                                </a:rPr>
                                <m:t>2</m:t>
                              </m:r>
                            </m:sub>
                          </m:sSub>
                        </m:den>
                      </m:f>
                      <m:r>
                        <a:rPr lang="en-GB" sz="1600" b="0" i="1" smtClean="0">
                          <a:latin typeface="Cambria Math" panose="02040503050406030204" pitchFamily="18" charset="0"/>
                        </a:rPr>
                        <m:t>×</m:t>
                      </m:r>
                      <m:r>
                        <a:rPr lang="en-GB" sz="1600" b="0" i="1" smtClean="0">
                          <a:latin typeface="Cambria Math" panose="02040503050406030204" pitchFamily="18" charset="0"/>
                        </a:rPr>
                        <m:t>0.375×0.1336</m:t>
                      </m:r>
                      <m:f>
                        <m:fPr>
                          <m:ctrlPr>
                            <a:rPr lang="en-GB" sz="1600" b="0" i="1" smtClean="0">
                              <a:latin typeface="Cambria Math" panose="02040503050406030204" pitchFamily="18" charset="0"/>
                            </a:rPr>
                          </m:ctrlPr>
                        </m:fPr>
                        <m:num>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𝐶</m:t>
                              </m:r>
                            </m:e>
                            <m:sub>
                              <m:r>
                                <a:rPr lang="en-GB" sz="1600" b="0" i="1" smtClean="0">
                                  <a:latin typeface="Cambria Math" panose="02040503050406030204" pitchFamily="18" charset="0"/>
                                </a:rPr>
                                <m:t>𝑥</m:t>
                              </m:r>
                            </m:sub>
                          </m:sSub>
                        </m:num>
                        <m:den>
                          <m:r>
                            <a:rPr lang="en-GB" sz="1600" b="0" i="1" smtClean="0">
                              <a:latin typeface="Cambria Math" panose="02040503050406030204" pitchFamily="18" charset="0"/>
                            </a:rPr>
                            <m:t>𝑏</m:t>
                          </m:r>
                        </m:den>
                      </m:f>
                      <m:f>
                        <m:fPr>
                          <m:ctrlPr>
                            <a:rPr lang="en-GB" sz="1600" b="0" i="1" smtClean="0">
                              <a:latin typeface="Cambria Math" panose="02040503050406030204" pitchFamily="18" charset="0"/>
                            </a:rPr>
                          </m:ctrlPr>
                        </m:fPr>
                        <m:num>
                          <m:func>
                            <m:funcPr>
                              <m:ctrlPr>
                                <a:rPr lang="en-GB" sz="1600" b="0" i="1" smtClean="0">
                                  <a:latin typeface="Cambria Math" panose="02040503050406030204" pitchFamily="18" charset="0"/>
                                </a:rPr>
                              </m:ctrlPr>
                            </m:funcPr>
                            <m:fName>
                              <m:sSup>
                                <m:sSupPr>
                                  <m:ctrlPr>
                                    <a:rPr lang="en-GB" sz="1600" b="0" i="1" smtClean="0">
                                      <a:latin typeface="Cambria Math" panose="02040503050406030204" pitchFamily="18" charset="0"/>
                                    </a:rPr>
                                  </m:ctrlPr>
                                </m:sSupPr>
                                <m:e>
                                  <m:r>
                                    <m:rPr>
                                      <m:sty m:val="p"/>
                                    </m:rPr>
                                    <a:rPr lang="en-GB" sz="1600" b="0" i="0" smtClean="0">
                                      <a:latin typeface="Cambria Math" panose="02040503050406030204" pitchFamily="18" charset="0"/>
                                    </a:rPr>
                                    <m:t>cos</m:t>
                                  </m:r>
                                </m:e>
                                <m:sup>
                                  <m:r>
                                    <a:rPr lang="en-GB" sz="1600" b="0" i="1" smtClean="0">
                                      <a:latin typeface="Cambria Math" panose="02040503050406030204" pitchFamily="18" charset="0"/>
                                    </a:rPr>
                                    <m:t>3</m:t>
                                  </m:r>
                                </m:sup>
                              </m:sSup>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2</m:t>
                                  </m:r>
                                </m:sub>
                              </m:sSub>
                            </m:e>
                          </m:func>
                        </m:num>
                        <m:den>
                          <m:rad>
                            <m:radPr>
                              <m:degHide m:val="on"/>
                              <m:ctrlPr>
                                <a:rPr lang="en-GB" sz="1600" b="0" i="1" smtClean="0">
                                  <a:latin typeface="Cambria Math" panose="02040503050406030204" pitchFamily="18" charset="0"/>
                                </a:rPr>
                              </m:ctrlPr>
                            </m:radPr>
                            <m:deg/>
                            <m:e>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cos</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1</m:t>
                                      </m:r>
                                    </m:sub>
                                  </m:sSub>
                                </m:e>
                              </m:func>
                            </m:e>
                          </m:rad>
                        </m:den>
                      </m:f>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tan</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1</m:t>
                                      </m:r>
                                    </m:sub>
                                  </m:sSub>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tan</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2</m:t>
                                          </m:r>
                                        </m:sub>
                                      </m:sSub>
                                    </m:e>
                                  </m:func>
                                  <m:r>
                                    <a:rPr lang="en-GB" sz="1600" b="0" i="1" smtClean="0">
                                      <a:latin typeface="Cambria Math" panose="02040503050406030204" pitchFamily="18" charset="0"/>
                                    </a:rPr>
                                    <m:t>)</m:t>
                                  </m:r>
                                </m:e>
                              </m:func>
                            </m:e>
                            <m:sup>
                              <m:r>
                                <a:rPr lang="en-GB" sz="1600" b="0" i="1" smtClean="0">
                                  <a:latin typeface="Cambria Math" panose="02040503050406030204" pitchFamily="18" charset="0"/>
                                </a:rPr>
                                <m:t>2</m:t>
                              </m:r>
                            </m:sup>
                          </m:sSup>
                        </m:num>
                        <m:den>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cos</m:t>
                              </m:r>
                            </m:fName>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𝛼</m:t>
                                  </m:r>
                                </m:e>
                                <m:sub>
                                  <m:r>
                                    <a:rPr lang="en-GB" sz="1600" b="0" i="1" smtClean="0">
                                      <a:latin typeface="Cambria Math" panose="02040503050406030204" pitchFamily="18" charset="0"/>
                                    </a:rPr>
                                    <m:t>𝑚</m:t>
                                  </m:r>
                                </m:sub>
                              </m:sSub>
                            </m:e>
                          </m:func>
                        </m:den>
                      </m:f>
                    </m:oMath>
                  </m:oMathPara>
                </a14:m>
                <a:endParaRPr lang="en-GB" sz="1600" dirty="0"/>
              </a:p>
            </p:txBody>
          </p:sp>
        </mc:Choice>
        <mc:Fallback>
          <p:sp>
            <p:nvSpPr>
              <p:cNvPr id="13" name="TextBox 12">
                <a:extLst>
                  <a:ext uri="{FF2B5EF4-FFF2-40B4-BE49-F238E27FC236}">
                    <a16:creationId xmlns:a16="http://schemas.microsoft.com/office/drawing/2014/main" id="{4E41B80D-9CBE-CD4F-8803-FDA2AEC56566}"/>
                  </a:ext>
                </a:extLst>
              </p:cNvPr>
              <p:cNvSpPr txBox="1">
                <a:spLocks noRot="1" noChangeAspect="1" noMove="1" noResize="1" noEditPoints="1" noAdjustHandles="1" noChangeArrowheads="1" noChangeShapeType="1" noTextEdit="1"/>
              </p:cNvSpPr>
              <p:nvPr/>
            </p:nvSpPr>
            <p:spPr>
              <a:xfrm>
                <a:off x="2431935" y="5709899"/>
                <a:ext cx="5079532" cy="553998"/>
              </a:xfrm>
              <a:prstGeom prst="rect">
                <a:avLst/>
              </a:prstGeom>
              <a:blipFill>
                <a:blip r:embed="rId7"/>
                <a:stretch>
                  <a:fillRect l="-748" b="-4545"/>
                </a:stretch>
              </a:blipFill>
            </p:spPr>
            <p:txBody>
              <a:bodyPr/>
              <a:lstStyle/>
              <a:p>
                <a:r>
                  <a:rPr lang="en-GB">
                    <a:noFill/>
                  </a:rPr>
                  <a:t> </a:t>
                </a:r>
              </a:p>
            </p:txBody>
          </p:sp>
        </mc:Fallback>
      </mc:AlternateContent>
    </p:spTree>
    <p:extLst>
      <p:ext uri="{BB962C8B-B14F-4D97-AF65-F5344CB8AC3E}">
        <p14:creationId xmlns:p14="http://schemas.microsoft.com/office/powerpoint/2010/main" val="870918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C6F66-11E9-D140-9569-6350F42E95F9}"/>
              </a:ext>
            </a:extLst>
          </p:cNvPr>
          <p:cNvSpPr>
            <a:spLocks noGrp="1"/>
          </p:cNvSpPr>
          <p:nvPr>
            <p:ph type="title"/>
          </p:nvPr>
        </p:nvSpPr>
        <p:spPr/>
        <p:txBody>
          <a:bodyPr/>
          <a:lstStyle/>
          <a:p>
            <a:r>
              <a:rPr lang="en-GB" dirty="0"/>
              <a:t>Thermomechanical equations</a:t>
            </a:r>
          </a:p>
        </p:txBody>
      </p:sp>
      <p:sp>
        <p:nvSpPr>
          <p:cNvPr id="3" name="Content Placeholder 2">
            <a:extLst>
              <a:ext uri="{FF2B5EF4-FFF2-40B4-BE49-F238E27FC236}">
                <a16:creationId xmlns:a16="http://schemas.microsoft.com/office/drawing/2014/main" id="{4DF8D15E-6DF5-2A4A-B7EC-05272AA05137}"/>
              </a:ext>
            </a:extLst>
          </p:cNvPr>
          <p:cNvSpPr>
            <a:spLocks noGrp="1"/>
          </p:cNvSpPr>
          <p:nvPr>
            <p:ph idx="1"/>
          </p:nvPr>
        </p:nvSpPr>
        <p:spPr>
          <a:xfrm>
            <a:off x="384176" y="1695625"/>
            <a:ext cx="2734806" cy="423863"/>
          </a:xfrm>
        </p:spPr>
        <p:txBody>
          <a:bodyPr/>
          <a:lstStyle/>
          <a:p>
            <a:r>
              <a:rPr lang="en-GB" sz="1600" dirty="0"/>
              <a:t>Inconel 718 properties</a:t>
            </a:r>
          </a:p>
        </p:txBody>
      </p:sp>
      <p:sp>
        <p:nvSpPr>
          <p:cNvPr id="4" name="Slide Number Placeholder 3">
            <a:extLst>
              <a:ext uri="{FF2B5EF4-FFF2-40B4-BE49-F238E27FC236}">
                <a16:creationId xmlns:a16="http://schemas.microsoft.com/office/drawing/2014/main" id="{43B86DE5-E53D-3140-A57D-BF0974E24568}"/>
              </a:ext>
            </a:extLst>
          </p:cNvPr>
          <p:cNvSpPr>
            <a:spLocks noGrp="1"/>
          </p:cNvSpPr>
          <p:nvPr>
            <p:ph type="sldNum" sz="quarter" idx="10"/>
          </p:nvPr>
        </p:nvSpPr>
        <p:spPr/>
        <p:txBody>
          <a:bodyPr/>
          <a:lstStyle/>
          <a:p>
            <a:r>
              <a:rPr lang="en-US" dirty="0"/>
              <a:t>20</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D54B428-580A-C04D-87F2-A00C7323B3E5}"/>
                  </a:ext>
                </a:extLst>
              </p:cNvPr>
              <p:cNvSpPr txBox="1"/>
              <p:nvPr/>
            </p:nvSpPr>
            <p:spPr>
              <a:xfrm>
                <a:off x="1667816" y="2176852"/>
                <a:ext cx="2478627" cy="38382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𝜎</m:t>
                          </m:r>
                        </m:e>
                        <m:sub>
                          <m:r>
                            <a:rPr lang="en-GB" sz="1600" b="0" i="1" smtClean="0">
                              <a:latin typeface="Cambria Math" panose="02040503050406030204" pitchFamily="18" charset="0"/>
                            </a:rPr>
                            <m:t>𝑦</m:t>
                          </m:r>
                        </m:sub>
                      </m:sSub>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1250−</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𝑒</m:t>
                              </m:r>
                            </m:e>
                            <m:sup>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𝑇</m:t>
                                  </m:r>
                                  <m:r>
                                    <a:rPr lang="en-GB" sz="1600" b="0" i="1" smtClean="0">
                                      <a:latin typeface="Cambria Math" panose="02040503050406030204" pitchFamily="18" charset="0"/>
                                    </a:rPr>
                                    <m:t>−273</m:t>
                                  </m:r>
                                </m:num>
                                <m:den>
                                  <m:r>
                                    <a:rPr lang="en-GB" sz="1600" b="0" i="1" smtClean="0">
                                      <a:latin typeface="Cambria Math" panose="02040503050406030204" pitchFamily="18" charset="0"/>
                                    </a:rPr>
                                    <m:t>128</m:t>
                                  </m:r>
                                </m:den>
                              </m:f>
                            </m:sup>
                          </m:sSup>
                        </m:e>
                      </m:d>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10</m:t>
                          </m:r>
                        </m:e>
                        <m:sup>
                          <m:r>
                            <a:rPr lang="en-GB" sz="1600" b="0" i="1" smtClean="0">
                              <a:latin typeface="Cambria Math" panose="02040503050406030204" pitchFamily="18" charset="0"/>
                            </a:rPr>
                            <m:t>6</m:t>
                          </m:r>
                        </m:sup>
                      </m:sSup>
                    </m:oMath>
                  </m:oMathPara>
                </a14:m>
                <a:endParaRPr lang="en-GB" sz="1600" dirty="0"/>
              </a:p>
            </p:txBody>
          </p:sp>
        </mc:Choice>
        <mc:Fallback>
          <p:sp>
            <p:nvSpPr>
              <p:cNvPr id="5" name="TextBox 4">
                <a:extLst>
                  <a:ext uri="{FF2B5EF4-FFF2-40B4-BE49-F238E27FC236}">
                    <a16:creationId xmlns:a16="http://schemas.microsoft.com/office/drawing/2014/main" id="{1D54B428-580A-C04D-87F2-A00C7323B3E5}"/>
                  </a:ext>
                </a:extLst>
              </p:cNvPr>
              <p:cNvSpPr txBox="1">
                <a:spLocks noRot="1" noChangeAspect="1" noMove="1" noResize="1" noEditPoints="1" noAdjustHandles="1" noChangeArrowheads="1" noChangeShapeType="1" noTextEdit="1"/>
              </p:cNvSpPr>
              <p:nvPr/>
            </p:nvSpPr>
            <p:spPr>
              <a:xfrm>
                <a:off x="1667816" y="2176852"/>
                <a:ext cx="2478627" cy="383823"/>
              </a:xfrm>
              <a:prstGeom prst="rect">
                <a:avLst/>
              </a:prstGeom>
              <a:blipFill>
                <a:blip r:embed="rId2"/>
                <a:stretch>
                  <a:fillRect l="-1020" b="-625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05CFB28-A63A-8B4F-89B2-322FAD400AF9}"/>
                  </a:ext>
                </a:extLst>
              </p:cNvPr>
              <p:cNvSpPr txBox="1"/>
              <p:nvPr/>
            </p:nvSpPr>
            <p:spPr>
              <a:xfrm>
                <a:off x="4760200" y="2189492"/>
                <a:ext cx="3741729" cy="368499"/>
              </a:xfrm>
              <a:prstGeom prst="rect">
                <a:avLst/>
              </a:prstGeom>
              <a:noFill/>
            </p:spPr>
            <p:txBody>
              <a:bodyPr wrap="none" lIns="0" tIns="0" rIns="0" bIns="0" rtlCol="0">
                <a:spAutoFit/>
              </a:bodyPr>
              <a:lstStyle/>
              <a:p>
                <a14:m>
                  <m:oMath xmlns:m="http://schemas.openxmlformats.org/officeDocument/2006/math">
                    <m:r>
                      <a:rPr lang="en-GB" sz="1600" b="0" i="1" smtClean="0">
                        <a:latin typeface="Cambria Math" panose="02040503050406030204" pitchFamily="18" charset="0"/>
                      </a:rPr>
                      <m:t>𝐸</m:t>
                    </m:r>
                    <m:r>
                      <a:rPr lang="en-GB" sz="1600" b="0" i="1" smtClean="0">
                        <a:latin typeface="Cambria Math" panose="02040503050406030204" pitchFamily="18" charset="0"/>
                      </a:rPr>
                      <m:t>=166.3</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1+</m:t>
                        </m:r>
                        <m:r>
                          <a:rPr lang="en-GB" sz="1600" b="0" i="1" smtClean="0">
                            <a:latin typeface="Cambria Math" panose="02040503050406030204" pitchFamily="18" charset="0"/>
                          </a:rPr>
                          <m:t>𝜈</m:t>
                        </m:r>
                      </m:e>
                    </m:d>
                    <m:d>
                      <m:dPr>
                        <m:ctrlPr>
                          <a:rPr lang="en-GB" sz="1600" b="0" i="1" smtClean="0">
                            <a:latin typeface="Cambria Math" panose="02040503050406030204" pitchFamily="18" charset="0"/>
                          </a:rPr>
                        </m:ctrlPr>
                      </m:dPr>
                      <m:e>
                        <m:r>
                          <a:rPr lang="en-GB" sz="1600" b="0" i="1" smtClean="0">
                            <a:latin typeface="Cambria Math" panose="02040503050406030204" pitchFamily="18" charset="0"/>
                          </a:rPr>
                          <m:t>1−0.5×</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𝑇</m:t>
                            </m:r>
                            <m:r>
                              <a:rPr lang="en-GB" sz="1600" b="0" i="1" smtClean="0">
                                <a:latin typeface="Cambria Math" panose="02040503050406030204" pitchFamily="18" charset="0"/>
                              </a:rPr>
                              <m:t>−300</m:t>
                            </m:r>
                          </m:num>
                          <m:den>
                            <m:r>
                              <a:rPr lang="en-GB" sz="1600" b="0" i="1" smtClean="0">
                                <a:latin typeface="Cambria Math" panose="02040503050406030204" pitchFamily="18" charset="0"/>
                              </a:rPr>
                              <m:t>1673</m:t>
                            </m:r>
                          </m:den>
                        </m:f>
                      </m:e>
                    </m:d>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10</m:t>
                        </m:r>
                      </m:e>
                      <m:sup>
                        <m:r>
                          <a:rPr lang="en-GB" sz="1600" b="0" i="1" smtClean="0">
                            <a:latin typeface="Cambria Math" panose="02040503050406030204" pitchFamily="18" charset="0"/>
                          </a:rPr>
                          <m:t>9</m:t>
                        </m:r>
                      </m:sup>
                    </m:sSup>
                  </m:oMath>
                </a14:m>
                <a:r>
                  <a:rPr lang="en-GB" sz="1600" dirty="0"/>
                  <a:t> </a:t>
                </a:r>
              </a:p>
            </p:txBody>
          </p:sp>
        </mc:Choice>
        <mc:Fallback>
          <p:sp>
            <p:nvSpPr>
              <p:cNvPr id="6" name="TextBox 5">
                <a:extLst>
                  <a:ext uri="{FF2B5EF4-FFF2-40B4-BE49-F238E27FC236}">
                    <a16:creationId xmlns:a16="http://schemas.microsoft.com/office/drawing/2014/main" id="{105CFB28-A63A-8B4F-89B2-322FAD400AF9}"/>
                  </a:ext>
                </a:extLst>
              </p:cNvPr>
              <p:cNvSpPr txBox="1">
                <a:spLocks noRot="1" noChangeAspect="1" noMove="1" noResize="1" noEditPoints="1" noAdjustHandles="1" noChangeArrowheads="1" noChangeShapeType="1" noTextEdit="1"/>
              </p:cNvSpPr>
              <p:nvPr/>
            </p:nvSpPr>
            <p:spPr>
              <a:xfrm>
                <a:off x="4760200" y="2189492"/>
                <a:ext cx="3741729" cy="368499"/>
              </a:xfrm>
              <a:prstGeom prst="rect">
                <a:avLst/>
              </a:prstGeom>
              <a:blipFill>
                <a:blip r:embed="rId3"/>
                <a:stretch>
                  <a:fillRect b="-10000"/>
                </a:stretch>
              </a:blipFill>
            </p:spPr>
            <p:txBody>
              <a:bodyPr/>
              <a:lstStyle/>
              <a:p>
                <a:r>
                  <a:rPr lang="en-GB">
                    <a:noFill/>
                  </a:rPr>
                  <a:t> </a:t>
                </a:r>
              </a:p>
            </p:txBody>
          </p:sp>
        </mc:Fallback>
      </mc:AlternateContent>
      <p:sp>
        <p:nvSpPr>
          <p:cNvPr id="7" name="Content Placeholder 2">
            <a:extLst>
              <a:ext uri="{FF2B5EF4-FFF2-40B4-BE49-F238E27FC236}">
                <a16:creationId xmlns:a16="http://schemas.microsoft.com/office/drawing/2014/main" id="{9926EF52-AA73-D74E-A999-AEAA1C9A487C}"/>
              </a:ext>
            </a:extLst>
          </p:cNvPr>
          <p:cNvSpPr txBox="1">
            <a:spLocks/>
          </p:cNvSpPr>
          <p:nvPr/>
        </p:nvSpPr>
        <p:spPr bwMode="auto">
          <a:xfrm>
            <a:off x="384175" y="2861921"/>
            <a:ext cx="3373633"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r>
              <a:rPr lang="en-GB" sz="1600" kern="0" dirty="0"/>
              <a:t>Stress from rotation and pressure</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E5D357A-7641-2F4C-8056-0BE8CBE05661}"/>
                  </a:ext>
                </a:extLst>
              </p:cNvPr>
              <p:cNvSpPr txBox="1"/>
              <p:nvPr/>
            </p:nvSpPr>
            <p:spPr>
              <a:xfrm>
                <a:off x="1477763" y="3589139"/>
                <a:ext cx="3282437" cy="4925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𝜎</m:t>
                          </m:r>
                        </m:e>
                        <m:sub>
                          <m:r>
                            <a:rPr lang="en-GB" sz="1600" b="0" i="1" smtClean="0">
                              <a:latin typeface="Cambria Math" panose="02040503050406030204" pitchFamily="18" charset="0"/>
                            </a:rPr>
                            <m:t>𝑚𝑎𝑥</m:t>
                          </m:r>
                        </m:sub>
                      </m:sSub>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𝜌</m:t>
                          </m:r>
                          <m:sSup>
                            <m:sSupPr>
                              <m:ctrlPr>
                                <a:rPr lang="en-GB" sz="1600" b="0" i="1" smtClean="0">
                                  <a:latin typeface="Cambria Math" panose="02040503050406030204" pitchFamily="18" charset="0"/>
                                </a:rPr>
                              </m:ctrlPr>
                            </m:sSupPr>
                            <m:e>
                              <m:r>
                                <m:rPr>
                                  <m:sty m:val="p"/>
                                </m:rPr>
                                <a:rPr lang="en-GB" sz="1600" b="0" i="0" smtClean="0">
                                  <a:latin typeface="Cambria Math" panose="02040503050406030204" pitchFamily="18" charset="0"/>
                                </a:rPr>
                                <m:t>Ω</m:t>
                              </m:r>
                            </m:e>
                            <m:sup>
                              <m:r>
                                <a:rPr lang="en-GB" sz="1600" b="0" i="1" smtClean="0">
                                  <a:latin typeface="Cambria Math" panose="02040503050406030204" pitchFamily="18" charset="0"/>
                                </a:rPr>
                                <m:t>2</m:t>
                              </m:r>
                            </m:sup>
                          </m:sSup>
                        </m:num>
                        <m:den>
                          <m:r>
                            <a:rPr lang="en-GB" sz="1600" b="0" i="1" smtClean="0">
                              <a:latin typeface="Cambria Math" panose="02040503050406030204" pitchFamily="18" charset="0"/>
                            </a:rPr>
                            <m:t>4</m:t>
                          </m:r>
                        </m:den>
                      </m:f>
                      <m:d>
                        <m:dPr>
                          <m:ctrlPr>
                            <a:rPr lang="en-GB" sz="1600" b="0" i="1" smtClean="0">
                              <a:latin typeface="Cambria Math" panose="02040503050406030204" pitchFamily="18" charset="0"/>
                            </a:rPr>
                          </m:ctrlPr>
                        </m:d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3+</m:t>
                              </m:r>
                              <m:r>
                                <a:rPr lang="en-GB" sz="1600" b="0" i="1" smtClean="0">
                                  <a:latin typeface="Cambria Math" panose="02040503050406030204" pitchFamily="18" charset="0"/>
                                </a:rPr>
                                <m:t>𝜈</m:t>
                              </m:r>
                            </m:e>
                          </m:d>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𝑟</m:t>
                              </m:r>
                            </m:e>
                            <m:sub>
                              <m:r>
                                <a:rPr lang="en-GB" sz="1600" b="0" i="1" smtClean="0">
                                  <a:latin typeface="Cambria Math" panose="02040503050406030204" pitchFamily="18" charset="0"/>
                                </a:rPr>
                                <m:t>h</m:t>
                              </m:r>
                            </m:sub>
                            <m:sup>
                              <m:r>
                                <a:rPr lang="en-GB" sz="1600" b="0" i="1" smtClean="0">
                                  <a:latin typeface="Cambria Math" panose="02040503050406030204" pitchFamily="18" charset="0"/>
                                </a:rPr>
                                <m:t>2</m:t>
                              </m:r>
                            </m:sup>
                          </m:sSubSup>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1−</m:t>
                              </m:r>
                              <m:r>
                                <a:rPr lang="en-GB" sz="1600" b="0" i="1" smtClean="0">
                                  <a:latin typeface="Cambria Math" panose="02040503050406030204" pitchFamily="18" charset="0"/>
                                </a:rPr>
                                <m:t>𝜈</m:t>
                              </m:r>
                            </m:e>
                          </m:d>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𝑟</m:t>
                              </m:r>
                            </m:e>
                            <m:sub>
                              <m:r>
                                <a:rPr lang="en-GB" sz="1600" b="0" i="1" smtClean="0">
                                  <a:latin typeface="Cambria Math" panose="02040503050406030204" pitchFamily="18" charset="0"/>
                                </a:rPr>
                                <m:t>𝑖</m:t>
                              </m:r>
                            </m:sub>
                            <m:sup>
                              <m:r>
                                <a:rPr lang="en-GB" sz="1600" b="0" i="1" smtClean="0">
                                  <a:latin typeface="Cambria Math" panose="02040503050406030204" pitchFamily="18" charset="0"/>
                                </a:rPr>
                                <m:t>2</m:t>
                              </m:r>
                            </m:sup>
                          </m:sSubSup>
                        </m:e>
                      </m:d>
                    </m:oMath>
                  </m:oMathPara>
                </a14:m>
                <a:endParaRPr lang="en-GB" sz="1600" dirty="0"/>
              </a:p>
            </p:txBody>
          </p:sp>
        </mc:Choice>
        <mc:Fallback>
          <p:sp>
            <p:nvSpPr>
              <p:cNvPr id="8" name="TextBox 7">
                <a:extLst>
                  <a:ext uri="{FF2B5EF4-FFF2-40B4-BE49-F238E27FC236}">
                    <a16:creationId xmlns:a16="http://schemas.microsoft.com/office/drawing/2014/main" id="{4E5D357A-7641-2F4C-8056-0BE8CBE05661}"/>
                  </a:ext>
                </a:extLst>
              </p:cNvPr>
              <p:cNvSpPr txBox="1">
                <a:spLocks noRot="1" noChangeAspect="1" noMove="1" noResize="1" noEditPoints="1" noAdjustHandles="1" noChangeArrowheads="1" noChangeShapeType="1" noTextEdit="1"/>
              </p:cNvSpPr>
              <p:nvPr/>
            </p:nvSpPr>
            <p:spPr>
              <a:xfrm>
                <a:off x="1477763" y="3589139"/>
                <a:ext cx="3282437" cy="492507"/>
              </a:xfrm>
              <a:prstGeom prst="rect">
                <a:avLst/>
              </a:prstGeom>
              <a:blipFill>
                <a:blip r:embed="rId4"/>
                <a:stretch>
                  <a:fillRect l="-769" b="-12821"/>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05925A1-FE8E-2049-874E-92DD64514EB6}"/>
                  </a:ext>
                </a:extLst>
              </p:cNvPr>
              <p:cNvSpPr txBox="1"/>
              <p:nvPr/>
            </p:nvSpPr>
            <p:spPr>
              <a:xfrm>
                <a:off x="6037546" y="3552782"/>
                <a:ext cx="1443536" cy="56521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𝜎</m:t>
                          </m:r>
                        </m:e>
                        <m:sub>
                          <m:r>
                            <a:rPr lang="en-GB" sz="1600" b="0" i="1" smtClean="0">
                              <a:latin typeface="Cambria Math" panose="02040503050406030204" pitchFamily="18" charset="0"/>
                            </a:rPr>
                            <m:t>𝑚𝑎𝑥</m:t>
                          </m:r>
                        </m:sub>
                      </m:sSub>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2</m:t>
                          </m:r>
                          <m:func>
                            <m:funcPr>
                              <m:ctrlPr>
                                <a:rPr lang="en-GB" sz="1600" b="0" i="1" smtClean="0">
                                  <a:latin typeface="Cambria Math" panose="02040503050406030204" pitchFamily="18" charset="0"/>
                                </a:rPr>
                              </m:ctrlPr>
                            </m:funcPr>
                            <m:fName>
                              <m:sSubSup>
                                <m:sSubSupPr>
                                  <m:ctrlPr>
                                    <a:rPr lang="en-GB" sz="1600" b="0" i="1" smtClean="0">
                                      <a:latin typeface="Cambria Math" panose="02040503050406030204" pitchFamily="18" charset="0"/>
                                    </a:rPr>
                                  </m:ctrlPr>
                                </m:sSubSupPr>
                                <m:e>
                                  <m:r>
                                    <m:rPr>
                                      <m:sty m:val="p"/>
                                    </m:rPr>
                                    <a:rPr lang="en-GB" sz="1600" b="0" i="0" smtClean="0">
                                      <a:latin typeface="Cambria Math" panose="02040503050406030204" pitchFamily="18" charset="0"/>
                                    </a:rPr>
                                    <m:t>Pr</m:t>
                                  </m:r>
                                </m:e>
                                <m:sub>
                                  <m:r>
                                    <a:rPr lang="en-GB" sz="1600" b="0" i="1" smtClean="0">
                                      <a:latin typeface="Cambria Math" panose="02040503050406030204" pitchFamily="18" charset="0"/>
                                    </a:rPr>
                                    <m:t>h</m:t>
                                  </m:r>
                                </m:sub>
                                <m:sup>
                                  <m:r>
                                    <a:rPr lang="en-GB" sz="1600" b="0" i="1" smtClean="0">
                                      <a:latin typeface="Cambria Math" panose="02040503050406030204" pitchFamily="18" charset="0"/>
                                    </a:rPr>
                                    <m:t>2</m:t>
                                  </m:r>
                                </m:sup>
                              </m:sSubSup>
                            </m:fName>
                            <m:e>
                              <m:r>
                                <a:rPr lang="en-GB" sz="1600" b="0" i="1" smtClean="0">
                                  <a:latin typeface="Cambria Math" panose="02040503050406030204" pitchFamily="18" charset="0"/>
                                </a:rPr>
                                <m:t> </m:t>
                              </m:r>
                            </m:e>
                          </m:func>
                        </m:num>
                        <m:den>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𝑟</m:t>
                              </m:r>
                            </m:e>
                            <m:sub>
                              <m:r>
                                <a:rPr lang="en-GB" sz="1600" b="0" i="1" smtClean="0">
                                  <a:latin typeface="Cambria Math" panose="02040503050406030204" pitchFamily="18" charset="0"/>
                                </a:rPr>
                                <m:t>h</m:t>
                              </m:r>
                            </m:sub>
                            <m:sup>
                              <m:r>
                                <a:rPr lang="en-GB" sz="1600" b="0" i="1" smtClean="0">
                                  <a:latin typeface="Cambria Math" panose="02040503050406030204" pitchFamily="18" charset="0"/>
                                </a:rPr>
                                <m:t>2</m:t>
                              </m:r>
                            </m:sup>
                          </m:sSubSup>
                          <m:r>
                            <a:rPr lang="en-GB" sz="1600" b="0" i="1" smtClean="0">
                              <a:latin typeface="Cambria Math" panose="02040503050406030204" pitchFamily="18" charset="0"/>
                            </a:rPr>
                            <m:t>−</m:t>
                          </m:r>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𝑟</m:t>
                              </m:r>
                            </m:e>
                            <m:sub>
                              <m:r>
                                <a:rPr lang="en-GB" sz="1600" b="0" i="1" smtClean="0">
                                  <a:latin typeface="Cambria Math" panose="02040503050406030204" pitchFamily="18" charset="0"/>
                                </a:rPr>
                                <m:t>𝑖</m:t>
                              </m:r>
                            </m:sub>
                            <m:sup>
                              <m:r>
                                <a:rPr lang="en-GB" sz="1600" b="0" i="1" smtClean="0">
                                  <a:latin typeface="Cambria Math" panose="02040503050406030204" pitchFamily="18" charset="0"/>
                                </a:rPr>
                                <m:t>2</m:t>
                              </m:r>
                            </m:sup>
                          </m:sSubSup>
                        </m:den>
                      </m:f>
                    </m:oMath>
                  </m:oMathPara>
                </a14:m>
                <a:endParaRPr lang="en-GB" sz="1600" dirty="0"/>
              </a:p>
            </p:txBody>
          </p:sp>
        </mc:Choice>
        <mc:Fallback>
          <p:sp>
            <p:nvSpPr>
              <p:cNvPr id="9" name="TextBox 8">
                <a:extLst>
                  <a:ext uri="{FF2B5EF4-FFF2-40B4-BE49-F238E27FC236}">
                    <a16:creationId xmlns:a16="http://schemas.microsoft.com/office/drawing/2014/main" id="{405925A1-FE8E-2049-874E-92DD64514EB6}"/>
                  </a:ext>
                </a:extLst>
              </p:cNvPr>
              <p:cNvSpPr txBox="1">
                <a:spLocks noRot="1" noChangeAspect="1" noMove="1" noResize="1" noEditPoints="1" noAdjustHandles="1" noChangeArrowheads="1" noChangeShapeType="1" noTextEdit="1"/>
              </p:cNvSpPr>
              <p:nvPr/>
            </p:nvSpPr>
            <p:spPr>
              <a:xfrm>
                <a:off x="6037546" y="3552782"/>
                <a:ext cx="1443536" cy="565219"/>
              </a:xfrm>
              <a:prstGeom prst="rect">
                <a:avLst/>
              </a:prstGeom>
              <a:blipFill>
                <a:blip r:embed="rId5"/>
                <a:stretch>
                  <a:fillRect l="-870" t="-2222" b="-6667"/>
                </a:stretch>
              </a:blipFill>
            </p:spPr>
            <p:txBody>
              <a:bodyPr/>
              <a:lstStyle/>
              <a:p>
                <a:r>
                  <a:rPr lang="en-GB">
                    <a:noFill/>
                  </a:rPr>
                  <a:t> </a:t>
                </a:r>
              </a:p>
            </p:txBody>
          </p:sp>
        </mc:Fallback>
      </mc:AlternateContent>
      <p:sp>
        <p:nvSpPr>
          <p:cNvPr id="10" name="Content Placeholder 2">
            <a:extLst>
              <a:ext uri="{FF2B5EF4-FFF2-40B4-BE49-F238E27FC236}">
                <a16:creationId xmlns:a16="http://schemas.microsoft.com/office/drawing/2014/main" id="{58BABC4C-25D9-F74F-B57F-0000B2045EAC}"/>
              </a:ext>
            </a:extLst>
          </p:cNvPr>
          <p:cNvSpPr txBox="1">
            <a:spLocks/>
          </p:cNvSpPr>
          <p:nvPr/>
        </p:nvSpPr>
        <p:spPr bwMode="auto">
          <a:xfrm>
            <a:off x="384175" y="4400612"/>
            <a:ext cx="3373633"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a:lstStyle>
          <a:p>
            <a:r>
              <a:rPr lang="en-GB" sz="1600" kern="0" dirty="0"/>
              <a:t>Heat transfer</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B7D8D89-1641-AF4F-AB95-76119132E43C}"/>
                  </a:ext>
                </a:extLst>
              </p:cNvPr>
              <p:cNvSpPr txBox="1"/>
              <p:nvPr/>
            </p:nvSpPr>
            <p:spPr>
              <a:xfrm>
                <a:off x="789101" y="5508017"/>
                <a:ext cx="2563779" cy="31444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𝑁</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𝑢</m:t>
                          </m:r>
                        </m:e>
                        <m:sub>
                          <m:r>
                            <a:rPr lang="en-GB" sz="1600" b="0" i="1" smtClean="0">
                              <a:latin typeface="Cambria Math" panose="02040503050406030204" pitchFamily="18" charset="0"/>
                            </a:rPr>
                            <m:t>𝑥</m:t>
                          </m:r>
                          <m:r>
                            <a:rPr lang="en-GB" sz="1600" b="0" i="1" smtClean="0">
                              <a:latin typeface="Cambria Math" panose="02040503050406030204" pitchFamily="18" charset="0"/>
                            </a:rPr>
                            <m:t>,</m:t>
                          </m:r>
                          <m:r>
                            <a:rPr lang="en-GB" sz="1600" b="0" i="1" smtClean="0">
                              <a:latin typeface="Cambria Math" panose="02040503050406030204" pitchFamily="18" charset="0"/>
                            </a:rPr>
                            <m:t>𝑚</m:t>
                          </m:r>
                        </m:sub>
                      </m:sSub>
                      <m:r>
                        <a:rPr lang="en-GB" sz="1600" b="0" i="1" smtClean="0">
                          <a:latin typeface="Cambria Math" panose="02040503050406030204" pitchFamily="18" charset="0"/>
                        </a:rPr>
                        <m:t>=0.0296</m:t>
                      </m:r>
                      <m:r>
                        <a:rPr lang="en-GB" sz="1600" b="0" i="1" smtClean="0">
                          <a:latin typeface="Cambria Math" panose="02040503050406030204" pitchFamily="18" charset="0"/>
                        </a:rPr>
                        <m:t>𝑅</m:t>
                      </m:r>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𝑒</m:t>
                          </m:r>
                        </m:e>
                        <m:sub>
                          <m:r>
                            <a:rPr lang="en-GB" sz="1600" b="0" i="1" smtClean="0">
                              <a:latin typeface="Cambria Math" panose="02040503050406030204" pitchFamily="18" charset="0"/>
                            </a:rPr>
                            <m:t>𝑥</m:t>
                          </m:r>
                          <m:r>
                            <a:rPr lang="en-GB" sz="1600" b="0" i="1" smtClean="0">
                              <a:latin typeface="Cambria Math" panose="02040503050406030204" pitchFamily="18" charset="0"/>
                            </a:rPr>
                            <m:t>,</m:t>
                          </m:r>
                          <m:r>
                            <a:rPr lang="en-GB" sz="1600" b="0" i="1" smtClean="0">
                              <a:latin typeface="Cambria Math" panose="02040503050406030204" pitchFamily="18" charset="0"/>
                            </a:rPr>
                            <m:t>𝑚</m:t>
                          </m:r>
                        </m:sub>
                        <m:sup>
                          <m:r>
                            <a:rPr lang="en-GB" sz="1600" b="0" i="1" smtClean="0">
                              <a:latin typeface="Cambria Math" panose="02040503050406030204" pitchFamily="18" charset="0"/>
                            </a:rPr>
                            <m:t>4/5</m:t>
                          </m:r>
                        </m:sup>
                      </m:sSubSup>
                      <m:func>
                        <m:funcPr>
                          <m:ctrlPr>
                            <a:rPr lang="en-GB" sz="1600" b="0" i="1" smtClean="0">
                              <a:latin typeface="Cambria Math" panose="02040503050406030204" pitchFamily="18" charset="0"/>
                            </a:rPr>
                          </m:ctrlPr>
                        </m:funcPr>
                        <m:fName>
                          <m:sSubSup>
                            <m:sSubSupPr>
                              <m:ctrlPr>
                                <a:rPr lang="en-GB" sz="1600" b="0" i="1" smtClean="0">
                                  <a:latin typeface="Cambria Math" panose="02040503050406030204" pitchFamily="18" charset="0"/>
                                </a:rPr>
                              </m:ctrlPr>
                            </m:sSubSupPr>
                            <m:e>
                              <m:r>
                                <m:rPr>
                                  <m:sty m:val="p"/>
                                </m:rPr>
                                <a:rPr lang="en-GB" sz="1600" b="0" i="0" smtClean="0">
                                  <a:latin typeface="Cambria Math" panose="02040503050406030204" pitchFamily="18" charset="0"/>
                                </a:rPr>
                                <m:t>Pr</m:t>
                              </m:r>
                            </m:e>
                            <m:sub>
                              <m:r>
                                <a:rPr lang="en-GB" sz="1600" b="0" i="1" smtClean="0">
                                  <a:latin typeface="Cambria Math" panose="02040503050406030204" pitchFamily="18" charset="0"/>
                                </a:rPr>
                                <m:t>𝑚</m:t>
                              </m:r>
                            </m:sub>
                            <m:sup>
                              <m:r>
                                <a:rPr lang="en-GB" sz="1600" b="0" i="1" smtClean="0">
                                  <a:latin typeface="Cambria Math" panose="02040503050406030204" pitchFamily="18" charset="0"/>
                                </a:rPr>
                                <m:t>1/3</m:t>
                              </m:r>
                            </m:sup>
                          </m:sSubSup>
                        </m:fName>
                        <m:e>
                          <m:r>
                            <a:rPr lang="en-GB" sz="1600" b="0" i="1" smtClean="0">
                              <a:latin typeface="Cambria Math" panose="02040503050406030204" pitchFamily="18" charset="0"/>
                            </a:rPr>
                            <m:t> </m:t>
                          </m:r>
                        </m:e>
                      </m:func>
                    </m:oMath>
                  </m:oMathPara>
                </a14:m>
                <a:endParaRPr lang="en-GB" sz="1600" dirty="0"/>
              </a:p>
            </p:txBody>
          </p:sp>
        </mc:Choice>
        <mc:Fallback>
          <p:sp>
            <p:nvSpPr>
              <p:cNvPr id="12" name="TextBox 11">
                <a:extLst>
                  <a:ext uri="{FF2B5EF4-FFF2-40B4-BE49-F238E27FC236}">
                    <a16:creationId xmlns:a16="http://schemas.microsoft.com/office/drawing/2014/main" id="{EB7D8D89-1641-AF4F-AB95-76119132E43C}"/>
                  </a:ext>
                </a:extLst>
              </p:cNvPr>
              <p:cNvSpPr txBox="1">
                <a:spLocks noRot="1" noChangeAspect="1" noMove="1" noResize="1" noEditPoints="1" noAdjustHandles="1" noChangeArrowheads="1" noChangeShapeType="1" noTextEdit="1"/>
              </p:cNvSpPr>
              <p:nvPr/>
            </p:nvSpPr>
            <p:spPr>
              <a:xfrm>
                <a:off x="789101" y="5508017"/>
                <a:ext cx="2563779" cy="314445"/>
              </a:xfrm>
              <a:prstGeom prst="rect">
                <a:avLst/>
              </a:prstGeom>
              <a:blipFill>
                <a:blip r:embed="rId6"/>
                <a:stretch>
                  <a:fillRect l="-1970" r="-985" b="-2400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765067F-99AA-2845-A9A6-EFA2E4A42A4E}"/>
                  </a:ext>
                </a:extLst>
              </p:cNvPr>
              <p:cNvSpPr txBox="1"/>
              <p:nvPr/>
            </p:nvSpPr>
            <p:spPr>
              <a:xfrm>
                <a:off x="4146443" y="5307672"/>
                <a:ext cx="1786515" cy="55823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𝜏</m:t>
                          </m:r>
                        </m:e>
                        <m:sub>
                          <m:r>
                            <a:rPr lang="en-GB" sz="1600" b="0" i="1" smtClean="0">
                              <a:latin typeface="Cambria Math" panose="02040503050406030204" pitchFamily="18" charset="0"/>
                            </a:rPr>
                            <m:t>𝑐</m:t>
                          </m:r>
                        </m:sub>
                      </m:sSub>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𝜌</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𝑐</m:t>
                              </m:r>
                            </m:e>
                            <m:sub>
                              <m:r>
                                <a:rPr lang="en-GB" sz="1600" b="0" i="1" smtClean="0">
                                  <a:latin typeface="Cambria Math" panose="02040503050406030204" pitchFamily="18" charset="0"/>
                                </a:rPr>
                                <m:t>𝑝</m:t>
                              </m:r>
                            </m:sub>
                          </m:sSub>
                          <m:r>
                            <a:rPr lang="en-GB" sz="1600" b="0" i="1" smtClean="0">
                              <a:latin typeface="Cambria Math" panose="02040503050406030204" pitchFamily="18" charset="0"/>
                            </a:rPr>
                            <m:t> </m:t>
                          </m:r>
                        </m:num>
                        <m:den>
                          <m:r>
                            <a:rPr lang="en-GB" sz="1600" b="0" i="1" smtClean="0">
                              <a:latin typeface="Cambria Math" panose="02040503050406030204" pitchFamily="18" charset="0"/>
                            </a:rPr>
                            <m:t>h</m:t>
                          </m:r>
                        </m:den>
                      </m:f>
                      <m:d>
                        <m:dPr>
                          <m:ctrlPr>
                            <a:rPr lang="en-GB" sz="1600" b="0" i="1" smtClean="0">
                              <a:latin typeface="Cambria Math" panose="02040503050406030204" pitchFamily="18" charset="0"/>
                            </a:rPr>
                          </m:ctrlPr>
                        </m:dPr>
                        <m:e>
                          <m:f>
                            <m:fPr>
                              <m:ctrlPr>
                                <a:rPr lang="en-GB" sz="1600" b="0" i="1" smtClean="0">
                                  <a:latin typeface="Cambria Math" panose="02040503050406030204" pitchFamily="18" charset="0"/>
                                </a:rPr>
                              </m:ctrlPr>
                            </m:fPr>
                            <m:num>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𝑟</m:t>
                                  </m:r>
                                </m:e>
                                <m:sub>
                                  <m:r>
                                    <a:rPr lang="en-GB" sz="1600" b="0" i="1" smtClean="0">
                                      <a:latin typeface="Cambria Math" panose="02040503050406030204" pitchFamily="18" charset="0"/>
                                    </a:rPr>
                                    <m:t>𝑜</m:t>
                                  </m:r>
                                </m:sub>
                                <m:sup>
                                  <m:r>
                                    <a:rPr lang="en-GB" sz="1600" b="0" i="1" smtClean="0">
                                      <a:latin typeface="Cambria Math" panose="02040503050406030204" pitchFamily="18" charset="0"/>
                                    </a:rPr>
                                    <m:t>2</m:t>
                                  </m:r>
                                </m:sup>
                              </m:sSubSup>
                              <m:r>
                                <a:rPr lang="en-GB" sz="1600" b="0" i="1" smtClean="0">
                                  <a:latin typeface="Cambria Math" panose="02040503050406030204" pitchFamily="18" charset="0"/>
                                </a:rPr>
                                <m:t>−</m:t>
                              </m:r>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𝑟</m:t>
                                  </m:r>
                                </m:e>
                                <m:sub>
                                  <m:r>
                                    <a:rPr lang="en-GB" sz="1600" b="0" i="1" smtClean="0">
                                      <a:latin typeface="Cambria Math" panose="02040503050406030204" pitchFamily="18" charset="0"/>
                                    </a:rPr>
                                    <m:t>𝑐</m:t>
                                  </m:r>
                                </m:sub>
                                <m:sup>
                                  <m:r>
                                    <a:rPr lang="en-GB" sz="1600" b="0" i="1" smtClean="0">
                                      <a:latin typeface="Cambria Math" panose="02040503050406030204" pitchFamily="18" charset="0"/>
                                    </a:rPr>
                                    <m:t>2</m:t>
                                  </m:r>
                                </m:sup>
                              </m:sSubSup>
                            </m:num>
                            <m:den>
                              <m:r>
                                <a:rPr lang="en-GB" sz="1600" b="0" i="1" smtClean="0">
                                  <a:latin typeface="Cambria Math" panose="02040503050406030204" pitchFamily="18" charset="0"/>
                                </a:rPr>
                                <m:t>2</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𝑐</m:t>
                                  </m:r>
                                </m:sub>
                              </m:sSub>
                            </m:den>
                          </m:f>
                        </m:e>
                      </m:d>
                    </m:oMath>
                  </m:oMathPara>
                </a14:m>
                <a:endParaRPr lang="en-GB" sz="1600" dirty="0"/>
              </a:p>
            </p:txBody>
          </p:sp>
        </mc:Choice>
        <mc:Fallback>
          <p:sp>
            <p:nvSpPr>
              <p:cNvPr id="13" name="TextBox 12">
                <a:extLst>
                  <a:ext uri="{FF2B5EF4-FFF2-40B4-BE49-F238E27FC236}">
                    <a16:creationId xmlns:a16="http://schemas.microsoft.com/office/drawing/2014/main" id="{E765067F-99AA-2845-A9A6-EFA2E4A42A4E}"/>
                  </a:ext>
                </a:extLst>
              </p:cNvPr>
              <p:cNvSpPr txBox="1">
                <a:spLocks noRot="1" noChangeAspect="1" noMove="1" noResize="1" noEditPoints="1" noAdjustHandles="1" noChangeArrowheads="1" noChangeShapeType="1" noTextEdit="1"/>
              </p:cNvSpPr>
              <p:nvPr/>
            </p:nvSpPr>
            <p:spPr>
              <a:xfrm>
                <a:off x="4146443" y="5307672"/>
                <a:ext cx="1786515" cy="558230"/>
              </a:xfrm>
              <a:prstGeom prst="rect">
                <a:avLst/>
              </a:prstGeom>
              <a:blipFill>
                <a:blip r:embed="rId7"/>
                <a:stretch>
                  <a:fillRect l="-1408" t="-2222" b="-222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385AB7E-1EFD-E64D-AA8F-D0AE27EDC00E}"/>
                  </a:ext>
                </a:extLst>
              </p:cNvPr>
              <p:cNvSpPr txBox="1"/>
              <p:nvPr/>
            </p:nvSpPr>
            <p:spPr>
              <a:xfrm>
                <a:off x="6926787" y="5413824"/>
                <a:ext cx="1646733" cy="50283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𝑇</m:t>
                          </m:r>
                          <m:r>
                            <a:rPr lang="en-GB" sz="1600" b="0" i="1" smtClean="0">
                              <a:latin typeface="Cambria Math" panose="02040503050406030204" pitchFamily="18" charset="0"/>
                            </a:rPr>
                            <m:t>−</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𝑇</m:t>
                              </m:r>
                            </m:e>
                            <m:sub>
                              <m:r>
                                <a:rPr lang="en-GB" sz="1600" b="0" i="1" smtClean="0">
                                  <a:latin typeface="Cambria Math" panose="02040503050406030204" pitchFamily="18" charset="0"/>
                                </a:rPr>
                                <m:t>01</m:t>
                              </m:r>
                            </m:sub>
                          </m:sSub>
                        </m:num>
                        <m:den>
                          <m:r>
                            <a:rPr lang="en-GB" sz="1600" b="0" i="1" smtClean="0">
                              <a:latin typeface="Cambria Math" panose="02040503050406030204" pitchFamily="18" charset="0"/>
                            </a:rPr>
                            <m:t>293−</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𝑇</m:t>
                              </m:r>
                            </m:e>
                            <m:sub>
                              <m:r>
                                <a:rPr lang="en-GB" sz="1600" b="0" i="1" smtClean="0">
                                  <a:latin typeface="Cambria Math" panose="02040503050406030204" pitchFamily="18" charset="0"/>
                                </a:rPr>
                                <m:t>01</m:t>
                              </m:r>
                            </m:sub>
                          </m:sSub>
                        </m:den>
                      </m:f>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𝑒</m:t>
                          </m:r>
                        </m:e>
                        <m:sup>
                          <m:r>
                            <a:rPr lang="en-GB" sz="1600" b="0" i="1" smtClean="0">
                              <a:latin typeface="Cambria Math" panose="02040503050406030204" pitchFamily="18" charset="0"/>
                            </a:rPr>
                            <m:t>−</m:t>
                          </m:r>
                          <m:r>
                            <a:rPr lang="en-GB" sz="1600" b="0" i="1" smtClean="0">
                              <a:latin typeface="Cambria Math" panose="02040503050406030204" pitchFamily="18" charset="0"/>
                            </a:rPr>
                            <m:t>𝑡</m:t>
                          </m:r>
                          <m:r>
                            <a:rPr lang="en-GB" sz="1600" b="0" i="1" smtClean="0">
                              <a:latin typeface="Cambria Math" panose="02040503050406030204" pitchFamily="18" charset="0"/>
                            </a:rPr>
                            <m:t>/</m:t>
                          </m:r>
                          <m:r>
                            <a:rPr lang="en-GB" sz="1600" b="0" i="1" smtClean="0">
                              <a:latin typeface="Cambria Math" panose="02040503050406030204" pitchFamily="18" charset="0"/>
                            </a:rPr>
                            <m:t>𝜏</m:t>
                          </m:r>
                        </m:sup>
                      </m:sSup>
                    </m:oMath>
                  </m:oMathPara>
                </a14:m>
                <a:endParaRPr lang="en-GB" sz="1600" dirty="0"/>
              </a:p>
            </p:txBody>
          </p:sp>
        </mc:Choice>
        <mc:Fallback>
          <p:sp>
            <p:nvSpPr>
              <p:cNvPr id="14" name="TextBox 13">
                <a:extLst>
                  <a:ext uri="{FF2B5EF4-FFF2-40B4-BE49-F238E27FC236}">
                    <a16:creationId xmlns:a16="http://schemas.microsoft.com/office/drawing/2014/main" id="{4385AB7E-1EFD-E64D-AA8F-D0AE27EDC00E}"/>
                  </a:ext>
                </a:extLst>
              </p:cNvPr>
              <p:cNvSpPr txBox="1">
                <a:spLocks noRot="1" noChangeAspect="1" noMove="1" noResize="1" noEditPoints="1" noAdjustHandles="1" noChangeArrowheads="1" noChangeShapeType="1" noTextEdit="1"/>
              </p:cNvSpPr>
              <p:nvPr/>
            </p:nvSpPr>
            <p:spPr>
              <a:xfrm>
                <a:off x="6926787" y="5413824"/>
                <a:ext cx="1646733" cy="502830"/>
              </a:xfrm>
              <a:prstGeom prst="rect">
                <a:avLst/>
              </a:prstGeom>
              <a:blipFill>
                <a:blip r:embed="rId8"/>
                <a:stretch>
                  <a:fillRect l="-3053" b="-4878"/>
                </a:stretch>
              </a:blipFill>
            </p:spPr>
            <p:txBody>
              <a:bodyPr/>
              <a:lstStyle/>
              <a:p>
                <a:r>
                  <a:rPr lang="en-GB">
                    <a:noFill/>
                  </a:rPr>
                  <a:t> </a:t>
                </a:r>
              </a:p>
            </p:txBody>
          </p:sp>
        </mc:Fallback>
      </mc:AlternateContent>
    </p:spTree>
    <p:extLst>
      <p:ext uri="{BB962C8B-B14F-4D97-AF65-F5344CB8AC3E}">
        <p14:creationId xmlns:p14="http://schemas.microsoft.com/office/powerpoint/2010/main" val="2343915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9D07013-723C-2247-9EE2-B3FB882D8E37}"/>
              </a:ext>
            </a:extLst>
          </p:cNvPr>
          <p:cNvPicPr>
            <a:picLocks noChangeAspect="1"/>
          </p:cNvPicPr>
          <p:nvPr/>
        </p:nvPicPr>
        <p:blipFill rotWithShape="1">
          <a:blip r:embed="rId3"/>
          <a:srcRect l="3242" r="6608"/>
          <a:stretch/>
        </p:blipFill>
        <p:spPr>
          <a:xfrm>
            <a:off x="620038" y="1357552"/>
            <a:ext cx="7903924" cy="5337610"/>
          </a:xfrm>
          <a:prstGeom prst="rect">
            <a:avLst/>
          </a:prstGeom>
        </p:spPr>
      </p:pic>
      <p:sp>
        <p:nvSpPr>
          <p:cNvPr id="8" name="Title 1">
            <a:extLst>
              <a:ext uri="{FF2B5EF4-FFF2-40B4-BE49-F238E27FC236}">
                <a16:creationId xmlns:a16="http://schemas.microsoft.com/office/drawing/2014/main" id="{B6D8AF95-89F5-214E-B9FC-314987EB5A59}"/>
              </a:ext>
            </a:extLst>
          </p:cNvPr>
          <p:cNvSpPr>
            <a:spLocks noGrp="1"/>
          </p:cNvSpPr>
          <p:nvPr>
            <p:ph type="title"/>
          </p:nvPr>
        </p:nvSpPr>
        <p:spPr>
          <a:xfrm>
            <a:off x="384175" y="398463"/>
            <a:ext cx="8375650" cy="423862"/>
          </a:xfrm>
        </p:spPr>
        <p:txBody>
          <a:bodyPr/>
          <a:lstStyle/>
          <a:p>
            <a:r>
              <a:rPr lang="en-GB" dirty="0"/>
              <a:t>Reaction Engines: A Summary</a:t>
            </a:r>
          </a:p>
        </p:txBody>
      </p:sp>
    </p:spTree>
    <p:extLst>
      <p:ext uri="{BB962C8B-B14F-4D97-AF65-F5344CB8AC3E}">
        <p14:creationId xmlns:p14="http://schemas.microsoft.com/office/powerpoint/2010/main" val="34394426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7|7.6"/>
</p:tagLst>
</file>

<file path=ppt/tags/tag2.xml><?xml version="1.0" encoding="utf-8"?>
<p:tagLst xmlns:a="http://schemas.openxmlformats.org/drawingml/2006/main" xmlns:r="http://schemas.openxmlformats.org/officeDocument/2006/relationships" xmlns:p="http://schemas.openxmlformats.org/presentationml/2006/main">
  <p:tag name="TIMING" val="|8.1|42.9|26.6|17.5"/>
</p:tagLst>
</file>

<file path=ppt/tags/tag3.xml><?xml version="1.0" encoding="utf-8"?>
<p:tagLst xmlns:a="http://schemas.openxmlformats.org/drawingml/2006/main" xmlns:r="http://schemas.openxmlformats.org/officeDocument/2006/relationships" xmlns:p="http://schemas.openxmlformats.org/presentationml/2006/main">
  <p:tag name="TIMING" val="|8.1|42.9|26.6|17.5"/>
</p:tagLst>
</file>

<file path=ppt/tags/tag4.xml><?xml version="1.0" encoding="utf-8"?>
<p:tagLst xmlns:a="http://schemas.openxmlformats.org/drawingml/2006/main" xmlns:r="http://schemas.openxmlformats.org/officeDocument/2006/relationships" xmlns:p="http://schemas.openxmlformats.org/presentationml/2006/main">
  <p:tag name="TIMING" val="|8.1|42.9|26.6|17.5"/>
</p:tagLst>
</file>

<file path=ppt/tags/tag5.xml><?xml version="1.0" encoding="utf-8"?>
<p:tagLst xmlns:a="http://schemas.openxmlformats.org/drawingml/2006/main" xmlns:r="http://schemas.openxmlformats.org/officeDocument/2006/relationships" xmlns:p="http://schemas.openxmlformats.org/presentationml/2006/main">
  <p:tag name="TIMING" val="|8.1|42.9|26.6|17.5"/>
</p:tagLst>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noFill/>
        <a:ln w="9525" cap="flat" cmpd="sng" algn="ctr">
          <a:solidFill>
            <a:srgbClr val="808080"/>
          </a:solidFill>
          <a:prstDash val="solid"/>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GT2019-91428_final</Template>
  <TotalTime>64878</TotalTime>
  <Words>3219</Words>
  <Application>Microsoft Macintosh PowerPoint</Application>
  <PresentationFormat>On-screen Show (4:3)</PresentationFormat>
  <Paragraphs>396</Paragraphs>
  <Slides>37</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 Math</vt:lpstr>
      <vt:lpstr>System Font Regular</vt:lpstr>
      <vt:lpstr>blank</vt:lpstr>
      <vt:lpstr>Aerodynamic Design of Helium Turbines for Rocket Engines</vt:lpstr>
      <vt:lpstr>Reaction Engines and SABRE</vt:lpstr>
      <vt:lpstr>Core cycle imposes RPM and Q constraint on design</vt:lpstr>
      <vt:lpstr>Points to take away</vt:lpstr>
      <vt:lpstr>Designs produced through optimisation of mean line model</vt:lpstr>
      <vt:lpstr>PowerPoint Presentation</vt:lpstr>
      <vt:lpstr>PowerPoint Presentation</vt:lpstr>
      <vt:lpstr>PowerPoint Presentation</vt:lpstr>
      <vt:lpstr>PowerPoint Presentation</vt:lpstr>
      <vt:lpstr>Design point changes in response to changing loss sources</vt:lpstr>
      <vt:lpstr>Design point changes in response to changing loss sources</vt:lpstr>
      <vt:lpstr>Design point changes in response to changing loss sources</vt:lpstr>
      <vt:lpstr>Design point changes in response to changing loss sources</vt:lpstr>
      <vt:lpstr>Design point changes in response to changing loss sources</vt:lpstr>
      <vt:lpstr>Design point changes in response to changing loss sources</vt:lpstr>
      <vt:lpstr>Design point changes in response to changing loss sources</vt:lpstr>
      <vt:lpstr>Helium turbine operates in a biased design space compared to aeroengine turbine</vt:lpstr>
      <vt:lpstr>Helium turbine operates in a biased design space compared to aeroengine turbine</vt:lpstr>
      <vt:lpstr>Helium turbine operates in a biased design space compared to aeroengine turbine</vt:lpstr>
      <vt:lpstr>Number of stages can be reduced with tighter tolerances and improved blade and shroud design</vt:lpstr>
      <vt:lpstr>Number of stages can be reduced with tighter tolerances and improved blade and shroud design</vt:lpstr>
      <vt:lpstr>Number of stages can be reduced with tighter tolerances and improved blade and shroud design</vt:lpstr>
      <vt:lpstr>Number of stages can be reduced with tighter tolerances and improved blade and shroud design</vt:lpstr>
      <vt:lpstr>Number of stages can be reduced with tighter tolerances and improved blade and shroud design</vt:lpstr>
      <vt:lpstr>Shroud gap transients estimated using stress and heat transfer models</vt:lpstr>
      <vt:lpstr>Transient expansion opens large shroud gaps</vt:lpstr>
      <vt:lpstr>Transient behaviour can be minimised with a thicker case</vt:lpstr>
      <vt:lpstr>Warm transient behaviour improved by thickening pressure vessel</vt:lpstr>
      <vt:lpstr>Conclusions</vt:lpstr>
      <vt:lpstr>Core cycle imposes RPM and Q ̇ constraint on design</vt:lpstr>
      <vt:lpstr>More stages means more blades to machine</vt:lpstr>
      <vt:lpstr>Reynolds essentially constant due to balance between blade size and velocity</vt:lpstr>
      <vt:lpstr>Radial turbines would have high inlet Mach number</vt:lpstr>
      <vt:lpstr>Non-repeating stage angles</vt:lpstr>
      <vt:lpstr>Loss correlations</vt:lpstr>
      <vt:lpstr>Thermomechanical equations</vt:lpstr>
      <vt:lpstr>Reaction Engines: A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Aerodynamic design of helium turbines for rocket engines</dc:title>
  <dc:creator>William Davis</dc:creator>
  <cp:lastModifiedBy>William Davis</cp:lastModifiedBy>
  <cp:revision>748</cp:revision>
  <cp:lastPrinted>2019-12-05T11:55:10Z</cp:lastPrinted>
  <dcterms:created xsi:type="dcterms:W3CDTF">2019-10-16T12:31:40Z</dcterms:created>
  <dcterms:modified xsi:type="dcterms:W3CDTF">2020-05-29T12:18:35Z</dcterms:modified>
</cp:coreProperties>
</file>